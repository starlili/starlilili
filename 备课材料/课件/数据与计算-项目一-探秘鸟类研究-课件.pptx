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探秘鸟类研究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FB2"/>
                </a:solidFill>
              </a:rPr>
              <a:t>沪科版高中信息技术 必修1《数据与计算》项目一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333333"/>
                </a:solidFill>
              </a:rPr>
              <a:t>认识数据、信息与知识</a:t>
            </a:r>
          </a:p>
          <a:p>
            <a:pPr/>
            <a:r>
              <a:rPr sz="2400">
                <a:solidFill>
                  <a:srgbClr val="333333"/>
                </a:solidFill>
              </a:rPr>
              <a:t>第1~4课时　项目式学习</a:t>
            </a:r>
          </a:p>
          <a:p>
            <a:pPr/>
            <a:r>
              <a:rPr sz="2400">
                <a:solidFill>
                  <a:srgbClr val="333333"/>
                </a:solidFill>
              </a:rPr>
              <a:t>授课年级：高一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真实情境：探秘本地鸟类</a:t>
            </a:r>
          </a:p>
          <a:p>
            <a:pPr/>
            <a:r>
              <a:rPr sz="2000">
                <a:solidFill>
                  <a:srgbClr val="333333"/>
                </a:solidFill>
              </a:rPr>
              <a:t>研究问题：本地常见鸟类？候鸟何时到来？鸟类数量有何变化？</a:t>
            </a:r>
          </a:p>
          <a:p>
            <a:pPr/>
            <a:r>
              <a:rPr sz="2000">
                <a:solidFill>
                  <a:srgbClr val="333333"/>
                </a:solidFill>
              </a:rPr>
              <a:t>探究主线：发现问题 → 收集数据 → 加工整理 → 提炼结论 → 形成成果</a:t>
            </a:r>
          </a:p>
          <a:p>
            <a:pPr/>
            <a:r>
              <a:rPr sz="2000">
                <a:solidFill>
                  <a:srgbClr val="333333"/>
                </a:solidFill>
              </a:rPr>
              <a:t>核心目标：理解数据、信息与知识三者的区别与联系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第1课时　项目立项——发现数据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情境导入：候鸟迁徙短视频</a:t>
            </a:r>
          </a:p>
          <a:p>
            <a:pPr/>
            <a:r>
              <a:rPr sz="2000">
                <a:solidFill>
                  <a:srgbClr val="333333"/>
                </a:solidFill>
              </a:rPr>
              <a:t>项目任务发布：探秘本地鸟类</a:t>
            </a:r>
          </a:p>
          <a:p>
            <a:pPr/>
            <a:r>
              <a:rPr sz="2000">
                <a:solidFill>
                  <a:srgbClr val="333333"/>
                </a:solidFill>
              </a:rPr>
              <a:t>概念初识：数据 = 记录客观事物的符号</a:t>
            </a:r>
          </a:p>
          <a:p>
            <a:pPr/>
            <a:r>
              <a:rPr sz="2000">
                <a:solidFill>
                  <a:srgbClr val="333333"/>
                </a:solidFill>
              </a:rPr>
              <a:t>小组分工与计划书填写</a:t>
            </a:r>
          </a:p>
          <a:p>
            <a:pPr/>
            <a:r>
              <a:rPr sz="2000">
                <a:solidFill>
                  <a:srgbClr val="333333"/>
                </a:solidFill>
              </a:rPr>
              <a:t>板书：数据→信息→知识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第2课时　数据收集——数据是信息的载体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观察记录表字段设计：时间、地点、种类、数量、天气、备注</a:t>
            </a:r>
          </a:p>
          <a:p>
            <a:pPr/>
            <a:r>
              <a:rPr sz="2000">
                <a:solidFill>
                  <a:srgbClr val="333333"/>
                </a:solidFill>
              </a:rPr>
              <a:t>收集方法：观测法 / 资料法</a:t>
            </a:r>
          </a:p>
          <a:p>
            <a:pPr/>
            <a:r>
              <a:rPr sz="2000">
                <a:solidFill>
                  <a:srgbClr val="333333"/>
                </a:solidFill>
              </a:rPr>
              <a:t>录入整理：电子表格 + 数据清洗</a:t>
            </a:r>
          </a:p>
          <a:p>
            <a:pPr/>
            <a:r>
              <a:rPr sz="2000">
                <a:solidFill>
                  <a:srgbClr val="333333"/>
                </a:solidFill>
              </a:rPr>
              <a:t>核心概念：数据是信息的载体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第3课时　分析提炼——从信息到知识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统计方法：计数、排序、求平均</a:t>
            </a:r>
          </a:p>
          <a:p>
            <a:pPr/>
            <a:r>
              <a:rPr sz="2000">
                <a:solidFill>
                  <a:srgbClr val="333333"/>
                </a:solidFill>
              </a:rPr>
              <a:t>图表表达：柱状图、折线图</a:t>
            </a:r>
          </a:p>
          <a:p>
            <a:pPr/>
            <a:r>
              <a:rPr sz="2000">
                <a:solidFill>
                  <a:srgbClr val="333333"/>
                </a:solidFill>
              </a:rPr>
              <a:t>提炼信息：从数据中读出有意义结论</a:t>
            </a:r>
          </a:p>
          <a:p>
            <a:pPr/>
            <a:r>
              <a:rPr sz="2000">
                <a:solidFill>
                  <a:srgbClr val="333333"/>
                </a:solidFill>
              </a:rPr>
              <a:t>生成知识：规律性、可指导实践</a:t>
            </a:r>
          </a:p>
          <a:p>
            <a:pPr/>
            <a:r>
              <a:rPr sz="2000">
                <a:solidFill>
                  <a:srgbClr val="333333"/>
                </a:solidFill>
              </a:rPr>
              <a:t>关系总结：数据 → 信息 → 知识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第4课时　成果展示——综合运用与评价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展示要求：问题 → 数据 → 结论（3分钟）</a:t>
            </a:r>
          </a:p>
          <a:p>
            <a:pPr/>
            <a:r>
              <a:rPr sz="2000">
                <a:solidFill>
                  <a:srgbClr val="333333"/>
                </a:solidFill>
              </a:rPr>
              <a:t>小组汇报与追问：这句话是数据/信息/知识？</a:t>
            </a:r>
          </a:p>
          <a:p>
            <a:pPr/>
            <a:r>
              <a:rPr sz="2000">
                <a:solidFill>
                  <a:srgbClr val="333333"/>
                </a:solidFill>
              </a:rPr>
              <a:t>评价量表互评与反思</a:t>
            </a:r>
          </a:p>
          <a:p>
            <a:pPr/>
            <a:r>
              <a:rPr sz="2000">
                <a:solidFill>
                  <a:srgbClr val="333333"/>
                </a:solidFill>
              </a:rPr>
              <a:t>总结升华：用数据看世界 + 爱鸟护鸟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三者关系总结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数据 ——载体——→ 信息 ——提炼——→ 知识 ——指导——→ 实践</a:t>
            </a:r>
          </a:p>
          <a:p>
            <a:pPr/>
            <a:r>
              <a:rPr sz="2000">
                <a:solidFill>
                  <a:srgbClr val="333333"/>
                </a:solidFill>
              </a:rPr>
              <a:t>  记录客观         有意义        系统化可靠       决策行动</a:t>
            </a:r>
          </a:p>
          <a:p>
            <a:pPr/>
            <a:r>
              <a:rPr sz="2000">
                <a:solidFill>
                  <a:srgbClr val="333333"/>
                </a:solidFill>
              </a:rPr>
              <a:t/>
            </a:r>
          </a:p>
          <a:p>
            <a:pPr/>
            <a:r>
              <a:rPr sz="2000">
                <a:solidFill>
                  <a:srgbClr val="333333"/>
                </a:solidFill>
              </a:rPr>
              <a:t>实例：3月12日 7只东方白鹳/崇明东滩/晴（数据）</a:t>
            </a:r>
          </a:p>
          <a:p>
            <a:pPr/>
            <a:r>
              <a:rPr sz="2000">
                <a:solidFill>
                  <a:srgbClr val="333333"/>
                </a:solidFill>
              </a:rPr>
              <a:t>→ 今年白鹳提前一周到达（信息）</a:t>
            </a:r>
          </a:p>
          <a:p>
            <a:pPr/>
            <a:r>
              <a:rPr sz="2000">
                <a:solidFill>
                  <a:srgbClr val="333333"/>
                </a:solidFill>
              </a:rPr>
              <a:t>→ 保护迁徙停歇地利于白鹳生存（知识）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用数据看世界 · 爱鸟护鸟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FB2"/>
                </a:solidFill>
              </a:rPr>
              <a:t>感谢倾听，期待你的探究成果！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完成课后作业，巩固数据、信息与知识三个概念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