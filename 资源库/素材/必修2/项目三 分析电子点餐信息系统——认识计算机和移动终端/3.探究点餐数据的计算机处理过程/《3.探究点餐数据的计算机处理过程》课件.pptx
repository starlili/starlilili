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20" Type="http://schemas.openxmlformats.org/officeDocument/2006/relationships/tableStyles" Target="tableStyles.xml"/><Relationship Id="rId2" Type="http://schemas.openxmlformats.org/officeDocument/2006/relationships/slide" Target="slides/slide1.xml"/><Relationship Id="rId19" Type="http://schemas.openxmlformats.org/officeDocument/2006/relationships/presProps" Target="presProps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199695" y="928942"/>
            <a:ext cx="7762240" cy="1692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-1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spcBef>
                <a:spcPts val="3"/>
              </a:spcBef>
              <a:tabLst/>
            </a:pPr>
            <a:r>
              <a:rPr sz="3400" b="1" kern="0" spc="-2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探究点餐数据的计</a:t>
            </a:r>
            <a:r>
              <a:rPr sz="3400" b="1" kern="0" spc="-2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算机处理过</a:t>
            </a:r>
            <a:r>
              <a:rPr sz="3400" b="1" kern="0" spc="-1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程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4691607" y="3813933"/>
            <a:ext cx="4789170" cy="2178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900" b="1" kern="0" spc="1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学科：信息技术(沪科教版)</a:t>
            </a:r>
            <a:endParaRPr sz="2900" dirty="0">
              <a:latin typeface="KaiTi"/>
              <a:ea typeface="KaiTi"/>
              <a:cs typeface="KaiTi"/>
            </a:endParaRPr>
          </a:p>
          <a:p>
            <a:pPr marL="94614" algn="l" rtl="0" eaLnBrk="0">
              <a:lnSpc>
                <a:spcPct val="97000"/>
              </a:lnSpc>
              <a:spcBef>
                <a:spcPts val="675"/>
              </a:spcBef>
              <a:tabLst/>
            </a:pPr>
            <a:r>
              <a:rPr sz="2900" b="1" kern="0" spc="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学校：南昌市第十中学</a:t>
            </a:r>
            <a:endParaRPr sz="2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105535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人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199086" y="3828093"/>
            <a:ext cx="2581910" cy="951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9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900" b="1" kern="0" spc="1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年</a:t>
            </a:r>
            <a:r>
              <a:rPr sz="2900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b="1" kern="0" spc="1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级：高一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529"/>
              </a:spcBef>
              <a:tabLst/>
            </a:pPr>
            <a:r>
              <a:rPr sz="2900" b="1" kern="0" spc="-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主讲人：丁琳珂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60" y="5035555"/>
            <a:ext cx="1574718" cy="1028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972800" y="5149877"/>
            <a:ext cx="1219200" cy="10794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63520" y="0"/>
            <a:ext cx="12110084" cy="845185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543415" algn="l" rtl="0" eaLnBrk="0">
              <a:lnSpc>
                <a:spcPct val="97000"/>
              </a:lnSpc>
              <a:spcBef>
                <a:spcPts val="5"/>
              </a:spcBef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ect 20"/>
          <p:cNvSpPr/>
          <p:nvPr/>
        </p:nvSpPr>
        <p:spPr>
          <a:xfrm>
            <a:off x="31699" y="0"/>
            <a:ext cx="12141281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99040" y="3625824"/>
            <a:ext cx="3498860" cy="2209853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660879" y="984260"/>
            <a:ext cx="3416320" cy="2158967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3260" y="3619515"/>
            <a:ext cx="3175040" cy="2222471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03260" y="996947"/>
            <a:ext cx="3168701" cy="2152657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1090162" y="3245687"/>
            <a:ext cx="6245859" cy="391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智能客房管理系统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人脸识别系统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191860" y="5893629"/>
            <a:ext cx="6061709" cy="384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智能停车系统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        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智能点餐系统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149204" y="994016"/>
            <a:ext cx="8890634" cy="1703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49605" algn="l" rtl="0" eaLnBrk="0">
              <a:lnSpc>
                <a:spcPct val="92000"/>
              </a:lnSpc>
              <a:tabLst/>
            </a:pPr>
            <a:r>
              <a:rPr sz="3000" b="1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知识回顾，引出课题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52069" indent="115570" algn="l" rtl="0" eaLnBrk="0">
              <a:lnSpc>
                <a:spcPct val="101000"/>
              </a:lnSpc>
              <a:spcBef>
                <a:spcPts val="6"/>
              </a:spcBef>
              <a:tabLst/>
            </a:pP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【</a:t>
            </a:r>
            <a:r>
              <a:rPr sz="2400" b="1" kern="0" spc="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实践探究】打开学习素材中的压缩包，</a:t>
            </a: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进入计算机硬件分类游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戏界面，按照一个硬件分类框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+两张图片规则操作，回顾上节课内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容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26139" y="2635255"/>
            <a:ext cx="2101900" cy="3352807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89279" y="2635255"/>
            <a:ext cx="2044720" cy="3352807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558759" y="2667007"/>
            <a:ext cx="2057400" cy="3263859"/>
            <a:chOff x="0" y="0"/>
            <a:chExt cx="2057400" cy="3263859"/>
          </a:xfrm>
        </p:grpSpPr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2801" y="0"/>
              <a:ext cx="2044598" cy="3263859"/>
            </a:xfrm>
            <a:prstGeom prst="rect">
              <a:avLst/>
            </a:prstGeom>
          </p:spPr>
        </p:pic>
        <p:sp>
          <p:nvSpPr>
            <p:cNvPr id="46" name="textbox 46"/>
            <p:cNvSpPr/>
            <p:nvPr/>
          </p:nvSpPr>
          <p:spPr>
            <a:xfrm>
              <a:off x="-12700" y="-12700"/>
              <a:ext cx="2082800" cy="33077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55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35000" algn="l" rtl="0" eaLnBrk="0">
                <a:lnSpc>
                  <a:spcPts val="1988"/>
                </a:lnSpc>
                <a:tabLst/>
              </a:pPr>
              <a:r>
                <a:rPr sz="1600" kern="0" spc="-1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■</a:t>
              </a:r>
              <a:endParaRPr sz="16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460500" algn="l" rtl="0" eaLnBrk="0">
                <a:lnSpc>
                  <a:spcPts val="3060"/>
                </a:lnSpc>
                <a:spcBef>
                  <a:spcPts val="731"/>
                </a:spcBef>
                <a:tabLst/>
              </a:pPr>
              <a:r>
                <a:rPr sz="2400" kern="0" spc="-7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1h</a:t>
              </a:r>
              <a:endParaRPr sz="24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ct val="79000"/>
                </a:lnSpc>
                <a:spcBef>
                  <a:spcPts val="1243"/>
                </a:spcBef>
                <a:tabLst/>
              </a:pPr>
              <a:r>
                <a:rPr sz="2400" kern="0" spc="-1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M</a:t>
              </a:r>
              <a:endParaRPr sz="24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4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89305" algn="l" rtl="0" eaLnBrk="0">
                <a:lnSpc>
                  <a:spcPct val="95000"/>
                </a:lnSpc>
                <a:spcBef>
                  <a:spcPts val="337"/>
                </a:spcBef>
                <a:tabLst/>
              </a:pPr>
              <a:r>
                <a:rPr sz="1100" b="1" kern="0" spc="-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开始游戏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1409700" algn="l" rtl="0" eaLnBrk="0">
                <a:lnSpc>
                  <a:spcPct val="78000"/>
                </a:lnSpc>
                <a:spcBef>
                  <a:spcPts val="303"/>
                </a:spcBef>
                <a:tabLst/>
              </a:pP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M</a:t>
              </a:r>
              <a:endParaRPr sz="11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9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789305" algn="l" rtl="0" eaLnBrk="0">
                <a:lnSpc>
                  <a:spcPct val="95000"/>
                </a:lnSpc>
                <a:spcBef>
                  <a:spcPts val="2"/>
                </a:spcBef>
                <a:tabLst/>
              </a:pPr>
              <a:r>
                <a:rPr sz="1100" b="1" kern="0" spc="-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退出游戏</a:t>
              </a:r>
              <a:endParaRPr sz="11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48" name="textbox 4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537735" y="987707"/>
            <a:ext cx="8031480" cy="5132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0984" algn="l" rtl="0" eaLnBrk="0">
              <a:lnSpc>
                <a:spcPct val="92000"/>
              </a:lnSpc>
              <a:tabLst/>
            </a:pPr>
            <a:r>
              <a:rPr sz="3000" b="1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知识回顾，引出课题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727"/>
              </a:spcBef>
              <a:tabLst/>
            </a:pP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输入设备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61464" algn="l" rtl="0" eaLnBrk="0">
              <a:lnSpc>
                <a:spcPct val="95000"/>
              </a:lnSpc>
              <a:spcBef>
                <a:spcPts val="663"/>
              </a:spcBef>
              <a:tabLst/>
            </a:pPr>
            <a:r>
              <a:rPr sz="2200" b="1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输入信息，将外界信息转化成计算机能</a:t>
            </a:r>
            <a:r>
              <a:rPr sz="2200" b="1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识别的形式</a:t>
            </a:r>
            <a:endParaRPr sz="2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730"/>
              </a:spcBef>
              <a:tabLst/>
            </a:pP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输出设备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669"/>
              </a:spcBef>
              <a:tabLst/>
            </a:pPr>
            <a:r>
              <a:rPr sz="2200" b="1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输出信息，将计算机处理的结果转化成</a:t>
            </a:r>
            <a:r>
              <a:rPr sz="2200" b="1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人熟悉的形式</a:t>
            </a:r>
            <a:endParaRPr sz="2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1764" algn="l" rtl="0" eaLnBrk="0">
              <a:lnSpc>
                <a:spcPct val="100000"/>
              </a:lnSpc>
              <a:spcBef>
                <a:spcPts val="726"/>
              </a:spcBef>
              <a:tabLst/>
            </a:pP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561464" algn="l" rtl="0" eaLnBrk="0">
              <a:lnSpc>
                <a:spcPct val="97000"/>
              </a:lnSpc>
              <a:tabLst/>
            </a:pPr>
            <a:r>
              <a:rPr sz="2200" b="1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存储数据、指令和运算</a:t>
            </a:r>
            <a:r>
              <a:rPr sz="2200" b="1" kern="0" spc="-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结果</a:t>
            </a:r>
            <a:endParaRPr sz="2200" dirty="0">
              <a:latin typeface="KaiTi"/>
              <a:ea typeface="KaiTi"/>
              <a:cs typeface="KaiTi"/>
            </a:endParaRPr>
          </a:p>
        </p:txBody>
      </p:sp>
      <p:sp>
        <p:nvSpPr>
          <p:cNvPr id="54" name="rect 54"/>
          <p:cNvSpPr/>
          <p:nvPr/>
        </p:nvSpPr>
        <p:spPr>
          <a:xfrm>
            <a:off x="57180" y="0"/>
            <a:ext cx="12115800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textbox 5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746955" y="987707"/>
            <a:ext cx="5267959" cy="5087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1435" algn="l" rtl="0" eaLnBrk="0">
              <a:lnSpc>
                <a:spcPct val="92000"/>
              </a:lnSpc>
              <a:tabLst/>
            </a:pPr>
            <a:r>
              <a:rPr sz="3000" b="1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知识回顾，引出课题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80464" algn="l" rtl="0" eaLnBrk="0">
              <a:lnSpc>
                <a:spcPct val="99000"/>
              </a:lnSpc>
              <a:spcBef>
                <a:spcPts val="662"/>
              </a:spcBef>
              <a:tabLst/>
            </a:pPr>
            <a:r>
              <a:rPr sz="22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控制器</a:t>
            </a:r>
            <a:endParaRPr sz="2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62"/>
              </a:spcBef>
              <a:tabLst/>
            </a:pPr>
            <a:r>
              <a:rPr sz="2200" b="1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控制计算机其他部件协同工作</a:t>
            </a:r>
            <a:endParaRPr sz="2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03829" algn="l" rtl="0" eaLnBrk="0">
              <a:lnSpc>
                <a:spcPct val="97000"/>
              </a:lnSpc>
              <a:spcBef>
                <a:spcPts val="515"/>
              </a:spcBef>
              <a:tabLst/>
            </a:pP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运算器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spcBef>
                <a:spcPts val="514"/>
              </a:spcBef>
              <a:tabLst/>
            </a:pP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输入设备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控制器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输出设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备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03829" algn="l" rtl="0" eaLnBrk="0">
              <a:lnSpc>
                <a:spcPct val="97000"/>
              </a:lnSpc>
              <a:spcBef>
                <a:spcPts val="518"/>
              </a:spcBef>
              <a:tabLst/>
            </a:pP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存储器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822450" algn="l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22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计算机五大基本部件</a:t>
            </a:r>
            <a:endParaRPr sz="2200" dirty="0">
              <a:latin typeface="KaiTi"/>
              <a:ea typeface="KaiTi"/>
              <a:cs typeface="KaiTi"/>
            </a:endParaRPr>
          </a:p>
        </p:txBody>
      </p:sp>
      <p:sp>
        <p:nvSpPr>
          <p:cNvPr id="62" name="rect 62"/>
          <p:cNvSpPr/>
          <p:nvPr/>
        </p:nvSpPr>
        <p:spPr>
          <a:xfrm>
            <a:off x="5084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textbox 64"/>
          <p:cNvSpPr/>
          <p:nvPr/>
        </p:nvSpPr>
        <p:spPr>
          <a:xfrm>
            <a:off x="6506457" y="1837102"/>
            <a:ext cx="2880995" cy="3472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8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8015" algn="l" rtl="0" eaLnBrk="0">
              <a:lnSpc>
                <a:spcPct val="99000"/>
              </a:lnSpc>
              <a:tabLst/>
            </a:pPr>
            <a:r>
              <a:rPr sz="2200" b="1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运算器</a:t>
            </a:r>
            <a:endParaRPr sz="2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9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97000"/>
              </a:lnSpc>
              <a:spcBef>
                <a:spcPts val="665"/>
              </a:spcBef>
              <a:tabLst/>
            </a:pPr>
            <a:r>
              <a:rPr sz="2200" b="1" kern="0" spc="-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对数据进行运算的部件</a:t>
            </a:r>
            <a:endParaRPr sz="2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139064" algn="l" rtl="0" eaLnBrk="0">
              <a:lnSpc>
                <a:spcPct val="100000"/>
              </a:lnSpc>
              <a:spcBef>
                <a:spcPts val="668"/>
              </a:spcBef>
              <a:tabLst/>
            </a:pPr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计算机</a:t>
            </a:r>
            <a:r>
              <a:rPr sz="2200" b="1" kern="0" spc="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五大部件</a:t>
            </a:r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之间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2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是如何</a:t>
            </a:r>
            <a:r>
              <a:rPr sz="2200" b="1" kern="0" spc="-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处理数据</a:t>
            </a:r>
            <a:r>
              <a:rPr sz="22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的呢?</a:t>
            </a:r>
            <a:endParaRPr sz="2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51764" algn="l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2200" b="1" kern="0" spc="-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</a:t>
            </a:r>
            <a:r>
              <a:rPr sz="22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在计算机中的处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2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理过程是怎样的呢?</a:t>
            </a:r>
            <a:endParaRPr sz="2200" dirty="0">
              <a:latin typeface="KaiTi"/>
              <a:ea typeface="KaiTi"/>
              <a:cs typeface="KaiT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210491" y="994016"/>
            <a:ext cx="9080500" cy="2026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07059" algn="l" rtl="0" eaLnBrk="0">
              <a:lnSpc>
                <a:spcPct val="92000"/>
              </a:lnSpc>
              <a:tabLst/>
            </a:pPr>
            <a:r>
              <a:rPr sz="3000" b="1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问题情境，知识探究</a:t>
            </a:r>
            <a:endParaRPr sz="3000" dirty="0">
              <a:latin typeface="SimHei"/>
              <a:ea typeface="SimHei"/>
              <a:cs typeface="SimHei"/>
            </a:endParaRPr>
          </a:p>
          <a:p>
            <a:pPr marL="60325" indent="94614" algn="l" rtl="0" eaLnBrk="0">
              <a:lnSpc>
                <a:spcPct val="100000"/>
              </a:lnSpc>
              <a:spcBef>
                <a:spcPts val="869"/>
              </a:spcBef>
              <a:tabLst/>
            </a:pPr>
            <a:r>
              <a:rPr sz="2200" b="1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【点餐过程】“我”</a:t>
            </a:r>
            <a:r>
              <a:rPr sz="2200" b="1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通过天猫精灵发送语音指令，点了一份牛排(108元)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200" b="1" kern="0" spc="1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一杯橙汁(12元),智慧终端(机器</a:t>
            </a:r>
            <a:r>
              <a:rPr sz="2200" b="1" kern="0" spc="1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人)接收数据，配餐、送餐上门，</a:t>
            </a:r>
            <a:endParaRPr sz="2200" dirty="0">
              <a:latin typeface="KaiTi"/>
              <a:ea typeface="KaiTi"/>
              <a:cs typeface="KaiTi"/>
            </a:endParaRPr>
          </a:p>
          <a:p>
            <a:pPr marL="155575" algn="l" rtl="0" eaLnBrk="0">
              <a:lnSpc>
                <a:spcPct val="98000"/>
              </a:lnSpc>
              <a:spcBef>
                <a:spcPts val="33"/>
              </a:spcBef>
              <a:tabLst/>
            </a:pPr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“我”在智慧终端(机器人)屏幕上</a:t>
            </a:r>
            <a:r>
              <a:rPr sz="22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支付120元。</a:t>
            </a:r>
            <a:endParaRPr sz="2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345440" algn="l" rtl="0" eaLnBrk="0">
              <a:lnSpc>
                <a:spcPct val="95000"/>
              </a:lnSpc>
              <a:spcBef>
                <a:spcPts val="4"/>
              </a:spcBef>
              <a:tabLst/>
            </a:pPr>
            <a:r>
              <a:rPr sz="2200" b="1" kern="0" spc="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(点餐数据：牛排、橙汁价格，指令</a:t>
            </a:r>
            <a:r>
              <a:rPr sz="2200" b="1" kern="0" spc="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：计算总价格)</a:t>
            </a:r>
            <a:endParaRPr sz="2200" dirty="0">
              <a:latin typeface="KaiTi"/>
              <a:ea typeface="KaiTi"/>
              <a:cs typeface="KaiTi"/>
            </a:endParaRPr>
          </a:p>
        </p:txBody>
      </p:sp>
      <p:sp>
        <p:nvSpPr>
          <p:cNvPr id="72" name="rect 72"/>
          <p:cNvSpPr/>
          <p:nvPr/>
        </p:nvSpPr>
        <p:spPr>
          <a:xfrm>
            <a:off x="44500" y="0"/>
            <a:ext cx="12128479" cy="850872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" name="textbox 74"/>
          <p:cNvSpPr/>
          <p:nvPr/>
        </p:nvSpPr>
        <p:spPr>
          <a:xfrm>
            <a:off x="238249" y="5076987"/>
            <a:ext cx="9226550" cy="1122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0" algn="l" rtl="0" eaLnBrk="0">
              <a:lnSpc>
                <a:spcPct val="95000"/>
              </a:lnSpc>
              <a:tabLst/>
            </a:pPr>
            <a:r>
              <a:rPr sz="1800" b="1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【任务一】对照具体设备，将正确的设备名</a:t>
            </a:r>
            <a:r>
              <a:rPr sz="1800" b="1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称填写到相应的部件中。</a:t>
            </a:r>
            <a:endParaRPr sz="1800" dirty="0">
              <a:latin typeface="KaiTi"/>
              <a:ea typeface="KaiTi"/>
              <a:cs typeface="KaiTi"/>
            </a:endParaRPr>
          </a:p>
          <a:p>
            <a:pPr marL="127000" algn="l" rtl="0" eaLnBrk="0">
              <a:lnSpc>
                <a:spcPct val="95000"/>
              </a:lnSpc>
              <a:spcBef>
                <a:spcPts val="148"/>
              </a:spcBef>
              <a:tabLst/>
            </a:pPr>
            <a:r>
              <a:rPr sz="1800" b="1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【任务二】补充点餐数据的处理过程，并排序。</a:t>
            </a:r>
            <a:endParaRPr sz="1800" dirty="0">
              <a:latin typeface="KaiTi"/>
              <a:ea typeface="KaiTi"/>
              <a:cs typeface="KaiTi"/>
            </a:endParaRPr>
          </a:p>
          <a:p>
            <a:pPr marL="44450" indent="81914" algn="l" rtl="0" eaLnBrk="0">
              <a:lnSpc>
                <a:spcPct val="100000"/>
              </a:lnSpc>
              <a:spcBef>
                <a:spcPts val="63"/>
              </a:spcBef>
              <a:tabLst/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【任务三】画出餐费数据在计算机五大部件中的处理</a:t>
            </a: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过程，虚线表示控制信号传输，实线表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800" b="1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示数据、指令传输。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9661674" y="1670095"/>
            <a:ext cx="1636395" cy="572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点餐数据是怎样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处理的?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5863582" y="4424865"/>
            <a:ext cx="2319654" cy="312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258"/>
              </a:lnSpc>
              <a:tabLst/>
            </a:pPr>
            <a:r>
              <a:rPr sz="2100" b="1" kern="0" spc="40" baseline="20091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手机扫码支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40" baseline="-178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取餐</a:t>
            </a:r>
            <a:endParaRPr sz="2300" baseline="-17890" dirty="0">
              <a:latin typeface="SimHei"/>
              <a:ea typeface="SimHei"/>
              <a:cs typeface="Sim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9607520" y="384499"/>
            <a:ext cx="215582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681982" y="4436308"/>
            <a:ext cx="1131569" cy="439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0" indent="-190500" algn="l" rtl="0" eaLnBrk="0">
              <a:lnSpc>
                <a:spcPct val="97000"/>
              </a:lnSpc>
              <a:tabLst/>
            </a:pPr>
            <a:r>
              <a:rPr sz="14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通过天描精灵</a:t>
            </a: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输入信息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2434582" y="4434885"/>
            <a:ext cx="956310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3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1600" indent="-88900" algn="l" rtl="0" eaLnBrk="0">
              <a:lnSpc>
                <a:spcPct val="93000"/>
              </a:lnSpc>
              <a:tabLst/>
            </a:pPr>
            <a:r>
              <a:rPr sz="1400" b="1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厨房机器人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接收信息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4142803" y="4487659"/>
            <a:ext cx="949325" cy="230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b="1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配餐、送餐</a:t>
            </a:r>
            <a:endParaRPr sz="14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5135310" y="2915767"/>
            <a:ext cx="3583304" cy="2538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12214" algn="l" rtl="0" eaLnBrk="0">
              <a:lnSpc>
                <a:spcPct val="96000"/>
              </a:lnSpc>
              <a:tabLst/>
            </a:pPr>
            <a:r>
              <a:rPr sz="2600" b="1" kern="0" spc="-1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具体设备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716"/>
              </a:spcBef>
              <a:tabLst/>
            </a:pPr>
            <a:r>
              <a:rPr sz="2400" b="1" kern="0" spc="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智慧终端显示屏(机器人)</a:t>
            </a:r>
            <a:endParaRPr sz="2400" dirty="0">
              <a:latin typeface="KaiTi"/>
              <a:ea typeface="KaiTi"/>
              <a:cs typeface="KaiTi"/>
            </a:endParaRPr>
          </a:p>
          <a:p>
            <a:pPr marL="725169" algn="l" rtl="0" eaLnBrk="0">
              <a:lnSpc>
                <a:spcPct val="99000"/>
              </a:lnSpc>
              <a:spcBef>
                <a:spcPts val="1842"/>
              </a:spcBef>
              <a:tabLst/>
            </a:pP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中心服务器的</a:t>
            </a: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CPU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659765" algn="l" rtl="0" eaLnBrk="0">
              <a:lnSpc>
                <a:spcPct val="99000"/>
              </a:lnSpc>
              <a:spcBef>
                <a:spcPts val="864"/>
              </a:spcBef>
              <a:tabLst/>
            </a:pP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中心服务器的硬盘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43964" algn="l" rtl="0" eaLnBrk="0">
              <a:lnSpc>
                <a:spcPct val="99000"/>
              </a:lnSpc>
              <a:tabLst/>
            </a:pP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天猫精灵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331475" y="994016"/>
            <a:ext cx="8894444" cy="1014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6409" algn="l" rtl="0" eaLnBrk="0">
              <a:lnSpc>
                <a:spcPct val="92000"/>
              </a:lnSpc>
              <a:tabLst/>
            </a:pPr>
            <a:r>
              <a:rPr sz="3000" b="1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问题情境，知识探究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marL="168275" algn="l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2400" b="1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【任务一】对照具体设备，用连线的方式对应计算机的逻辑部件。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1058495" y="2558859"/>
            <a:ext cx="2468879" cy="2919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03250" indent="-59055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2600" b="1" kern="0" spc="-2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点餐系统计算机的</a:t>
            </a:r>
            <a:r>
              <a:rPr sz="26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b="1" kern="0" spc="-1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逻辑部件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628015" algn="l" rtl="0" eaLnBrk="0">
              <a:lnSpc>
                <a:spcPct val="100000"/>
              </a:lnSpc>
              <a:spcBef>
                <a:spcPts val="254"/>
              </a:spcBef>
              <a:tabLst/>
            </a:pPr>
            <a:r>
              <a:rPr sz="2400" b="1" kern="0" spc="-30" dirty="0">
                <a:solidFill>
                  <a:srgbClr val="407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输入设备</a:t>
            </a:r>
            <a:endParaRPr sz="2400" dirty="0">
              <a:latin typeface="KaiTi"/>
              <a:ea typeface="KaiTi"/>
              <a:cs typeface="KaiTi"/>
            </a:endParaRPr>
          </a:p>
          <a:p>
            <a:pPr marL="621665" algn="l" rtl="0" eaLnBrk="0">
              <a:lnSpc>
                <a:spcPct val="100000"/>
              </a:lnSpc>
              <a:spcBef>
                <a:spcPts val="770"/>
              </a:spcBef>
              <a:tabLst/>
            </a:pPr>
            <a:r>
              <a:rPr sz="2400" b="1" kern="0" spc="-20" dirty="0">
                <a:solidFill>
                  <a:srgbClr val="407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输出设备</a:t>
            </a:r>
            <a:endParaRPr sz="2400" dirty="0">
              <a:latin typeface="KaiTi"/>
              <a:ea typeface="KaiTi"/>
              <a:cs typeface="KaiTi"/>
            </a:endParaRPr>
          </a:p>
          <a:p>
            <a:pPr marL="507365" algn="l" rtl="0" eaLnBrk="0">
              <a:lnSpc>
                <a:spcPct val="97000"/>
              </a:lnSpc>
              <a:spcBef>
                <a:spcPts val="798"/>
              </a:spcBef>
              <a:tabLst/>
            </a:pPr>
            <a:r>
              <a:rPr sz="2400" b="1" kern="0" spc="-70" dirty="0">
                <a:solidFill>
                  <a:srgbClr val="407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中央处理器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01600" algn="l" rtl="0" eaLnBrk="0">
              <a:lnSpc>
                <a:spcPct val="100000"/>
              </a:lnSpc>
              <a:spcBef>
                <a:spcPts val="15"/>
              </a:spcBef>
              <a:tabLst/>
            </a:pPr>
            <a:r>
              <a:rPr sz="2400" b="1" kern="0" spc="20" dirty="0">
                <a:solidFill>
                  <a:srgbClr val="407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(运算器+控制器)</a:t>
            </a:r>
            <a:endParaRPr sz="2400" dirty="0">
              <a:latin typeface="KaiTi"/>
              <a:ea typeface="KaiTi"/>
              <a:cs typeface="KaiTi"/>
            </a:endParaRPr>
          </a:p>
          <a:p>
            <a:pPr marL="780415" algn="l" rtl="0" eaLnBrk="0">
              <a:lnSpc>
                <a:spcPct val="100000"/>
              </a:lnSpc>
              <a:spcBef>
                <a:spcPts val="684"/>
              </a:spcBef>
              <a:tabLst/>
            </a:pPr>
            <a:r>
              <a:rPr sz="2400" b="1" kern="0" spc="-70" dirty="0">
                <a:solidFill>
                  <a:srgbClr val="407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664234" y="1000394"/>
            <a:ext cx="9192259" cy="2220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1920" algn="l" rtl="0" eaLnBrk="0">
              <a:lnSpc>
                <a:spcPct val="92000"/>
              </a:lnSpc>
              <a:tabLst/>
            </a:pPr>
            <a:r>
              <a:rPr sz="3000" b="1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模型构建，知识呈现</a:t>
            </a:r>
            <a:endParaRPr sz="3000" dirty="0">
              <a:latin typeface="SimHei"/>
              <a:ea typeface="SimHei"/>
              <a:cs typeface="SimHei"/>
            </a:endParaRPr>
          </a:p>
          <a:p>
            <a:pPr marL="116204" algn="l" rtl="0" eaLnBrk="0">
              <a:lnSpc>
                <a:spcPct val="99000"/>
              </a:lnSpc>
              <a:spcBef>
                <a:spcPts val="1361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1、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b="1" kern="0" spc="6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(牛排、橙汁价格)数据、(计算</a:t>
            </a:r>
            <a:r>
              <a:rPr sz="2000" b="1" kern="0" spc="5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总价格)指令通过</a:t>
            </a:r>
            <a:r>
              <a:rPr sz="2000" b="1" kern="0" spc="5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天猫精灵</a:t>
            </a: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输入到计算机。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2700" indent="103504" algn="l" rtl="0" eaLnBrk="0">
              <a:lnSpc>
                <a:spcPct val="97000"/>
              </a:lnSpc>
              <a:spcBef>
                <a:spcPts val="559"/>
              </a:spcBef>
              <a:tabLst/>
            </a:pP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2、</a:t>
            </a:r>
            <a:r>
              <a:rPr sz="2100" b="1" kern="0" spc="-20" dirty="0">
                <a:solidFill>
                  <a:srgbClr val="508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控制器向</a:t>
            </a:r>
            <a:r>
              <a:rPr sz="2100" b="1" kern="0" spc="-2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天猫精</a:t>
            </a:r>
            <a:r>
              <a:rPr sz="2100" b="1" kern="0" spc="-30" dirty="0">
                <a:solidFill>
                  <a:srgbClr val="107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灵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发出控制信号，将</a:t>
            </a:r>
            <a:r>
              <a:rPr sz="2100" kern="0" spc="-2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100" b="1" kern="0" spc="-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(牛排、橙汁价格)数据、(计算总</a:t>
            </a:r>
            <a:r>
              <a:rPr sz="2100" kern="0" spc="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</a:t>
            </a:r>
            <a:r>
              <a:rPr sz="2100" b="1" kern="0" spc="-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价格)指令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保存到</a:t>
            </a:r>
            <a:r>
              <a:rPr sz="2100" b="1" kern="0" spc="-20" dirty="0">
                <a:solidFill>
                  <a:srgbClr val="60209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存储器。</a:t>
            </a:r>
            <a:endParaRPr sz="2100" dirty="0">
              <a:latin typeface="KaiTi"/>
              <a:ea typeface="KaiTi"/>
              <a:cs typeface="KaiTi"/>
            </a:endParaRPr>
          </a:p>
          <a:p>
            <a:pPr marL="119379" indent="-3175" algn="l" rtl="0" eaLnBrk="0">
              <a:lnSpc>
                <a:spcPct val="97000"/>
              </a:lnSpc>
              <a:spcBef>
                <a:spcPts val="136"/>
              </a:spcBef>
              <a:tabLst/>
            </a:pP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3、</a:t>
            </a:r>
            <a:r>
              <a:rPr sz="2000" b="1" kern="0" spc="10" dirty="0">
                <a:solidFill>
                  <a:srgbClr val="508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控制器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向</a:t>
            </a:r>
            <a:r>
              <a:rPr sz="2000" b="1" kern="0" spc="10" dirty="0">
                <a:solidFill>
                  <a:srgbClr val="60209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发出取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</a:t>
            </a:r>
            <a:r>
              <a:rPr sz="2000" kern="0" spc="-29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b="1" kern="0" spc="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计算总价格)指令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信号，读取</a:t>
            </a:r>
            <a:r>
              <a:rPr sz="2000" b="1" kern="0" spc="10" dirty="0">
                <a:solidFill>
                  <a:srgbClr val="70109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中的</a:t>
            </a:r>
            <a:r>
              <a:rPr sz="2000" kern="0" spc="-1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b="1" kern="0" spc="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(计算总</a:t>
            </a:r>
            <a:r>
              <a:rPr sz="2000" kern="0" spc="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2000" b="1" kern="0" spc="10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价格)指令。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5819929" y="3260090"/>
            <a:ext cx="3519804" cy="2282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91639" indent="-25400" algn="l" rtl="0" eaLnBrk="0">
              <a:lnSpc>
                <a:spcPct val="101000"/>
              </a:lnSpc>
              <a:tabLst/>
            </a:pPr>
            <a:r>
              <a:rPr sz="1800" kern="0" spc="-5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→</a:t>
            </a:r>
            <a:r>
              <a:rPr sz="1800" kern="0" spc="-5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数据、指令传输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800" kern="0" spc="-50" dirty="0">
                <a:solidFill>
                  <a:srgbClr val="406090">
                    <a:alpha val="100000"/>
                  </a:srgbClr>
                </a:solidFill>
                <a:latin typeface="KaiTi"/>
                <a:ea typeface="KaiTi"/>
                <a:cs typeface="KaiTi"/>
              </a:rPr>
              <a:t>→</a:t>
            </a:r>
            <a:r>
              <a:rPr sz="1800" kern="0" spc="-460" dirty="0">
                <a:solidFill>
                  <a:srgbClr val="40609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控制信号传输</a:t>
            </a:r>
            <a:endParaRPr sz="18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55650" algn="l" rtl="0" eaLnBrk="0">
              <a:lnSpc>
                <a:spcPct val="98000"/>
              </a:lnSpc>
              <a:spcBef>
                <a:spcPts val="634"/>
              </a:spcBef>
              <a:tabLst/>
            </a:pPr>
            <a:r>
              <a:rPr sz="21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输出设备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1800" b="1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(程序存储原理)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2378575" y="3206574"/>
            <a:ext cx="3059429" cy="1683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21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运算器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635"/>
              </a:spcBef>
              <a:tabLst/>
            </a:pPr>
            <a:r>
              <a:rPr sz="21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输入设备</a:t>
            </a:r>
            <a:r>
              <a:rPr sz="2100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9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控制器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36014" algn="l" rtl="0" eaLnBrk="0">
              <a:lnSpc>
                <a:spcPct val="97000"/>
              </a:lnSpc>
              <a:spcBef>
                <a:spcPts val="6"/>
              </a:spcBef>
              <a:tabLst/>
            </a:pPr>
            <a:r>
              <a:rPr sz="1800" b="1" kern="0" spc="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(译码解释)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548397" y="4074067"/>
            <a:ext cx="1653539" cy="502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b="1" kern="0" spc="-3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数据(牛排、橙汁价格)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34950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1300" b="1" kern="0" spc="-1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指令(计算总价格)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2758197" y="5229777"/>
            <a:ext cx="1653539" cy="400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b="1" kern="0" spc="-3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数据(牛排、橙汁价格)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28600" algn="l" rtl="0" eaLnBrk="0">
              <a:lnSpc>
                <a:spcPct val="94000"/>
              </a:lnSpc>
              <a:spcBef>
                <a:spcPts val="8"/>
              </a:spcBef>
              <a:tabLst/>
            </a:pPr>
            <a:r>
              <a:rPr sz="1300" b="1" kern="0" spc="-2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指令(计算总价格)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4645552" y="5251287"/>
            <a:ext cx="792480" cy="338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21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存储器</a:t>
            </a:r>
            <a:endParaRPr sz="21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257874" y="1000394"/>
            <a:ext cx="9209405" cy="4648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4034" algn="l" rtl="0" eaLnBrk="0">
              <a:lnSpc>
                <a:spcPct val="92000"/>
              </a:lnSpc>
              <a:tabLst/>
            </a:pPr>
            <a:r>
              <a:rPr sz="3000" b="1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模型构建，知识呈现</a:t>
            </a:r>
            <a:endParaRPr sz="3000" dirty="0">
              <a:latin typeface="SimHei"/>
              <a:ea typeface="SimHei"/>
              <a:cs typeface="SimHei"/>
            </a:endParaRPr>
          </a:p>
          <a:p>
            <a:pPr marL="116204" algn="l" rtl="0" eaLnBrk="0">
              <a:lnSpc>
                <a:spcPct val="98000"/>
              </a:lnSpc>
              <a:spcBef>
                <a:spcPts val="1533"/>
              </a:spcBef>
              <a:tabLst/>
            </a:pPr>
            <a:r>
              <a:rPr sz="21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1、</a:t>
            </a:r>
            <a:r>
              <a:rPr sz="21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100" b="1" kern="0" spc="-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(牛排、橙汁价格)数据、(计算总价格)指令通过</a:t>
            </a:r>
            <a:r>
              <a:rPr sz="2100" b="1" kern="0" spc="-30" dirty="0">
                <a:solidFill>
                  <a:srgbClr val="2070C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天猫精</a:t>
            </a:r>
            <a:r>
              <a:rPr sz="2100" b="1" kern="0" spc="-40" dirty="0">
                <a:solidFill>
                  <a:srgbClr val="2070C0">
                    <a:alpha val="100000"/>
                  </a:srgbClr>
                </a:solidFill>
                <a:latin typeface="KaiTi"/>
                <a:ea typeface="KaiTi"/>
                <a:cs typeface="KaiTi"/>
              </a:rPr>
              <a:t>灵</a:t>
            </a: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输入到计算机。</a:t>
            </a:r>
            <a:endParaRPr sz="2100" dirty="0">
              <a:latin typeface="KaiTi"/>
              <a:ea typeface="KaiTi"/>
              <a:cs typeface="KaiTi"/>
            </a:endParaRPr>
          </a:p>
          <a:p>
            <a:pPr marL="12700" indent="103504" algn="l" rtl="0" eaLnBrk="0">
              <a:lnSpc>
                <a:spcPct val="92000"/>
              </a:lnSpc>
              <a:spcBef>
                <a:spcPts val="149"/>
              </a:spcBef>
              <a:tabLst/>
            </a:pP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2、</a:t>
            </a:r>
            <a:r>
              <a:rPr sz="2100" b="1" kern="0" spc="-20" dirty="0">
                <a:solidFill>
                  <a:srgbClr val="508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控制器向</a:t>
            </a:r>
            <a:r>
              <a:rPr sz="2100" b="1" kern="0" spc="-20" dirty="0">
                <a:solidFill>
                  <a:srgbClr val="2070C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天猫精灵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发出控制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信号，将</a:t>
            </a:r>
            <a:r>
              <a:rPr sz="2100" kern="0" spc="-2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100" b="1" kern="0" spc="-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(牛排、橙汁价格)数据、(计算总</a:t>
            </a:r>
            <a:r>
              <a:rPr sz="2100" kern="0" spc="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</a:t>
            </a:r>
            <a:r>
              <a:rPr sz="2100" b="1" kern="0" spc="-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价格)指令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保存到</a:t>
            </a:r>
            <a:r>
              <a:rPr sz="2100" b="1" kern="0" spc="-10" dirty="0">
                <a:solidFill>
                  <a:srgbClr val="6030A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存储器。</a:t>
            </a:r>
            <a:endParaRPr sz="2100" dirty="0">
              <a:latin typeface="KaiTi"/>
              <a:ea typeface="KaiTi"/>
              <a:cs typeface="KaiTi"/>
            </a:endParaRPr>
          </a:p>
          <a:p>
            <a:pPr marL="119379" indent="-3175" algn="l" rtl="0" eaLnBrk="0">
              <a:lnSpc>
                <a:spcPct val="96000"/>
              </a:lnSpc>
              <a:spcBef>
                <a:spcPts val="33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3、</a:t>
            </a:r>
            <a:r>
              <a:rPr sz="2000" b="1" kern="0" spc="30" dirty="0">
                <a:solidFill>
                  <a:srgbClr val="508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控制器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向</a:t>
            </a:r>
            <a:r>
              <a:rPr sz="2000" b="1" kern="0" spc="30" dirty="0">
                <a:solidFill>
                  <a:srgbClr val="6030A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发出取</a:t>
            </a:r>
            <a:r>
              <a:rPr sz="2000" kern="0" spc="-2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</a:t>
            </a:r>
            <a:r>
              <a:rPr sz="2000" kern="0" spc="-28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b="1" kern="0" spc="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计算总价格)</a:t>
            </a:r>
            <a:r>
              <a:rPr sz="2000" b="1" kern="0" spc="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指令</a:t>
            </a: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信号，读取</a:t>
            </a:r>
            <a:r>
              <a:rPr sz="2000" b="1" kern="0" spc="20" dirty="0">
                <a:solidFill>
                  <a:srgbClr val="8020A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</a:t>
            </a: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中的</a:t>
            </a:r>
            <a:r>
              <a:rPr sz="2000" kern="0" spc="-2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b="1" kern="0" spc="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(计算总</a:t>
            </a:r>
            <a:r>
              <a:rPr sz="2000" kern="0" spc="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2000" b="1" kern="0" spc="1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价格)指令。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86054" algn="l" rtl="0" eaLnBrk="0">
              <a:lnSpc>
                <a:spcPct val="95000"/>
              </a:lnSpc>
              <a:spcBef>
                <a:spcPts val="1592"/>
              </a:spcBef>
              <a:tabLst/>
            </a:pP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【任务二】补充点餐数据的处理过程，并</a:t>
            </a:r>
            <a:r>
              <a:rPr sz="22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排序。</a:t>
            </a:r>
            <a:endParaRPr sz="2200" dirty="0">
              <a:latin typeface="KaiTi"/>
              <a:ea typeface="KaiTi"/>
              <a:cs typeface="KaiTi"/>
            </a:endParaRPr>
          </a:p>
          <a:p>
            <a:pPr marL="236854" algn="l" rtl="0" eaLnBrk="0">
              <a:lnSpc>
                <a:spcPct val="96000"/>
              </a:lnSpc>
              <a:spcBef>
                <a:spcPts val="1688"/>
              </a:spcBef>
              <a:tabLst/>
            </a:pPr>
            <a:r>
              <a:rPr sz="1900" b="1" kern="0" spc="0" dirty="0">
                <a:solidFill>
                  <a:srgbClr val="508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A.</a:t>
            </a:r>
            <a:r>
              <a:rPr sz="1900" b="1" kern="0" spc="0" dirty="0">
                <a:solidFill>
                  <a:srgbClr val="5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控制器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向</a:t>
            </a:r>
            <a:r>
              <a:rPr sz="1900" b="1" kern="0" spc="0" dirty="0">
                <a:solidFill>
                  <a:srgbClr val="D06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运算器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发出控制信号，计算数据(牛排、橙汁价格)总和，结果(120元)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送入到</a:t>
            </a:r>
            <a:r>
              <a:rPr sz="1900" b="1" kern="0" spc="-70" dirty="0">
                <a:solidFill>
                  <a:srgbClr val="6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存储器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236854" algn="l" rtl="0" eaLnBrk="0">
              <a:lnSpc>
                <a:spcPct val="92000"/>
              </a:lnSpc>
              <a:spcBef>
                <a:spcPts val="850"/>
              </a:spcBef>
              <a:tabLst/>
            </a:pPr>
            <a:r>
              <a:rPr sz="1900" b="1" kern="0" spc="-30" dirty="0">
                <a:solidFill>
                  <a:srgbClr val="508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B.</a:t>
            </a:r>
            <a:r>
              <a:rPr sz="1900" b="1" kern="0" spc="-30" dirty="0">
                <a:solidFill>
                  <a:srgbClr val="5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控制器</a:t>
            </a:r>
            <a:r>
              <a:rPr sz="1900" b="1" kern="0" spc="-30" dirty="0">
                <a:solidFill>
                  <a:srgbClr val="8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向存储器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发出控制信号，将</a:t>
            </a:r>
            <a:r>
              <a:rPr sz="1900" kern="0" spc="-3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-3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</a:t>
            </a:r>
            <a:r>
              <a:rPr sz="1900" b="1" kern="0" spc="-4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120元)数据</a:t>
            </a: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传输到</a:t>
            </a:r>
            <a:r>
              <a:rPr sz="1900" b="1" kern="0" spc="-40" dirty="0">
                <a:solidFill>
                  <a:srgbClr val="207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机器人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236854" algn="l" rtl="0" eaLnBrk="0">
              <a:lnSpc>
                <a:spcPct val="94000"/>
              </a:lnSpc>
              <a:spcBef>
                <a:spcPts val="1407"/>
              </a:spcBef>
              <a:tabLst/>
            </a:pPr>
            <a:r>
              <a:rPr sz="1900" b="1" kern="0" spc="-100" dirty="0">
                <a:solidFill>
                  <a:srgbClr val="508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C.</a:t>
            </a:r>
            <a:r>
              <a:rPr sz="1900" b="1" kern="0" spc="-100" dirty="0">
                <a:solidFill>
                  <a:srgbClr val="5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控制器向</a:t>
            </a:r>
            <a:r>
              <a:rPr sz="1900" b="1" kern="0" spc="-100" dirty="0">
                <a:solidFill>
                  <a:srgbClr val="207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机器人</a:t>
            </a:r>
            <a:r>
              <a:rPr sz="19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发出控制信号，输出显示餐费结果</a:t>
            </a:r>
            <a:r>
              <a:rPr sz="19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-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(总价格)。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36854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1900" b="1" kern="0" spc="-70" dirty="0">
                <a:solidFill>
                  <a:srgbClr val="508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D.</a:t>
            </a:r>
            <a:r>
              <a:rPr sz="1900" b="1" kern="0" spc="-70" dirty="0">
                <a:solidFill>
                  <a:srgbClr val="508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控制器</a:t>
            </a: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向</a:t>
            </a:r>
            <a:r>
              <a:rPr sz="1900" b="1" kern="0" spc="-70" dirty="0">
                <a:solidFill>
                  <a:srgbClr val="6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存储器</a:t>
            </a: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发出控制信号，读取</a:t>
            </a:r>
            <a:r>
              <a:rPr sz="1900" b="1" kern="0" spc="-70" dirty="0">
                <a:solidFill>
                  <a:srgbClr val="6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存储器</a:t>
            </a: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</a:t>
            </a: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-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(牛排、橙汁价格</a:t>
            </a:r>
            <a:r>
              <a:rPr sz="1900" b="1" kern="0" spc="-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)数据</a:t>
            </a:r>
            <a:r>
              <a:rPr sz="19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交至</a:t>
            </a:r>
            <a:r>
              <a:rPr sz="1900" b="1" kern="0" spc="-80" dirty="0">
                <a:solidFill>
                  <a:srgbClr val="D06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运算器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18" name="rect 118"/>
          <p:cNvSpPr/>
          <p:nvPr/>
        </p:nvSpPr>
        <p:spPr>
          <a:xfrm>
            <a:off x="44500" y="0"/>
            <a:ext cx="12122139" cy="844563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" name="textbox 12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184099" y="994016"/>
            <a:ext cx="9404984" cy="5266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1030" algn="l" rtl="0" eaLnBrk="0">
              <a:lnSpc>
                <a:spcPct val="92000"/>
              </a:lnSpc>
              <a:tabLst/>
            </a:pPr>
            <a:r>
              <a:rPr sz="3000" b="1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模型构建，知识呈现</a:t>
            </a:r>
            <a:endParaRPr sz="3000" dirty="0">
              <a:latin typeface="SimHei"/>
              <a:ea typeface="SimHei"/>
              <a:cs typeface="SimHei"/>
            </a:endParaRPr>
          </a:p>
          <a:p>
            <a:pPr marL="152400" algn="l" rtl="0" eaLnBrk="0">
              <a:lnSpc>
                <a:spcPct val="95000"/>
              </a:lnSpc>
              <a:spcBef>
                <a:spcPts val="1271"/>
              </a:spcBef>
              <a:tabLst/>
            </a:pP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【任务二】补充点餐数据的处</a:t>
            </a:r>
            <a:r>
              <a:rPr sz="22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理过程，并排序。</a:t>
            </a:r>
            <a:endParaRPr sz="2200" dirty="0">
              <a:latin typeface="KaiTi"/>
              <a:ea typeface="KaiTi"/>
              <a:cs typeface="KaiTi"/>
            </a:endParaRPr>
          </a:p>
          <a:p>
            <a:pPr marL="234950" algn="l" rtl="0" eaLnBrk="0">
              <a:lnSpc>
                <a:spcPct val="95000"/>
              </a:lnSpc>
              <a:spcBef>
                <a:spcPts val="663"/>
              </a:spcBef>
              <a:tabLst/>
            </a:pPr>
            <a:r>
              <a:rPr sz="2000" kern="0" spc="30" dirty="0">
                <a:solidFill>
                  <a:srgbClr val="308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000" kern="0" spc="-290" dirty="0">
                <a:solidFill>
                  <a:srgbClr val="30801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30" dirty="0">
                <a:solidFill>
                  <a:srgbClr val="3080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000" kern="0" spc="30" dirty="0">
                <a:solidFill>
                  <a:srgbClr val="308010">
                    <a:alpha val="100000"/>
                  </a:srgbClr>
                </a:solidFill>
                <a:latin typeface="KaiTi"/>
                <a:ea typeface="KaiTi"/>
                <a:cs typeface="KaiTi"/>
              </a:rPr>
              <a:t>通过</a:t>
            </a:r>
            <a:r>
              <a:rPr sz="2000" kern="0" spc="30" dirty="0">
                <a:solidFill>
                  <a:srgbClr val="105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天猫精灵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输入</a:t>
            </a:r>
            <a:r>
              <a:rPr sz="2000" kern="0" spc="-1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b="1" kern="0" spc="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(牛排、橙汁价格)</a:t>
            </a:r>
            <a:r>
              <a:rPr sz="2000" b="1" kern="0" spc="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数据，</a:t>
            </a:r>
            <a:r>
              <a:rPr sz="2000" kern="0" spc="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000" b="1" kern="0" spc="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(计算总价格)指令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到计算机。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23825" indent="110489" algn="l" rtl="0" eaLnBrk="0">
              <a:lnSpc>
                <a:spcPct val="101000"/>
              </a:lnSpc>
              <a:spcBef>
                <a:spcPts val="148"/>
              </a:spcBef>
              <a:tabLst/>
            </a:pPr>
            <a:r>
              <a:rPr sz="2000" b="1" kern="0" spc="-10" dirty="0">
                <a:solidFill>
                  <a:srgbClr val="407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000" b="1" kern="0" spc="-270" dirty="0">
                <a:solidFill>
                  <a:srgbClr val="407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1" kern="0" spc="-10" dirty="0">
                <a:solidFill>
                  <a:srgbClr val="407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000" b="1" kern="0" spc="-10" dirty="0">
                <a:solidFill>
                  <a:srgbClr val="407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控制器向</a:t>
            </a:r>
            <a:r>
              <a:rPr sz="2000" b="1" kern="0" spc="-10" dirty="0">
                <a:solidFill>
                  <a:srgbClr val="105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天猫精</a:t>
            </a:r>
            <a:r>
              <a:rPr sz="2000" b="1" kern="0" spc="-20" dirty="0">
                <a:solidFill>
                  <a:srgbClr val="105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灵，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发出控制信号，将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2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(牛排、橙汁价格)数据、(计算</a:t>
            </a:r>
            <a:r>
              <a:rPr sz="2000" kern="0" spc="2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总</a:t>
            </a:r>
            <a:r>
              <a:rPr sz="2000" kern="0" spc="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000" b="1" kern="0" spc="8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价格)指令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保存到</a:t>
            </a:r>
            <a:r>
              <a:rPr sz="2000" b="1" kern="0" spc="80" dirty="0">
                <a:solidFill>
                  <a:srgbClr val="60209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存储器。</a:t>
            </a:r>
            <a:endParaRPr sz="2000" dirty="0">
              <a:latin typeface="KaiTi"/>
              <a:ea typeface="KaiTi"/>
              <a:cs typeface="KaiTi"/>
            </a:endParaRPr>
          </a:p>
          <a:p>
            <a:pPr marL="212725" algn="l" rtl="0" eaLnBrk="0">
              <a:lnSpc>
                <a:spcPct val="101000"/>
              </a:lnSpc>
              <a:spcBef>
                <a:spcPts val="460"/>
              </a:spcBef>
              <a:tabLst/>
            </a:pPr>
            <a:r>
              <a:rPr sz="2000" b="1" kern="0" spc="20" dirty="0">
                <a:solidFill>
                  <a:srgbClr val="407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3、控制器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向</a:t>
            </a:r>
            <a:r>
              <a:rPr sz="2000" kern="0" spc="20" dirty="0">
                <a:solidFill>
                  <a:srgbClr val="60209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发出取</a:t>
            </a:r>
            <a:r>
              <a:rPr sz="2000" kern="0" spc="-1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</a:t>
            </a:r>
            <a:r>
              <a:rPr sz="2000" kern="0" spc="-30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计算</a:t>
            </a:r>
            <a:r>
              <a:rPr sz="2000" kern="0" spc="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总价格)指令</a:t>
            </a:r>
            <a:r>
              <a:rPr sz="2000" kern="0" spc="-35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的信号，读取</a:t>
            </a:r>
            <a:r>
              <a:rPr sz="2000" kern="0" spc="10" dirty="0">
                <a:solidFill>
                  <a:srgbClr val="60209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中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b="1" kern="0" spc="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(计算总价</a:t>
            </a:r>
            <a:r>
              <a:rPr sz="2000" kern="0" spc="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b="1" kern="0" spc="2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格)指令</a:t>
            </a:r>
            <a:r>
              <a:rPr sz="2000" kern="0" spc="210" dirty="0">
                <a:solidFill>
                  <a:srgbClr val="604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。</a:t>
            </a:r>
            <a:endParaRPr sz="2000" dirty="0">
              <a:latin typeface="KaiTi"/>
              <a:ea typeface="KaiTi"/>
              <a:cs typeface="KaiTi"/>
            </a:endParaRPr>
          </a:p>
          <a:p>
            <a:pPr marL="79375" indent="104139" algn="l" rtl="0" eaLnBrk="0">
              <a:lnSpc>
                <a:spcPct val="95000"/>
              </a:lnSpc>
              <a:spcBef>
                <a:spcPts val="259"/>
              </a:spcBef>
              <a:tabLst/>
            </a:pPr>
            <a:r>
              <a:rPr sz="2000" b="1" kern="0" spc="30" dirty="0">
                <a:solidFill>
                  <a:srgbClr val="407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2000" b="1" kern="0" spc="-280" dirty="0">
                <a:solidFill>
                  <a:srgbClr val="407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1" kern="0" spc="30" dirty="0">
                <a:solidFill>
                  <a:srgbClr val="407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000" b="1" kern="0" spc="30" dirty="0">
                <a:solidFill>
                  <a:srgbClr val="407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控制器</a:t>
            </a:r>
            <a:r>
              <a:rPr sz="2000" kern="0" spc="30" dirty="0">
                <a:solidFill>
                  <a:srgbClr val="602080">
                    <a:alpha val="100000"/>
                  </a:srgbClr>
                </a:solidFill>
                <a:latin typeface="KaiTi"/>
                <a:ea typeface="KaiTi"/>
                <a:cs typeface="KaiTi"/>
              </a:rPr>
              <a:t>向存储器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发出控制信号，读取</a:t>
            </a:r>
            <a:r>
              <a:rPr sz="2000" kern="0" spc="30" dirty="0">
                <a:solidFill>
                  <a:srgbClr val="60209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中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b="1" kern="0" spc="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(牛排</a:t>
            </a:r>
            <a:r>
              <a:rPr sz="2000" b="1" kern="0" spc="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、橙汁价格)数据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交至运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000" b="1" kern="0" spc="-70" dirty="0">
                <a:solidFill>
                  <a:srgbClr val="C06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算器。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93675" indent="-41275" algn="l" rtl="0" eaLnBrk="0">
              <a:lnSpc>
                <a:spcPct val="99000"/>
              </a:lnSpc>
              <a:spcBef>
                <a:spcPts val="1019"/>
              </a:spcBef>
              <a:tabLst/>
            </a:pPr>
            <a:r>
              <a:rPr sz="2000" kern="0" spc="40" dirty="0">
                <a:solidFill>
                  <a:srgbClr val="407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5、</a:t>
            </a:r>
            <a:r>
              <a:rPr sz="2000" b="1" kern="0" spc="40" dirty="0">
                <a:solidFill>
                  <a:srgbClr val="407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控制器向</a:t>
            </a:r>
            <a:r>
              <a:rPr sz="2000" b="1" kern="0" spc="40" dirty="0">
                <a:solidFill>
                  <a:srgbClr val="C06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运算器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发出控制信号，计算数据(牛排、橙汁价格)总和，结果</a:t>
            </a:r>
            <a:r>
              <a:rPr sz="20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4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(120</a:t>
            </a:r>
            <a:r>
              <a:rPr sz="2000" kern="0" spc="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000" b="1" kern="0" spc="-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元</a:t>
            </a:r>
            <a:r>
              <a:rPr sz="2000" kern="0" spc="-35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b="1" kern="0" spc="-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)</a:t>
            </a:r>
            <a:r>
              <a:rPr sz="2000" kern="0" spc="-55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-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送入到</a:t>
            </a:r>
            <a:r>
              <a:rPr sz="2000" b="1" kern="0" spc="-30" dirty="0">
                <a:solidFill>
                  <a:srgbClr val="60209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52400" algn="l" rtl="0" eaLnBrk="0">
              <a:lnSpc>
                <a:spcPct val="95000"/>
              </a:lnSpc>
              <a:spcBef>
                <a:spcPts val="606"/>
              </a:spcBef>
              <a:tabLst/>
            </a:pPr>
            <a:r>
              <a:rPr sz="2000" b="1" kern="0" spc="40" dirty="0">
                <a:solidFill>
                  <a:srgbClr val="407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2000" b="1" kern="0" spc="-280" dirty="0">
                <a:solidFill>
                  <a:srgbClr val="407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1" kern="0" spc="40" dirty="0">
                <a:solidFill>
                  <a:srgbClr val="407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000" b="1" kern="0" spc="40" dirty="0">
                <a:solidFill>
                  <a:srgbClr val="407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控制</a:t>
            </a:r>
            <a:r>
              <a:rPr sz="2000" kern="0" spc="40" dirty="0">
                <a:solidFill>
                  <a:srgbClr val="405030">
                    <a:alpha val="100000"/>
                  </a:srgbClr>
                </a:solidFill>
                <a:latin typeface="KaiTi"/>
                <a:ea typeface="KaiTi"/>
                <a:cs typeface="KaiTi"/>
              </a:rPr>
              <a:t>器向</a:t>
            </a:r>
            <a:r>
              <a:rPr sz="2000" kern="0" spc="40" dirty="0">
                <a:solidFill>
                  <a:srgbClr val="60209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存储器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发出控制信号，将</a:t>
            </a:r>
            <a:r>
              <a:rPr sz="2000" kern="0" spc="-2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b="1" kern="0" spc="4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(1</a:t>
            </a:r>
            <a:r>
              <a:rPr sz="2000" b="1" kern="0" spc="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20元)数据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传输到</a:t>
            </a:r>
            <a:r>
              <a:rPr sz="2000" b="1" kern="0" spc="30" dirty="0">
                <a:solidFill>
                  <a:srgbClr val="105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机器人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52400" algn="l" rtl="0" eaLnBrk="0">
              <a:lnSpc>
                <a:spcPct val="97000"/>
              </a:lnSpc>
              <a:spcBef>
                <a:spcPts val="675"/>
              </a:spcBef>
              <a:tabLst/>
            </a:pPr>
            <a:r>
              <a:rPr sz="2000" b="1" kern="0" spc="-10" dirty="0">
                <a:solidFill>
                  <a:srgbClr val="407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2000" b="1" kern="0" spc="-210" dirty="0">
                <a:solidFill>
                  <a:srgbClr val="407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1" kern="0" spc="-10" dirty="0">
                <a:solidFill>
                  <a:srgbClr val="407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000" b="1" kern="0" spc="-10" dirty="0">
                <a:solidFill>
                  <a:srgbClr val="407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控制器向</a:t>
            </a:r>
            <a:r>
              <a:rPr sz="2000" b="1" kern="0" spc="-10" dirty="0">
                <a:solidFill>
                  <a:srgbClr val="105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机器人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发出控制信号，输出显示餐费结果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b="1" kern="0" spc="-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(总价格)。</a:t>
            </a:r>
            <a:endParaRPr sz="20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2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0" algn="l" rtl="0" eaLnBrk="0">
              <a:lnSpc>
                <a:spcPct val="95000"/>
              </a:lnSpc>
              <a:tabLst/>
            </a:pP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答案：</a:t>
            </a:r>
            <a:r>
              <a:rPr sz="2400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DABC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26" name="rect 126"/>
          <p:cNvSpPr/>
          <p:nvPr/>
        </p:nvSpPr>
        <p:spPr>
          <a:xfrm>
            <a:off x="4450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" name="textbox 12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32" name="table 132"/>
          <p:cNvGraphicFramePr>
            <a:graphicFrameLocks noGrp="1"/>
          </p:cNvGraphicFramePr>
          <p:nvPr/>
        </p:nvGraphicFramePr>
        <p:xfrm>
          <a:off x="770699" y="2395852"/>
          <a:ext cx="7108190" cy="2966720"/>
        </p:xfrm>
        <a:graphic>
          <a:graphicData uri="http://schemas.openxmlformats.org/drawingml/2006/table">
            <a:tbl>
              <a:tblPr/>
              <a:tblGrid>
                <a:gridCol w="1778000"/>
                <a:gridCol w="2186305"/>
                <a:gridCol w="1538605"/>
                <a:gridCol w="1605280"/>
              </a:tblGrid>
              <a:tr h="100838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0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0859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700" kern="0" spc="-13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—</a:t>
                      </a:r>
                      <a:r>
                        <a:rPr sz="1700" kern="0" spc="9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700" kern="0" spc="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→</a:t>
                      </a:r>
                      <a:r>
                        <a:rPr sz="1700" kern="0" spc="7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数据、指令传输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486409" algn="l" rtl="0" eaLnBrk="0">
                        <a:lnSpc>
                          <a:spcPts val="3099"/>
                        </a:lnSpc>
                        <a:tabLst/>
                      </a:pPr>
                      <a:r>
                        <a:rPr sz="1700" kern="0" spc="-70" dirty="0">
                          <a:solidFill>
                            <a:srgbClr val="105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---------</a:t>
                      </a:r>
                      <a:r>
                        <a:rPr sz="1700" kern="0" spc="700" dirty="0">
                          <a:solidFill>
                            <a:srgbClr val="105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控制信号传输</a:t>
                      </a:r>
                      <a:endParaRPr sz="1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164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2100" b="1" kern="0" spc="-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运算器</a:t>
                      </a:r>
                      <a:endParaRPr sz="2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50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3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数据(牛排、橙汁价格)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964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3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指令(计算总价格)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2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76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2200" kern="0" spc="-1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输入设备</a:t>
                      </a:r>
                      <a:endParaRPr sz="2200" dirty="0">
                        <a:latin typeface="KaiTi"/>
                        <a:ea typeface="KaiTi"/>
                        <a:cs typeface="KaiT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164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1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控制器</a:t>
                      </a:r>
                      <a:endParaRPr sz="2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1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输</a:t>
                      </a:r>
                      <a:r>
                        <a:rPr sz="2100" b="1" kern="0" spc="-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出设</a:t>
                      </a:r>
                      <a:r>
                        <a:rPr sz="2100" b="1" kern="0" spc="-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备</a:t>
                      </a:r>
                      <a:endParaRPr sz="2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32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3865" algn="l" rtl="0" eaLnBrk="0">
                        <a:lnSpc>
                          <a:spcPct val="8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300" b="1" kern="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数据(牛排、橙汁价格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660400" algn="l" rtl="0" eaLnBrk="0">
                        <a:lnSpc>
                          <a:spcPct val="79000"/>
                        </a:lnSpc>
                        <a:spcBef>
                          <a:spcPts val="14"/>
                        </a:spcBef>
                        <a:tabLst/>
                      </a:pPr>
                      <a:r>
                        <a:rPr sz="1300" b="1" kern="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指令(计算总价格)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164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100" b="1" kern="0" spc="-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存储器</a:t>
                      </a:r>
                      <a:endParaRPr sz="2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4" name="textbox 134"/>
          <p:cNvSpPr/>
          <p:nvPr/>
        </p:nvSpPr>
        <p:spPr>
          <a:xfrm>
            <a:off x="184099" y="994016"/>
            <a:ext cx="9004934" cy="1287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1030" algn="l" rtl="0" eaLnBrk="0">
              <a:lnSpc>
                <a:spcPct val="92000"/>
              </a:lnSpc>
              <a:tabLst/>
            </a:pPr>
            <a:r>
              <a:rPr sz="3000" b="1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模型构建，知识呈现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5400" indent="126364" algn="l" rtl="0" eaLnBrk="0">
              <a:lnSpc>
                <a:spcPct val="98000"/>
              </a:lnSpc>
              <a:tabLst/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【任务三】画出点餐数据在计算机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五大部件中的处理过程，虚线表示控制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信号传输，实线表示数据、指令传输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。</a:t>
            </a:r>
            <a:endParaRPr sz="2200" dirty="0">
              <a:latin typeface="KaiTi"/>
              <a:ea typeface="KaiTi"/>
              <a:cs typeface="KaiTi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3356411" y="5671230"/>
            <a:ext cx="3843020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8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计算机五大基本部件协同工作原理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1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42" name="textbox 142"/>
          <p:cNvSpPr/>
          <p:nvPr/>
        </p:nvSpPr>
        <p:spPr>
          <a:xfrm>
            <a:off x="238935" y="1000394"/>
            <a:ext cx="9282430" cy="2964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59434" algn="l" rtl="0" eaLnBrk="0">
              <a:lnSpc>
                <a:spcPct val="92000"/>
              </a:lnSpc>
              <a:tabLst/>
            </a:pPr>
            <a:r>
              <a:rPr sz="3000" b="1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模型解释，学习迁移</a:t>
            </a:r>
            <a:endParaRPr sz="3000" dirty="0">
              <a:latin typeface="SimHei"/>
              <a:ea typeface="SimHei"/>
              <a:cs typeface="SimHei"/>
            </a:endParaRPr>
          </a:p>
          <a:p>
            <a:pPr marL="24765" indent="127000" algn="l" rtl="0" eaLnBrk="0">
              <a:lnSpc>
                <a:spcPct val="98000"/>
              </a:lnSpc>
              <a:spcBef>
                <a:spcPts val="905"/>
              </a:spcBef>
              <a:tabLst/>
            </a:pPr>
            <a:r>
              <a:rPr sz="2200" b="1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【学习迁移】在无人酒店停车场，智能停车场管理系统，自动计算车辆的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停车时间和费用，用</a:t>
            </a:r>
            <a:r>
              <a:rPr sz="22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户还能在自动终端查询车辆所在位置、缴费，请结合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2200" b="1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计算机五大部件协同工作原理分析车辆进出时间、停车费的数据处理过</a:t>
            </a:r>
            <a:r>
              <a:rPr sz="2200" b="1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程。</a:t>
            </a:r>
            <a:endParaRPr sz="2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46505" algn="l" rtl="0" eaLnBrk="0">
              <a:lnSpc>
                <a:spcPts val="976"/>
              </a:lnSpc>
              <a:spcBef>
                <a:spcPts val="247"/>
              </a:spcBef>
              <a:tabLst/>
            </a:pP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管</a:t>
            </a:r>
            <a:r>
              <a:rPr sz="8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</a:t>
            </a:r>
            <a:r>
              <a:rPr sz="8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心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服务器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4554" algn="l" rtl="0" eaLnBrk="0">
              <a:lnSpc>
                <a:spcPts val="1564"/>
              </a:lnSpc>
              <a:spcBef>
                <a:spcPts val="2"/>
              </a:spcBef>
              <a:tabLst/>
            </a:pP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……车牌信息发送至中心服务器……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144" name="rect 144"/>
          <p:cNvSpPr/>
          <p:nvPr/>
        </p:nvSpPr>
        <p:spPr>
          <a:xfrm>
            <a:off x="57180" y="0"/>
            <a:ext cx="1210945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" name="textbox 146"/>
          <p:cNvSpPr/>
          <p:nvPr/>
        </p:nvSpPr>
        <p:spPr>
          <a:xfrm>
            <a:off x="2304999" y="4354550"/>
            <a:ext cx="6264275" cy="485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8"/>
              </a:lnSpc>
              <a:tabLst/>
            </a:pP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引导屏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460"/>
              </a:lnSpc>
              <a:spcBef>
                <a:spcPts val="6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……停车信息返回给自助查询机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……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673100" y="4132351"/>
            <a:ext cx="1437005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32814" algn="l" rtl="0" eaLnBrk="0">
              <a:lnSpc>
                <a:spcPts val="1088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</a:t>
            </a:r>
            <a:r>
              <a:rPr sz="9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城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屏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indent="1028700" algn="l" rtl="0" eaLnBrk="0">
              <a:lnSpc>
                <a:spcPct val="150000"/>
              </a:lnSpc>
              <a:spcBef>
                <a:spcPts val="2"/>
              </a:spcBef>
              <a:tabLst/>
            </a:pP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区域屏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各层空闲车位显示屏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3911660" y="5529326"/>
            <a:ext cx="666115" cy="163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8"/>
              </a:lnSpc>
              <a:tabLst/>
            </a:pP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车位探测器</a:t>
            </a:r>
            <a:endParaRPr sz="9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942115" y="2332335"/>
            <a:ext cx="3542665" cy="3253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5909" algn="l" rtl="0" eaLnBrk="0">
              <a:lnSpc>
                <a:spcPct val="86000"/>
              </a:lnSpc>
              <a:tabLst/>
            </a:pPr>
            <a:r>
              <a:rPr sz="1700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—    →  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</a:t>
            </a: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、指令传输</a:t>
            </a:r>
            <a:endParaRPr sz="1700" dirty="0">
              <a:latin typeface="SimSun"/>
              <a:ea typeface="SimSun"/>
              <a:cs typeface="SimSun"/>
            </a:endParaRPr>
          </a:p>
          <a:p>
            <a:pPr marL="1273810" algn="l" rtl="0" eaLnBrk="0">
              <a:lnSpc>
                <a:spcPts val="3450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控制信号传输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92"/>
              </a:spcBef>
              <a:tabLst/>
            </a:pPr>
            <a:r>
              <a:rPr sz="1300" b="1" kern="0" spc="-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车辆进场时间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37465" algn="l" rtl="0" eaLnBrk="0">
              <a:lnSpc>
                <a:spcPts val="2144"/>
              </a:lnSpc>
              <a:tabLst/>
            </a:pPr>
            <a:r>
              <a:rPr sz="1300" b="1" kern="0" spc="-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车辆出场时间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915160" algn="l" rtl="0" eaLnBrk="0">
              <a:lnSpc>
                <a:spcPts val="858"/>
              </a:lnSpc>
              <a:spcBef>
                <a:spcPts val="727"/>
              </a:spcBef>
              <a:tabLst/>
            </a:pP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车位探测器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400"/>
              </a:spcBef>
              <a:tabLst/>
            </a:pPr>
            <a:r>
              <a:rPr sz="1300" b="1" kern="0" spc="-2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数据(车辆进场时间)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113914" algn="l" rtl="0" eaLnBrk="0">
              <a:lnSpc>
                <a:spcPct val="80000"/>
              </a:lnSpc>
              <a:spcBef>
                <a:spcPts val="950"/>
              </a:spcBef>
              <a:tabLst/>
            </a:pPr>
            <a:r>
              <a:rPr sz="1300" b="1" kern="0" spc="-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车辆出场时间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120900" algn="l" rtl="0" eaLnBrk="0">
              <a:lnSpc>
                <a:spcPct val="89000"/>
              </a:lnSpc>
              <a:spcBef>
                <a:spcPts val="14"/>
              </a:spcBef>
              <a:tabLst/>
            </a:pPr>
            <a:r>
              <a:rPr sz="1300" b="1" kern="0" spc="-2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指令(计算停车费)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184099" y="987707"/>
            <a:ext cx="9011284" cy="1286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14680" algn="l" rtl="0" eaLnBrk="0">
              <a:lnSpc>
                <a:spcPct val="92000"/>
              </a:lnSpc>
              <a:tabLst/>
            </a:pPr>
            <a:r>
              <a:rPr sz="3000" b="1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模型解释，学习迁移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6000"/>
              </a:lnSpc>
              <a:spcBef>
                <a:spcPts val="1513"/>
              </a:spcBef>
              <a:tabLst/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【学习迁移】请结合计算机五大部件协同工作原理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分析车辆进出时间、停</a:t>
            </a:r>
            <a:endParaRPr sz="2200" dirty="0">
              <a:latin typeface="KaiTi"/>
              <a:ea typeface="KaiTi"/>
              <a:cs typeface="KaiTi"/>
            </a:endParaRPr>
          </a:p>
          <a:p>
            <a:pPr marL="60960" algn="l" rtl="0" eaLnBrk="0">
              <a:lnSpc>
                <a:spcPct val="97000"/>
              </a:lnSpc>
              <a:spcBef>
                <a:spcPts val="11"/>
              </a:spcBef>
              <a:tabLst/>
            </a:pPr>
            <a:r>
              <a:rPr sz="2200" b="1" kern="0" spc="-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车费的数据处理过程</a:t>
            </a:r>
            <a:r>
              <a:rPr sz="2200" b="1" kern="0" spc="-1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。</a:t>
            </a:r>
            <a:endParaRPr sz="2200" dirty="0">
              <a:latin typeface="KaiTi"/>
              <a:ea typeface="KaiTi"/>
              <a:cs typeface="KaiTi"/>
            </a:endParaRPr>
          </a:p>
        </p:txBody>
      </p:sp>
      <p:sp>
        <p:nvSpPr>
          <p:cNvPr id="160" name="rect 160"/>
          <p:cNvSpPr/>
          <p:nvPr/>
        </p:nvSpPr>
        <p:spPr>
          <a:xfrm>
            <a:off x="69860" y="0"/>
            <a:ext cx="12103119" cy="850872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" name="textbox 162"/>
          <p:cNvSpPr/>
          <p:nvPr/>
        </p:nvSpPr>
        <p:spPr>
          <a:xfrm>
            <a:off x="4899589" y="2825612"/>
            <a:ext cx="811530" cy="2383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21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运算器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640"/>
              </a:spcBef>
              <a:tabLst/>
            </a:pPr>
            <a:r>
              <a:rPr sz="2100" b="1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控制器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21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存储器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3356411" y="5880811"/>
            <a:ext cx="3821429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8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计算机五大基本部件协同工作原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理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70" name="textbox 170"/>
          <p:cNvSpPr/>
          <p:nvPr/>
        </p:nvSpPr>
        <p:spPr>
          <a:xfrm>
            <a:off x="779877" y="987707"/>
            <a:ext cx="8442325" cy="5003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3000" b="1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模型再现，知识升华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spcBef>
                <a:spcPts val="547"/>
              </a:spcBef>
              <a:tabLst/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→</a:t>
            </a:r>
            <a:r>
              <a:rPr sz="1800" kern="0" spc="2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数据、指令传输</a:t>
            </a:r>
            <a:endParaRPr sz="1800" dirty="0">
              <a:latin typeface="KaiTi"/>
              <a:ea typeface="KaiTi"/>
              <a:cs typeface="KaiTi"/>
            </a:endParaRPr>
          </a:p>
          <a:p>
            <a:pPr marL="3084195" algn="l" rtl="0" eaLnBrk="0">
              <a:lnSpc>
                <a:spcPct val="100000"/>
              </a:lnSpc>
              <a:spcBef>
                <a:spcPts val="851"/>
              </a:spcBef>
              <a:tabLst/>
            </a:pPr>
            <a:r>
              <a:rPr sz="21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运算器</a:t>
            </a:r>
            <a:r>
              <a:rPr sz="2100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控制信号传输</a:t>
            </a:r>
            <a:endParaRPr sz="18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60045" algn="l" rtl="0" eaLnBrk="0">
              <a:lnSpc>
                <a:spcPts val="2755"/>
              </a:lnSpc>
              <a:spcBef>
                <a:spcPts val="652"/>
              </a:spcBef>
              <a:tabLst/>
            </a:pPr>
            <a:r>
              <a:rPr sz="2100" b="1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输入设备</a:t>
            </a:r>
            <a:r>
              <a:rPr sz="2100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2100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控制器</a:t>
            </a:r>
            <a:r>
              <a:rPr sz="2100" kern="0" spc="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3300" b="1" kern="0" spc="-60" baseline="-3101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输出设备</a:t>
            </a:r>
            <a:endParaRPr sz="3300" baseline="-3101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84195" algn="l" rtl="0" eaLnBrk="0">
              <a:lnSpc>
                <a:spcPct val="98000"/>
              </a:lnSpc>
              <a:spcBef>
                <a:spcPts val="631"/>
              </a:spcBef>
              <a:tabLst/>
            </a:pPr>
            <a:r>
              <a:rPr sz="21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存储器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896745" algn="l" rtl="0" eaLnBrk="0">
              <a:lnSpc>
                <a:spcPct val="96000"/>
              </a:lnSpc>
              <a:tabLst/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计算机五大基本部件协同工作原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理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72" name="rect 172"/>
          <p:cNvSpPr/>
          <p:nvPr/>
        </p:nvSpPr>
        <p:spPr>
          <a:xfrm>
            <a:off x="63520" y="0"/>
            <a:ext cx="12103119" cy="850872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4" name="textbox 17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1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78" name="textbox 178"/>
          <p:cNvSpPr/>
          <p:nvPr/>
        </p:nvSpPr>
        <p:spPr>
          <a:xfrm>
            <a:off x="442609" y="987707"/>
            <a:ext cx="9107169" cy="3052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6234" algn="l" rtl="0" eaLnBrk="0">
              <a:lnSpc>
                <a:spcPct val="92000"/>
              </a:lnSpc>
              <a:tabLst/>
            </a:pPr>
            <a:r>
              <a:rPr sz="3000" b="1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课程小结，提升素养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31165" algn="l" rtl="0" eaLnBrk="0">
              <a:lnSpc>
                <a:spcPct val="89000"/>
              </a:lnSpc>
              <a:spcBef>
                <a:spcPts val="724"/>
              </a:spcBef>
              <a:tabLst/>
            </a:pPr>
            <a:r>
              <a:rPr sz="2400" b="1" kern="0" spc="2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无人酒店信息系统运行离不开计算机，</a:t>
            </a:r>
            <a:r>
              <a:rPr sz="2400" b="1" kern="0" spc="2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计算机对数据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4659"/>
              </a:lnSpc>
              <a:tabLst/>
            </a:pPr>
            <a:r>
              <a:rPr sz="2400" b="1" kern="0" spc="1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的输入、存储、处理、</a:t>
            </a:r>
            <a:r>
              <a:rPr sz="2400" b="1" kern="0" spc="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输出等功能，</a:t>
            </a:r>
            <a:r>
              <a:rPr sz="2400" kern="0" spc="4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14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实现机器自动化。</a:t>
            </a:r>
            <a:endParaRPr sz="2400" dirty="0">
              <a:latin typeface="STXingkai"/>
              <a:ea typeface="STXingkai"/>
              <a:cs typeface="STXingka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5254" algn="l" rtl="0" eaLnBrk="0">
              <a:lnSpc>
                <a:spcPct val="99000"/>
              </a:lnSpc>
              <a:spcBef>
                <a:spcPts val="723"/>
              </a:spcBef>
              <a:tabLst/>
            </a:pPr>
            <a:r>
              <a:rPr sz="2400" b="1" kern="0" spc="-30" dirty="0">
                <a:solidFill>
                  <a:srgbClr val="406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b="1" kern="0" spc="-280" dirty="0">
                <a:solidFill>
                  <a:srgbClr val="406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kern="0" spc="-30" dirty="0">
                <a:solidFill>
                  <a:srgbClr val="406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400" b="1" kern="0" spc="-30" dirty="0">
                <a:solidFill>
                  <a:srgbClr val="406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实践探究方式复习计算机的五大部件及功能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90169" algn="l" rtl="0" eaLnBrk="0">
              <a:lnSpc>
                <a:spcPct val="97000"/>
              </a:lnSpc>
              <a:spcBef>
                <a:spcPts val="1"/>
              </a:spcBef>
              <a:tabLst/>
            </a:pPr>
            <a:r>
              <a:rPr sz="2400" b="1" kern="0" spc="-50" dirty="0">
                <a:solidFill>
                  <a:srgbClr val="406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b="1" kern="0" spc="-340" dirty="0">
                <a:solidFill>
                  <a:srgbClr val="40602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kern="0" spc="-50" dirty="0">
                <a:solidFill>
                  <a:srgbClr val="406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400" b="1" kern="0" spc="-50" dirty="0">
                <a:solidFill>
                  <a:srgbClr val="406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结合点餐系统和停车系</a:t>
            </a:r>
            <a:r>
              <a:rPr sz="2400" b="1" kern="0" spc="-60" dirty="0">
                <a:solidFill>
                  <a:srgbClr val="406020">
                    <a:alpha val="100000"/>
                  </a:srgbClr>
                </a:solidFill>
                <a:latin typeface="KaiTi"/>
                <a:ea typeface="KaiTi"/>
                <a:cs typeface="KaiTi"/>
              </a:rPr>
              <a:t>统，进一步理解数据的计算机处理过程。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180" name="rect 180"/>
          <p:cNvSpPr/>
          <p:nvPr/>
        </p:nvSpPr>
        <p:spPr>
          <a:xfrm>
            <a:off x="50840" y="6377"/>
            <a:ext cx="12122139" cy="838185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2" name="textbox 18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86" name="textbox 186"/>
          <p:cNvSpPr/>
          <p:nvPr/>
        </p:nvSpPr>
        <p:spPr>
          <a:xfrm>
            <a:off x="699733" y="951631"/>
            <a:ext cx="7740015" cy="23869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0805" algn="l" rtl="0" eaLnBrk="0">
              <a:lnSpc>
                <a:spcPct val="98000"/>
              </a:lnSpc>
              <a:tabLst/>
            </a:pPr>
            <a:r>
              <a:rPr sz="2200" b="1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巩固练习，探究提高</a:t>
            </a:r>
            <a:endParaRPr sz="2200" dirty="0">
              <a:latin typeface="SimHei"/>
              <a:ea typeface="SimHei"/>
              <a:cs typeface="SimHei"/>
            </a:endParaRPr>
          </a:p>
          <a:p>
            <a:pPr marL="168275" algn="l" rtl="0" eaLnBrk="0">
              <a:lnSpc>
                <a:spcPts val="2805"/>
              </a:lnSpc>
              <a:spcBef>
                <a:spcPts val="1685"/>
              </a:spcBef>
              <a:tabLst/>
            </a:pPr>
            <a:r>
              <a:rPr sz="2200" b="1" kern="0" spc="-1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【作业】</a:t>
            </a:r>
            <a:endParaRPr sz="2200" dirty="0">
              <a:latin typeface="KaiTi"/>
              <a:ea typeface="KaiTi"/>
              <a:cs typeface="KaiTi"/>
            </a:endParaRPr>
          </a:p>
          <a:p>
            <a:pPr marL="24129" algn="l" rtl="0" eaLnBrk="0">
              <a:lnSpc>
                <a:spcPct val="108000"/>
              </a:lnSpc>
              <a:spcBef>
                <a:spcPts val="589"/>
              </a:spcBef>
              <a:tabLst/>
            </a:pP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1、</a:t>
            </a:r>
            <a:r>
              <a:rPr sz="2000" kern="0" spc="-5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选取身边的一个信息系统，例如学校的图书馆信息系统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，结合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本节课所学知识，描述该系统中数据的处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理过程。</a:t>
            </a:r>
            <a:endParaRPr sz="20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ct val="107000"/>
              </a:lnSpc>
              <a:spcBef>
                <a:spcPts val="2"/>
              </a:spcBef>
              <a:tabLst/>
            </a:pP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000" kern="0" spc="-2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请为该信息系统中各种终端的使用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和优化提出你的建议，尝试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设计一款无人图书馆信息系统，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解决目前遇到的问题。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88" name="rect 188"/>
          <p:cNvSpPr/>
          <p:nvPr/>
        </p:nvSpPr>
        <p:spPr>
          <a:xfrm>
            <a:off x="4450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" name="group 4"/>
          <p:cNvGrpSpPr/>
          <p:nvPr/>
        </p:nvGrpSpPr>
        <p:grpSpPr>
          <a:xfrm rot="21600000">
            <a:off x="2882920" y="3327433"/>
            <a:ext cx="3054339" cy="2616189"/>
            <a:chOff x="0" y="0"/>
            <a:chExt cx="3054339" cy="2616189"/>
          </a:xfrm>
        </p:grpSpPr>
        <p:pic>
          <p:nvPicPr>
            <p:cNvPr id="190" name="picture 19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054339" cy="2616189"/>
            </a:xfrm>
            <a:prstGeom prst="rect">
              <a:avLst/>
            </a:prstGeom>
          </p:spPr>
        </p:pic>
        <p:sp>
          <p:nvSpPr>
            <p:cNvPr id="192" name="textbox 192"/>
            <p:cNvSpPr/>
            <p:nvPr/>
          </p:nvSpPr>
          <p:spPr>
            <a:xfrm>
              <a:off x="-12700" y="-12700"/>
              <a:ext cx="3079750" cy="26485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63014" algn="l" rtl="0" eaLnBrk="0">
                <a:lnSpc>
                  <a:spcPts val="624"/>
                </a:lnSpc>
                <a:spcBef>
                  <a:spcPts val="6"/>
                </a:spcBef>
                <a:tabLst/>
              </a:pPr>
              <a:r>
                <a:rPr sz="500" kern="0" spc="40" dirty="0">
                  <a:solidFill>
                    <a:srgbClr val="FF0000">
                      <a:alpha val="100000"/>
                    </a:srgbClr>
                  </a:solidFill>
                  <a:latin typeface="STXingkai"/>
                  <a:ea typeface="STXingkai"/>
                  <a:cs typeface="STXingkai"/>
                </a:rPr>
                <a:t>智</a:t>
              </a:r>
              <a:r>
                <a:rPr sz="500" kern="0" spc="30" dirty="0">
                  <a:solidFill>
                    <a:srgbClr val="FF0000">
                      <a:alpha val="100000"/>
                    </a:srgbClr>
                  </a:solidFill>
                  <a:latin typeface="STXingkai"/>
                  <a:ea typeface="STXingkai"/>
                  <a:cs typeface="STXingkai"/>
                </a:rPr>
                <a:t> </a:t>
              </a:r>
              <a:r>
                <a:rPr sz="500" b="1" kern="0" spc="40" dirty="0">
                  <a:solidFill>
                    <a:srgbClr val="FF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慧图</a:t>
              </a:r>
              <a:r>
                <a:rPr sz="500" kern="0" spc="4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书</a:t>
              </a:r>
              <a:r>
                <a:rPr sz="500" b="1" kern="0" spc="40" dirty="0">
                  <a:solidFill>
                    <a:srgbClr val="80403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馆</a:t>
              </a:r>
              <a:endParaRPr sz="5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194" name="textbox 19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2026-06-07T22:17:50Z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2026-06-07T22:18:00</vt:filetime>
  </property>
  <property fmtid="{D5CDD505-2E9C-101B-9397-08002B2CF9AE}" pid="4" name="UsrData">
    <vt:lpwstr>6a257d8b307a9c001fc1fedewl</vt:lpwstr>
  </property>
</Properties>
</file>