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9" Type="http://schemas.openxmlformats.org/officeDocument/2006/relationships/viewProps" Target="viewProps.xml"/><Relationship Id="rId18" Type="http://schemas.openxmlformats.org/officeDocument/2006/relationships/tableStyles" Target="tableStyles.xml"/><Relationship Id="rId17" Type="http://schemas.openxmlformats.org/officeDocument/2006/relationships/presProps" Target="presProps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25055" y="941630"/>
            <a:ext cx="7600315" cy="2039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47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利用大数据获取信息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5497986" y="3826620"/>
            <a:ext cx="4999354" cy="215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科：信息技术</a:t>
            </a:r>
            <a:endParaRPr sz="29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97000"/>
              </a:lnSpc>
              <a:spcBef>
                <a:spcPts val="575"/>
              </a:spcBef>
              <a:tabLst/>
            </a:pPr>
            <a:r>
              <a:rPr sz="2900" b="1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校：九江市田家炳</a:t>
            </a:r>
            <a:r>
              <a:rPr sz="2900" b="1" kern="0" spc="-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实验中学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5434" algn="l" rtl="0" eaLnBrk="0">
              <a:lnSpc>
                <a:spcPct val="96000"/>
              </a:lnSpc>
              <a:spcBef>
                <a:spcPts val="6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22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484381" y="3834350"/>
            <a:ext cx="2593339" cy="929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800" b="1" kern="0" spc="-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</a:t>
            </a:r>
            <a:r>
              <a:rPr sz="2800" kern="0" spc="2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800" b="1" kern="0" spc="-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级：高一</a:t>
            </a:r>
            <a:endParaRPr sz="28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8000"/>
              </a:lnSpc>
              <a:spcBef>
                <a:spcPts val="614"/>
              </a:spcBef>
              <a:tabLst/>
            </a:pPr>
            <a:r>
              <a:rPr sz="2700" b="1" kern="0" spc="1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主讲人：陈秋华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60" y="5029177"/>
            <a:ext cx="1517538" cy="103507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79139" y="5143500"/>
            <a:ext cx="1212860" cy="1092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2051039" y="1073043"/>
            <a:ext cx="4773929" cy="505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66750" algn="l" rtl="0" eaLnBrk="0">
              <a:lnSpc>
                <a:spcPct val="95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利用大数据获取信息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702"/>
              </a:spcBef>
              <a:tabLst/>
            </a:pP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300" kern="0" spc="1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开场导入：观看视频初步体会</a:t>
            </a:r>
            <a:endParaRPr sz="23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727"/>
              </a:spcBef>
              <a:tabLst/>
            </a:pP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   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概念奠基：数据与信息的关系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722"/>
              </a:spcBef>
              <a:tabLst/>
            </a:pP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   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核心探索：利用大数据获取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99000"/>
              </a:lnSpc>
              <a:spcBef>
                <a:spcPts val="730"/>
              </a:spcBef>
              <a:tabLst/>
            </a:pP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    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认知升华：从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信息到知识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ct val="99000"/>
              </a:lnSpc>
              <a:spcBef>
                <a:spcPts val="730"/>
              </a:spcBef>
              <a:tabLst/>
            </a:pP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    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责任担当：大数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据时代的使命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00964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6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总结课堂：知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识回顾与作业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63520" y="0"/>
            <a:ext cx="12110084" cy="850900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543415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5939" y="1485923"/>
            <a:ext cx="7277161" cy="4514826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457179" y="1086036"/>
            <a:ext cx="4417059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4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400" kern="0" spc="-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开场导入：观看视频初步体会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398030" y="1854936"/>
            <a:ext cx="7630794" cy="4115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核心定义(教材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P9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原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文)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68604" indent="10160" algn="l" rtl="0" eaLnBrk="0">
              <a:lnSpc>
                <a:spcPct val="101000"/>
              </a:lnSpc>
              <a:spcBef>
                <a:spcPts val="580"/>
              </a:spcBef>
              <a:tabLst/>
            </a:pPr>
            <a:r>
              <a:rPr sz="2400" b="1" kern="0" spc="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数据：</a:t>
            </a:r>
            <a:r>
              <a:rPr sz="2400" b="1" kern="0" spc="0" dirty="0">
                <a:solidFill>
                  <a:srgbClr val="D01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对客观事物属性的描述，</a:t>
            </a:r>
            <a:r>
              <a:rPr sz="2400" kern="0" spc="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是记录下</a:t>
            </a:r>
            <a:r>
              <a:rPr sz="2400" kern="0" spc="-1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来的某种可以</a:t>
            </a:r>
            <a:r>
              <a:rPr sz="2400" kern="0" spc="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识别的符号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7305" algn="l" rtl="0" eaLnBrk="0">
              <a:lnSpc>
                <a:spcPct val="97000"/>
              </a:lnSpc>
              <a:spcBef>
                <a:spcPts val="572"/>
              </a:spcBef>
              <a:tabLst/>
            </a:pPr>
            <a:r>
              <a:rPr sz="2400" kern="0" spc="10" dirty="0">
                <a:solidFill>
                  <a:srgbClr val="30A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9</a:t>
            </a:r>
            <a:r>
              <a:rPr sz="2400" kern="0" spc="-500" dirty="0">
                <a:solidFill>
                  <a:srgbClr val="30A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10" dirty="0">
                <a:solidFill>
                  <a:srgbClr val="D01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信息：数据中所包含的意义，</a:t>
            </a:r>
            <a:r>
              <a:rPr sz="2400" kern="0" spc="1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是对数据进行加工的结果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4470" indent="-31115" algn="l" rtl="0" eaLnBrk="0">
              <a:lnSpc>
                <a:spcPct val="96000"/>
              </a:lnSpc>
              <a:spcBef>
                <a:spcPts val="751"/>
              </a:spcBef>
              <a:tabLst/>
            </a:pPr>
            <a:r>
              <a:rPr sz="2500" kern="0" spc="-10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例：2017年7月，我国多地降暴雨</a:t>
            </a:r>
            <a:r>
              <a:rPr sz="2500" kern="0" spc="-11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，各地气象台发布了</a:t>
            </a:r>
            <a:r>
              <a:rPr sz="2500" kern="0" spc="-1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500" kern="0" spc="-11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降雨量的数据，电视台播放了暴雨来袭的视频，广播</a:t>
            </a:r>
            <a:r>
              <a:rPr sz="2500" kern="0" spc="2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500" kern="0" spc="-17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台播放了语音报道，报纸做了文字</a:t>
            </a:r>
            <a:r>
              <a:rPr sz="2500" kern="0" spc="-18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和图片报道……</a:t>
            </a:r>
            <a:endParaRPr sz="2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56870" indent="-40640" algn="l" rtl="0" eaLnBrk="0">
              <a:lnSpc>
                <a:spcPct val="99000"/>
              </a:lnSpc>
              <a:spcBef>
                <a:spcPts val="6"/>
              </a:spcBef>
              <a:tabLst/>
            </a:pPr>
            <a:r>
              <a:rPr sz="2500" i="1" kern="0" spc="-2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这些文字、图像、声音和视频等都是数据，它们</a:t>
            </a:r>
            <a:r>
              <a:rPr sz="2500" i="1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承载着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300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</a:t>
            </a:r>
            <a:r>
              <a:rPr sz="2400" i="1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多地降暴雨”的信息。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2" name="rect 32"/>
          <p:cNvSpPr/>
          <p:nvPr/>
        </p:nvSpPr>
        <p:spPr>
          <a:xfrm>
            <a:off x="63520" y="0"/>
            <a:ext cx="1210311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90560" y="927132"/>
            <a:ext cx="5067239" cy="717484"/>
            <a:chOff x="0" y="0"/>
            <a:chExt cx="5067239" cy="717484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067239" cy="717484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-12700" y="-12700"/>
              <a:ext cx="5092700" cy="7785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5115" algn="l" rtl="0" eaLnBrk="0">
                <a:lnSpc>
                  <a:spcPct val="98000"/>
                </a:lnSpc>
                <a:tabLst/>
              </a:pPr>
              <a:r>
                <a:rPr sz="2400" kern="0" spc="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    </a:t>
              </a:r>
              <a:r>
                <a:rPr sz="2400" kern="0" spc="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概念奠基：数据与信息的关系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38" name="textbox 3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rect 42"/>
          <p:cNvSpPr/>
          <p:nvPr/>
        </p:nvSpPr>
        <p:spPr>
          <a:xfrm>
            <a:off x="63520" y="0"/>
            <a:ext cx="1210311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textbox 44"/>
          <p:cNvSpPr/>
          <p:nvPr/>
        </p:nvSpPr>
        <p:spPr>
          <a:xfrm>
            <a:off x="596899" y="4175309"/>
            <a:ext cx="5555615" cy="1685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9000"/>
              </a:lnSpc>
              <a:tabLst/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三个关键区别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indent="342900" algn="l" rtl="0" eaLnBrk="0">
              <a:lnSpc>
                <a:spcPct val="110000"/>
              </a:lnSpc>
              <a:spcBef>
                <a:spcPts val="717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数据是载体，信息必须依附于载体存在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50" dirty="0">
                <a:solidFill>
                  <a:srgbClr val="7020D0">
                    <a:alpha val="100000"/>
                  </a:srgbClr>
                </a:solidFill>
                <a:latin typeface="KaiTi"/>
                <a:ea typeface="KaiTi"/>
                <a:cs typeface="KaiTi"/>
              </a:rPr>
              <a:t>①</a:t>
            </a:r>
            <a:r>
              <a:rPr sz="2400" kern="0" spc="-50" dirty="0">
                <a:solidFill>
                  <a:srgbClr val="7020D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数据是孤立的，信息是建立联系的结果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10" dirty="0">
                <a:solidFill>
                  <a:srgbClr val="702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 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数据具有客观性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，信息具有主观性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3441659" y="1987778"/>
            <a:ext cx="4307840" cy="1553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ct val="95000"/>
              </a:lnSpc>
              <a:tabLst/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黑板上画一个圆圈，有人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说是数字0,</a:t>
            </a:r>
            <a:endParaRPr sz="2000" dirty="0">
              <a:latin typeface="KaiTi"/>
              <a:ea typeface="KaiTi"/>
              <a:cs typeface="KaiTi"/>
            </a:endParaRPr>
          </a:p>
          <a:p>
            <a:pPr marL="31750" algn="l" rtl="0" eaLnBrk="0">
              <a:lnSpc>
                <a:spcPct val="93000"/>
              </a:lnSpc>
              <a:spcBef>
                <a:spcPts val="65"/>
              </a:spcBef>
              <a:tabLst/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有人说是英文字母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还有人说是月亮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5000"/>
              </a:lnSpc>
              <a:spcBef>
                <a:spcPts val="224"/>
              </a:spcBef>
              <a:tabLst/>
            </a:pP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或饼干。圆圈本身是客观存在的数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据，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46050" algn="l" rtl="0" eaLnBrk="0">
              <a:lnSpc>
                <a:spcPct val="96000"/>
              </a:lnSpc>
              <a:spcBef>
                <a:spcPts val="160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而每个人的不同理解就是主观解读出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670050" algn="l" rtl="0" eaLnBrk="0">
              <a:lnSpc>
                <a:spcPts val="2398"/>
              </a:lnSpc>
              <a:spcBef>
                <a:spcPts val="88"/>
              </a:spcBef>
              <a:tabLst/>
            </a:pPr>
            <a:r>
              <a:rPr sz="1900" kern="0" spc="-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的信息。</a:t>
            </a:r>
            <a:endParaRPr sz="1900" dirty="0">
              <a:latin typeface="KaiTi"/>
              <a:ea typeface="KaiTi"/>
              <a:cs typeface="KaiT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90560" y="933442"/>
            <a:ext cx="5067239" cy="717552"/>
            <a:chOff x="0" y="0"/>
            <a:chExt cx="5067239" cy="717552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067239" cy="717552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-12700" y="-12700"/>
              <a:ext cx="5092700" cy="7785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7815" algn="l" rtl="0" eaLnBrk="0">
                <a:lnSpc>
                  <a:spcPct val="98000"/>
                </a:lnSpc>
                <a:spcBef>
                  <a:spcPts val="7"/>
                </a:spcBef>
                <a:tabLst/>
              </a:pPr>
              <a:r>
                <a:rPr sz="2400" kern="0" spc="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    </a:t>
              </a:r>
              <a:r>
                <a:rPr sz="2400" kern="0" spc="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概念奠基：数据</a:t>
              </a: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与信息的关系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3260" y="1847819"/>
            <a:ext cx="965240" cy="2146348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90560" y="1651267"/>
            <a:ext cx="5797550" cy="437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960" algn="l" rtl="0" eaLnBrk="0">
              <a:lnSpc>
                <a:spcPts val="2922"/>
              </a:lnSpc>
              <a:tabLst/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核心定义(教材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P7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核心概念框)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438150" algn="l" rtl="0" eaLnBrk="0">
              <a:lnSpc>
                <a:spcPct val="100000"/>
              </a:lnSpc>
              <a:spcBef>
                <a:spcPts val="2017"/>
              </a:spcBef>
              <a:tabLst/>
            </a:pPr>
            <a:r>
              <a:rPr sz="3100" kern="0" spc="7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大数据是指无法在可承受</a:t>
            </a:r>
            <a:endParaRPr sz="3100" dirty="0">
              <a:latin typeface="KaiTi"/>
              <a:ea typeface="KaiTi"/>
              <a:cs typeface="KaiTi"/>
            </a:endParaRPr>
          </a:p>
          <a:p>
            <a:pPr marL="412115" indent="18415" algn="l" rtl="0" eaLnBrk="0">
              <a:lnSpc>
                <a:spcPct val="153000"/>
              </a:lnSpc>
              <a:spcBef>
                <a:spcPts val="206"/>
              </a:spcBef>
              <a:tabLst/>
            </a:pPr>
            <a:r>
              <a:rPr sz="3100" kern="0" spc="8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的时间范围内用常规软</a:t>
            </a:r>
            <a:r>
              <a:rPr sz="3100" kern="0" spc="7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件</a:t>
            </a:r>
            <a:r>
              <a:rPr sz="3100" kern="0" spc="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3100" kern="0" spc="2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工具进行捕捉、</a:t>
            </a:r>
            <a:r>
              <a:rPr sz="3100" kern="0" spc="-740" dirty="0">
                <a:solidFill>
                  <a:srgbClr val="C02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3100" kern="0" spc="2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管理和处</a:t>
            </a:r>
            <a:r>
              <a:rPr sz="3100" kern="0" spc="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3100" kern="0" spc="3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理的数据集合。</a:t>
            </a:r>
            <a:endParaRPr sz="31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97000"/>
              </a:lnSpc>
              <a:spcBef>
                <a:spcPts val="1826"/>
              </a:spcBef>
              <a:tabLst/>
            </a:pPr>
            <a:r>
              <a:rPr sz="2600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本质区别：与传统数据处理的核心差异在于</a:t>
            </a:r>
            <a:endParaRPr sz="2600" dirty="0">
              <a:latin typeface="KaiTi"/>
              <a:ea typeface="KaiTi"/>
              <a:cs typeface="KaiTi"/>
            </a:endParaRPr>
          </a:p>
          <a:p>
            <a:pPr marL="1955164" algn="l" rtl="0" eaLnBrk="0">
              <a:lnSpc>
                <a:spcPct val="98000"/>
              </a:lnSpc>
              <a:spcBef>
                <a:spcPts val="372"/>
              </a:spcBef>
              <a:tabLst/>
            </a:pPr>
            <a:r>
              <a:rPr sz="2600" kern="0" spc="10" dirty="0">
                <a:solidFill>
                  <a:srgbClr val="D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“无法用常规工具处理”</a:t>
            </a:r>
            <a:endParaRPr sz="2600" dirty="0">
              <a:latin typeface="KaiTi"/>
              <a:ea typeface="KaiTi"/>
              <a:cs typeface="KaiTi"/>
            </a:endParaRPr>
          </a:p>
        </p:txBody>
      </p:sp>
      <p:sp>
        <p:nvSpPr>
          <p:cNvPr id="60" name="rect 60"/>
          <p:cNvSpPr/>
          <p:nvPr/>
        </p:nvSpPr>
        <p:spPr>
          <a:xfrm>
            <a:off x="69860" y="0"/>
            <a:ext cx="12096780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247619" y="863627"/>
            <a:ext cx="5073700" cy="704796"/>
            <a:chOff x="0" y="0"/>
            <a:chExt cx="5073700" cy="704796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073700" cy="704796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5099684" cy="7664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23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2100" algn="l" rtl="0" eaLnBrk="0">
                <a:lnSpc>
                  <a:spcPct val="99000"/>
                </a:lnSpc>
                <a:tabLst/>
              </a:pPr>
              <a:r>
                <a:rPr sz="2400" kern="0" spc="10" dirty="0">
                  <a:solidFill>
                    <a:srgbClr val="F0A09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3</a:t>
              </a:r>
              <a:r>
                <a:rPr sz="2400" kern="0" spc="10" dirty="0">
                  <a:solidFill>
                    <a:srgbClr val="F0A09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</a:t>
              </a:r>
              <a:r>
                <a:rPr sz="2400" kern="0" spc="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核心探索：利用大数</a:t>
              </a: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据获取信息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66" name="textbox 6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239561" y="6305519"/>
            <a:ext cx="927079" cy="254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469859" y="1023155"/>
            <a:ext cx="7782559" cy="5182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2130" algn="l" rtl="0" eaLnBrk="0">
              <a:lnSpc>
                <a:spcPct val="95000"/>
              </a:lnSpc>
              <a:tabLst/>
            </a:pPr>
            <a:r>
              <a:rPr sz="30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任务一：深度解密鸟类迁徙大数据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2000" kern="0" spc="3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教材</a:t>
            </a:r>
            <a:r>
              <a:rPr sz="2000" kern="0" spc="30" dirty="0">
                <a:solidFill>
                  <a:srgbClr val="107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P7-8:</a:t>
            </a:r>
            <a:r>
              <a:rPr sz="2000" kern="0" spc="450" dirty="0">
                <a:solidFill>
                  <a:srgbClr val="107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3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图中显</a:t>
            </a:r>
            <a:r>
              <a:rPr sz="2000" kern="0" spc="2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示的是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2000" kern="0" spc="16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2010年9月10日晚上某</a:t>
            </a:r>
            <a:endParaRPr sz="2000" dirty="0">
              <a:latin typeface="KaiTi"/>
              <a:ea typeface="KaiTi"/>
              <a:cs typeface="KaiTi"/>
            </a:endParaRPr>
          </a:p>
          <a:p>
            <a:pPr marL="50800" algn="l" rtl="0" eaLnBrk="0">
              <a:lnSpc>
                <a:spcPts val="2653"/>
              </a:lnSpc>
              <a:tabLst/>
            </a:pPr>
            <a:r>
              <a:rPr sz="2000" kern="0" spc="3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国东北部数百万只鸟</a:t>
            </a:r>
            <a:r>
              <a:rPr sz="2000" kern="0" spc="2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47"/>
              </a:spcBef>
              <a:tabLst/>
            </a:pPr>
            <a:r>
              <a:rPr sz="2000" kern="0" spc="90" dirty="0">
                <a:solidFill>
                  <a:srgbClr val="108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迁徙轨迹(圆圈的大小表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86000"/>
              </a:lnSpc>
              <a:spcBef>
                <a:spcPts val="20"/>
              </a:spcBef>
              <a:tabLst/>
            </a:pPr>
            <a:r>
              <a:rPr sz="2000" kern="0" spc="-1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示鸟的密度，</a:t>
            </a:r>
            <a:r>
              <a:rPr sz="2000" kern="0" spc="-10" dirty="0">
                <a:solidFill>
                  <a:srgbClr val="1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颜色表示</a:t>
            </a:r>
            <a:r>
              <a:rPr sz="2000" kern="0" spc="-20" dirty="0">
                <a:solidFill>
                  <a:srgbClr val="1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雷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449"/>
              </a:lnSpc>
              <a:tabLst/>
            </a:pPr>
            <a:r>
              <a:rPr sz="2000" kern="0" spc="1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达的回波强度，</a:t>
            </a:r>
            <a:r>
              <a:rPr sz="2000" kern="0" spc="10" dirty="0">
                <a:solidFill>
                  <a:srgbClr val="1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箭头所指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24"/>
              </a:spcBef>
              <a:tabLst/>
            </a:pPr>
            <a:r>
              <a:rPr sz="2000" kern="0" spc="1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的是鸟儿的迁徙方向</a:t>
            </a:r>
            <a:r>
              <a:rPr sz="2000" kern="0" spc="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</a:t>
            </a:r>
            <a:r>
              <a:rPr sz="2000" kern="0" spc="0" dirty="0">
                <a:solidFill>
                  <a:srgbClr val="1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箭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472"/>
              </a:lnSpc>
              <a:tabLst/>
            </a:pPr>
            <a:r>
              <a:rPr sz="2000" kern="0" spc="30" dirty="0">
                <a:solidFill>
                  <a:srgbClr val="1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头的长度表示鸟的飞行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415"/>
              </a:lnSpc>
              <a:spcBef>
                <a:spcPts val="278"/>
              </a:spcBef>
              <a:tabLst/>
            </a:pPr>
            <a:r>
              <a:rPr sz="2000" kern="0" spc="3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速度)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549"/>
              </a:spcBef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分析教材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P7-8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的案例，思考三个层次的问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题：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38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第一层：气象雷达网络每天产生哪些原始数据?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126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第二层：通过超级计算机处理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，得到了什么有价值的信息?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164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第三层：这些信息对科学研究有什么重要价值?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431820" y="1023155"/>
            <a:ext cx="7872094" cy="526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0230" algn="l" rtl="0" eaLnBrk="0">
              <a:lnSpc>
                <a:spcPct val="95000"/>
              </a:lnSpc>
              <a:tabLst/>
            </a:pPr>
            <a:r>
              <a:rPr sz="30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任务一：深度解密鸟类迁徙大数据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ts val="2931"/>
              </a:lnSpc>
              <a:spcBef>
                <a:spcPts val="730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数据→信息→价值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42265" algn="l" rtl="0" eaLnBrk="0">
              <a:lnSpc>
                <a:spcPct val="99000"/>
              </a:lnSpc>
              <a:spcBef>
                <a:spcPts val="1048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数据层面：气象雷达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网络原始数据</a:t>
            </a:r>
            <a:endParaRPr sz="2400" dirty="0">
              <a:latin typeface="KaiTi"/>
              <a:ea typeface="KaiTi"/>
              <a:cs typeface="KaiTi"/>
            </a:endParaRPr>
          </a:p>
          <a:p>
            <a:pPr marL="56514" algn="l" rtl="0" eaLnBrk="0">
              <a:lnSpc>
                <a:spcPct val="99000"/>
              </a:lnSpc>
              <a:spcBef>
                <a:spcPts val="330"/>
              </a:spcBef>
              <a:tabLst/>
            </a:pPr>
            <a:r>
              <a:rPr sz="2400" kern="0" spc="30" dirty="0">
                <a:solidFill>
                  <a:srgbClr val="20C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区</a:t>
            </a:r>
            <a:r>
              <a:rPr sz="2400" kern="0" spc="-570" dirty="0">
                <a:solidFill>
                  <a:srgbClr val="20C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信息层面：超级计算机处理结果(路径、速度、密度等)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56514" algn="l" rtl="0" eaLnBrk="0">
              <a:lnSpc>
                <a:spcPct val="99000"/>
              </a:lnSpc>
              <a:spcBef>
                <a:spcPts val="799"/>
              </a:spcBef>
              <a:tabLst/>
            </a:pPr>
            <a:r>
              <a:rPr sz="2400" kern="0" spc="-70" dirty="0">
                <a:solidFill>
                  <a:srgbClr val="50A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①</a:t>
            </a:r>
            <a:r>
              <a:rPr sz="2400" kern="0" spc="-70" dirty="0">
                <a:solidFill>
                  <a:srgbClr val="50A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价值层面：为生态保护提供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科学依据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8300" algn="l" rtl="0" eaLnBrk="0">
              <a:lnSpc>
                <a:spcPct val="99000"/>
              </a:lnSpc>
              <a:spcBef>
                <a:spcPts val="750"/>
              </a:spcBef>
              <a:tabLst/>
            </a:pPr>
            <a:r>
              <a:rPr sz="25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大数据</a:t>
            </a:r>
            <a:r>
              <a:rPr sz="2500" kern="0" spc="-80" dirty="0">
                <a:solidFill>
                  <a:srgbClr val="E01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4V</a:t>
            </a:r>
            <a:r>
              <a:rPr sz="25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特征</a:t>
            </a:r>
            <a:endParaRPr sz="2500" dirty="0">
              <a:latin typeface="KaiTi"/>
              <a:ea typeface="KaiTi"/>
              <a:cs typeface="KaiTi"/>
            </a:endParaRPr>
          </a:p>
          <a:p>
            <a:pPr marL="278765" algn="l" rtl="0" eaLnBrk="0">
              <a:lnSpc>
                <a:spcPct val="97000"/>
              </a:lnSpc>
              <a:spcBef>
                <a:spcPts val="261"/>
              </a:spcBef>
              <a:tabLst/>
            </a:pPr>
            <a:r>
              <a:rPr sz="2400" kern="0" spc="0" dirty="0">
                <a:solidFill>
                  <a:srgbClr val="E01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Volume</a:t>
            </a:r>
            <a:r>
              <a:rPr sz="2400" kern="0" spc="620" dirty="0">
                <a:solidFill>
                  <a:srgbClr val="E01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150" dirty="0">
                <a:solidFill>
                  <a:srgbClr val="D01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(数据量)</a:t>
            </a:r>
            <a:r>
              <a:rPr sz="2400" kern="0" spc="-520" dirty="0">
                <a:solidFill>
                  <a:srgbClr val="D01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:海量数据规模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4765" algn="l" rtl="0" eaLnBrk="0">
              <a:lnSpc>
                <a:spcPct val="91000"/>
              </a:lnSpc>
              <a:spcBef>
                <a:spcPts val="555"/>
              </a:spcBef>
              <a:tabLst/>
            </a:pPr>
            <a:r>
              <a:rPr sz="2400" kern="0" spc="20" dirty="0">
                <a:solidFill>
                  <a:srgbClr val="905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</a:t>
            </a:r>
            <a:r>
              <a:rPr sz="2400" kern="0" spc="-250" dirty="0">
                <a:solidFill>
                  <a:srgbClr val="905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0" dirty="0">
                <a:solidFill>
                  <a:srgbClr val="F00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Velocity</a:t>
            </a:r>
            <a:r>
              <a:rPr sz="2400" kern="0" spc="290" dirty="0">
                <a:solidFill>
                  <a:srgbClr val="F00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20" dirty="0">
                <a:solidFill>
                  <a:srgbClr val="E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(处理速度)</a:t>
            </a:r>
            <a:r>
              <a:rPr sz="2400" kern="0" spc="-490" dirty="0">
                <a:solidFill>
                  <a:srgbClr val="E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:快速数据流转与处理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649"/>
              </a:lnSpc>
              <a:tabLst/>
            </a:pPr>
            <a:r>
              <a:rPr sz="2400" kern="0" spc="160" dirty="0">
                <a:solidFill>
                  <a:srgbClr val="905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2400" kern="0" spc="-30" dirty="0">
                <a:solidFill>
                  <a:srgbClr val="905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F00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Variety</a:t>
            </a:r>
            <a:r>
              <a:rPr sz="2400" kern="0" spc="370" dirty="0">
                <a:solidFill>
                  <a:srgbClr val="F00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kern="0" spc="160" dirty="0">
                <a:solidFill>
                  <a:srgbClr val="E01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(多样性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):多类型数据格式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ct val="99000"/>
              </a:lnSpc>
              <a:tabLst/>
            </a:pPr>
            <a:r>
              <a:rPr sz="2400" kern="0" spc="0" dirty="0">
                <a:solidFill>
                  <a:srgbClr val="E01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  </a:t>
            </a:r>
            <a:r>
              <a:rPr sz="2400" b="1" kern="0" spc="90" dirty="0">
                <a:solidFill>
                  <a:srgbClr val="D01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(价值性)</a:t>
            </a:r>
            <a:r>
              <a:rPr sz="2400" kern="0" spc="-430" dirty="0">
                <a:solidFill>
                  <a:srgbClr val="D01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:低价值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密度中提取高价值信息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82" name="rect 82"/>
          <p:cNvSpPr/>
          <p:nvPr/>
        </p:nvSpPr>
        <p:spPr>
          <a:xfrm>
            <a:off x="38160" y="6377"/>
            <a:ext cx="1213481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520699" y="4626715"/>
            <a:ext cx="7395209" cy="1478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100000"/>
              </a:lnSpc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请各小组深入分析教材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P8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的夜间灯光数据：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54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对比1992年与2020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年的灯光分布，发现什么变化规律?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37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这些变化反映了哪些社会经济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信息?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107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体现了大数据的哪些特征?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90" name="rect 90"/>
          <p:cNvSpPr/>
          <p:nvPr/>
        </p:nvSpPr>
        <p:spPr>
          <a:xfrm>
            <a:off x="63520" y="0"/>
            <a:ext cx="1208397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5939" y="1905015"/>
            <a:ext cx="2724180" cy="2133592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63959" y="1885950"/>
            <a:ext cx="2628960" cy="2165344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989688" y="1023155"/>
            <a:ext cx="6160770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任务二：全方位洞察社会发展大数据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5156219" y="4148421"/>
            <a:ext cx="499744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1784400" y="4174154"/>
            <a:ext cx="468630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48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1992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1600179" y="2105317"/>
            <a:ext cx="5749925" cy="3614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2913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夜间灯光动态变化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29565" indent="-316865" algn="l" rtl="0" eaLnBrk="0">
              <a:lnSpc>
                <a:spcPct val="101000"/>
              </a:lnSpc>
              <a:spcBef>
                <a:spcPts val="790"/>
              </a:spcBef>
              <a:tabLst/>
            </a:pPr>
            <a:r>
              <a:rPr sz="2400" kern="0" spc="-60" dirty="0">
                <a:solidFill>
                  <a:srgbClr val="30C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区</a:t>
            </a:r>
            <a:r>
              <a:rPr sz="2400" kern="0" spc="-430" dirty="0">
                <a:solidFill>
                  <a:srgbClr val="30C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变化规律：灯光从东部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沿海向内陆延伸，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形成长三角、珠三角等城市群。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29565" algn="l" rtl="0" eaLnBrk="0">
              <a:lnSpc>
                <a:spcPct val="93000"/>
              </a:lnSpc>
              <a:spcBef>
                <a:spcPts val="926"/>
              </a:spcBef>
              <a:tabLst/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社会经济信息：反映我国城镇化进程、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99415" algn="l" rtl="0" eaLnBrk="0">
              <a:lnSpc>
                <a:spcPct val="88000"/>
              </a:lnSpc>
              <a:spcBef>
                <a:spcPts val="19"/>
              </a:spcBef>
              <a:tabLst/>
            </a:pPr>
            <a:r>
              <a:rPr sz="2400" kern="0" spc="-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区域协调发展成果。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93344" algn="l" rtl="0" eaLnBrk="0">
              <a:lnSpc>
                <a:spcPts val="4821"/>
              </a:lnSpc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4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特征体现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29565" algn="l" rtl="0" eaLnBrk="0">
              <a:lnSpc>
                <a:spcPts val="2978"/>
              </a:lnSpc>
              <a:spcBef>
                <a:spcPts val="1517"/>
              </a:spcBef>
              <a:tabLst/>
            </a:pP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Volume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:</a:t>
            </a:r>
            <a:r>
              <a:rPr sz="2400" kern="0" spc="5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数据量巨大。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9850" algn="l" rtl="0" eaLnBrk="0">
              <a:lnSpc>
                <a:spcPct val="98000"/>
              </a:lnSpc>
              <a:spcBef>
                <a:spcPts val="441"/>
              </a:spcBef>
              <a:tabLst/>
            </a:pPr>
            <a:r>
              <a:rPr sz="2400" kern="0" spc="-120" dirty="0">
                <a:solidFill>
                  <a:srgbClr val="901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岛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Variety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:</a:t>
            </a:r>
            <a:r>
              <a:rPr sz="2400" kern="0" spc="4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包含时空多维度数</a:t>
            </a:r>
            <a:r>
              <a:rPr sz="24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据。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08" name="rect 108"/>
          <p:cNvSpPr/>
          <p:nvPr/>
        </p:nvSpPr>
        <p:spPr>
          <a:xfrm>
            <a:off x="63520" y="0"/>
            <a:ext cx="1210311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textbox 110"/>
          <p:cNvSpPr/>
          <p:nvPr/>
        </p:nvSpPr>
        <p:spPr>
          <a:xfrm>
            <a:off x="989688" y="1023155"/>
            <a:ext cx="6160770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任务二：全方位洞察社会发展大数据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7479" y="1765317"/>
            <a:ext cx="895380" cy="188595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8" name="rect 118"/>
          <p:cNvSpPr/>
          <p:nvPr/>
        </p:nvSpPr>
        <p:spPr>
          <a:xfrm>
            <a:off x="88879" y="6377"/>
            <a:ext cx="12084100" cy="844494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476199" y="2638732"/>
            <a:ext cx="2873375" cy="293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89000"/>
              </a:lnSpc>
              <a:tabLst/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知过程。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990"/>
              </a:lnSpc>
              <a:tabLst/>
            </a:pP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实例转化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24790" algn="l" rtl="0" eaLnBrk="0">
              <a:lnSpc>
                <a:spcPts val="2754"/>
              </a:lnSpc>
              <a:spcBef>
                <a:spcPts val="786"/>
              </a:spcBef>
              <a:tabLst/>
            </a:pPr>
            <a:r>
              <a:rPr sz="2600" b="1" kern="0" spc="-140" baseline="27986" dirty="0">
                <a:solidFill>
                  <a:srgbClr val="30C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匣</a:t>
            </a:r>
            <a:r>
              <a:rPr sz="1700" kern="0" spc="530" dirty="0">
                <a:solidFill>
                  <a:srgbClr val="30C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数学实例：</a:t>
            </a:r>
            <a:endParaRPr sz="2200" dirty="0">
              <a:latin typeface="KaiTi"/>
              <a:ea typeface="KaiTi"/>
              <a:cs typeface="KaiTi"/>
            </a:endParaRPr>
          </a:p>
          <a:p>
            <a:pPr marL="558800" algn="l" rtl="0" eaLnBrk="0">
              <a:lnSpc>
                <a:spcPts val="2769"/>
              </a:lnSpc>
              <a:spcBef>
                <a:spcPts val="449"/>
              </a:spcBef>
              <a:tabLst/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</a:t>
            </a:r>
            <a:r>
              <a:rPr sz="2200" kern="0" spc="3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(3,4,5)</a:t>
            </a:r>
            <a:endParaRPr sz="2200" dirty="0">
              <a:latin typeface="SimSun"/>
              <a:ea typeface="SimSun"/>
              <a:cs typeface="SimSun"/>
            </a:endParaRPr>
          </a:p>
          <a:p>
            <a:pPr marL="558800" algn="l" rtl="0" eaLnBrk="0">
              <a:lnSpc>
                <a:spcPct val="100000"/>
              </a:lnSpc>
              <a:spcBef>
                <a:spcPts val="23"/>
              </a:spcBef>
              <a:tabLst/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(3²+4²=52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知识(勾股定理)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99694" algn="l" rtl="0" eaLnBrk="0">
              <a:lnSpc>
                <a:spcPct val="97000"/>
              </a:lnSpc>
              <a:spcBef>
                <a:spcPts val="7"/>
              </a:spcBef>
              <a:tabLst/>
            </a:pPr>
            <a:r>
              <a:rPr sz="2400" b="1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传统智慧融合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3765600" y="3519848"/>
            <a:ext cx="4595495" cy="1809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400" kern="0" spc="-170" dirty="0">
                <a:solidFill>
                  <a:srgbClr val="50B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?</a:t>
            </a:r>
            <a:r>
              <a:rPr sz="2400" kern="0" spc="-420" dirty="0">
                <a:solidFill>
                  <a:srgbClr val="50B0E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夜间灯光实例：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66065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数据(亮度值)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41300" algn="l" rtl="0" eaLnBrk="0">
              <a:lnSpc>
                <a:spcPct val="97000"/>
              </a:lnSpc>
              <a:spcBef>
                <a:spcPts val="21"/>
              </a:spcBef>
              <a:tabLst/>
            </a:pPr>
            <a:r>
              <a:rPr sz="2400" kern="0" spc="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信息(分布变化趋势)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278765" indent="31750" algn="l" rtl="0" eaLnBrk="0">
              <a:lnSpc>
                <a:spcPct val="100000"/>
              </a:lnSpc>
              <a:spcBef>
                <a:spcPts val="109"/>
              </a:spcBef>
              <a:tabLst/>
            </a:pPr>
            <a:r>
              <a:rPr sz="2400" kern="0" spc="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知识(灯光密度与经济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水平正相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关)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495340" y="1802189"/>
            <a:ext cx="7016750" cy="857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ct val="100000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三层认知结构(教材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P10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原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文)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从数据到信息，再到知识，是一个从低级到高级的认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222260" y="895380"/>
            <a:ext cx="5067239" cy="723861"/>
            <a:chOff x="0" y="0"/>
            <a:chExt cx="5067239" cy="723861"/>
          </a:xfrm>
        </p:grpSpPr>
        <p:pic>
          <p:nvPicPr>
            <p:cNvPr id="126" name="picture 1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067239" cy="723861"/>
            </a:xfrm>
            <a:prstGeom prst="rect">
              <a:avLst/>
            </a:prstGeom>
          </p:spPr>
        </p:pic>
        <p:sp>
          <p:nvSpPr>
            <p:cNvPr id="128" name="textbox 128"/>
            <p:cNvSpPr/>
            <p:nvPr/>
          </p:nvSpPr>
          <p:spPr>
            <a:xfrm>
              <a:off x="-12700" y="-12700"/>
              <a:ext cx="5092700" cy="7861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8450" algn="l" rtl="0" eaLnBrk="0">
                <a:lnSpc>
                  <a:spcPct val="99000"/>
                </a:lnSpc>
                <a:spcBef>
                  <a:spcPts val="1"/>
                </a:spcBef>
                <a:tabLst/>
              </a:pP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4    </a:t>
              </a: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认知升华：从信息到知识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30" name="textbox 130"/>
          <p:cNvSpPr/>
          <p:nvPr/>
        </p:nvSpPr>
        <p:spPr>
          <a:xfrm>
            <a:off x="530204" y="5667705"/>
            <a:ext cx="4872354" cy="395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8275" algn="l" rtl="0" eaLnBrk="0">
              <a:lnSpc>
                <a:spcPts val="2913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“格物致知”→“格数据致知识”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260400" y="2279930"/>
            <a:ext cx="8379459" cy="3498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数据不仅是新知识的来源，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还是记录历史的最重要、最可靠、最好的方式….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2014" algn="l" rtl="0" eaLnBrk="0">
              <a:lnSpc>
                <a:spcPct val="97000"/>
              </a:lnSpc>
              <a:spcBef>
                <a:spcPts val="722"/>
              </a:spcBef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数据就是静态的历史，历史就是动态的数据。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0179" algn="l" rtl="0" eaLnBrk="0">
              <a:lnSpc>
                <a:spcPct val="98000"/>
              </a:lnSpc>
              <a:spcBef>
                <a:spcPts val="938"/>
              </a:spcBef>
              <a:tabLst/>
            </a:pPr>
            <a:r>
              <a:rPr sz="3100" b="1" kern="0" spc="-17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科技向善建言会：</a:t>
            </a:r>
            <a:endParaRPr sz="31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77950" algn="l" rtl="0" eaLnBrk="0">
              <a:lnSpc>
                <a:spcPts val="2922"/>
              </a:lnSpc>
              <a:spcBef>
                <a:spcPts val="728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如何让大数据技术更好地造福社会?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09064" algn="l" rtl="0" eaLnBrk="0">
              <a:lnSpc>
                <a:spcPct val="98000"/>
              </a:lnSpc>
              <a:tabLst/>
            </a:pP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请各小组讨论并提出具体建议</a:t>
            </a: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38" name="rect 138"/>
          <p:cNvSpPr/>
          <p:nvPr/>
        </p:nvSpPr>
        <p:spPr>
          <a:xfrm>
            <a:off x="82539" y="6377"/>
            <a:ext cx="12090440" cy="844494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165079" y="895381"/>
            <a:ext cx="5016520" cy="717552"/>
            <a:chOff x="0" y="0"/>
            <a:chExt cx="5016520" cy="717552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016520" cy="717552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5042534" cy="7804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2100" algn="l" rtl="0" eaLnBrk="0">
                <a:lnSpc>
                  <a:spcPct val="99000"/>
                </a:lnSpc>
                <a:tabLst/>
              </a:pP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    </a:t>
              </a: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责任担当：大数据时代的</a:t>
              </a:r>
              <a:r>
                <a:rPr sz="2400" kern="0" spc="-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使命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44" name="textbox 14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8" name="rect 148"/>
          <p:cNvSpPr/>
          <p:nvPr/>
        </p:nvSpPr>
        <p:spPr>
          <a:xfrm>
            <a:off x="38160" y="0"/>
            <a:ext cx="1213481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359" y="6299210"/>
            <a:ext cx="12153960" cy="546102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2717820" y="4222488"/>
            <a:ext cx="6817994" cy="806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建立数据伦理规范与监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督机制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467"/>
              </a:spcBef>
              <a:tabLst/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防止大数据'杀熟'、信息茧房，保障数据使用公平性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2717820" y="2152867"/>
            <a:ext cx="5952490" cy="824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开发智能辅助设备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661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帮助视障/听障人士，提升残障群体生活质量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200160" y="5689898"/>
            <a:ext cx="974407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技术的发展必须与人文的关怀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同行，创新的脚步必须与责任的担当同在。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052059" y="3219419"/>
            <a:ext cx="920739" cy="1911393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22440" y="1117580"/>
            <a:ext cx="863559" cy="1974898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05160" y="1346225"/>
            <a:ext cx="634959" cy="647669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724180" y="3416312"/>
            <a:ext cx="634959" cy="6349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635060" y="1897602"/>
            <a:ext cx="6728459" cy="3329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3664" algn="l" rtl="0" eaLnBrk="0">
              <a:lnSpc>
                <a:spcPct val="98000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知识体系回顾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720"/>
              </a:spcBef>
              <a:tabLst/>
            </a:pPr>
            <a:r>
              <a:rPr sz="24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·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夯实基础------明确数据与信息的</a:t>
            </a:r>
            <a:r>
              <a:rPr sz="2400" kern="0" spc="-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关系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726"/>
              </a:spcBef>
              <a:tabLst/>
            </a:pP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·</a:t>
            </a:r>
            <a:r>
              <a:rPr sz="2400" kern="0" spc="-9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掌握技术------学会利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用大数据获取信息的方法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727"/>
              </a:spcBef>
              <a:tabLst/>
            </a:pPr>
            <a:r>
              <a:rPr sz="24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·认知升华-------建立</a:t>
            </a:r>
            <a:r>
              <a:rPr sz="24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从数据到知识的完整认知模型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24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·责任担当------树立"科技向善"的价值理念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72" name="rect 172"/>
          <p:cNvSpPr/>
          <p:nvPr/>
        </p:nvSpPr>
        <p:spPr>
          <a:xfrm>
            <a:off x="76200" y="0"/>
            <a:ext cx="12096780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241279" y="882624"/>
            <a:ext cx="5016520" cy="730308"/>
            <a:chOff x="0" y="0"/>
            <a:chExt cx="5016520" cy="730308"/>
          </a:xfrm>
        </p:grpSpPr>
        <p:pic>
          <p:nvPicPr>
            <p:cNvPr id="174" name="picture 1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016520" cy="730308"/>
            </a:xfrm>
            <a:prstGeom prst="rect">
              <a:avLst/>
            </a:prstGeom>
          </p:spPr>
        </p:pic>
        <p:sp>
          <p:nvSpPr>
            <p:cNvPr id="176" name="textbox 176"/>
            <p:cNvSpPr/>
            <p:nvPr/>
          </p:nvSpPr>
          <p:spPr>
            <a:xfrm>
              <a:off x="-12700" y="-12700"/>
              <a:ext cx="5042534" cy="791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79400" algn="l" rtl="0" eaLnBrk="0">
                <a:lnSpc>
                  <a:spcPct val="98000"/>
                </a:lnSpc>
                <a:spcBef>
                  <a:spcPts val="5"/>
                </a:spcBef>
                <a:tabLst/>
              </a:pPr>
              <a:r>
                <a:rPr sz="22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  <a:r>
                <a:rPr sz="22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</a:t>
              </a:r>
              <a:r>
                <a:rPr sz="2400" kern="0" spc="-3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总结与课后作业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78" name="textbox 17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330260" y="1752617"/>
            <a:ext cx="7141209" cy="3586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9000"/>
              </a:lnSpc>
              <a:spcBef>
                <a:spcPts val="1"/>
              </a:spcBef>
              <a:tabLst>
                <a:tab pos="391159" algn="l"/>
              </a:tabLst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未来展望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23215" indent="12064" algn="l" rtl="0" eaLnBrk="0">
              <a:lnSpc>
                <a:spcPct val="98000"/>
              </a:lnSpc>
              <a:spcBef>
                <a:spcPts val="645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善用数据资源，做信息的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明智使用者、知识的勇敢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创造者，用信息技术建设更美好世界。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1159" algn="l" rtl="0" eaLnBrk="0">
              <a:lnSpc>
                <a:spcPct val="99000"/>
              </a:lnSpc>
              <a:spcBef>
                <a:spcPts val="726"/>
              </a:spcBef>
              <a:tabLst/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课后任务</a:t>
            </a:r>
            <a:endParaRPr sz="24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98000"/>
              </a:lnSpc>
              <a:spcBef>
                <a:spcPts val="517"/>
              </a:spcBef>
              <a:tabLst/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完成教材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P8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活动1.3,绘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制数据→信息→知识关系图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1619" algn="l" rtl="0" eaLnBrk="0">
              <a:lnSpc>
                <a:spcPct val="98000"/>
              </a:lnSpc>
              <a:tabLst/>
            </a:pPr>
            <a:r>
              <a:rPr sz="4400" b="1" kern="0" spc="-50" dirty="0">
                <a:solidFill>
                  <a:srgbClr val="2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探索永无止境!</a:t>
            </a:r>
            <a:endParaRPr sz="4400" dirty="0">
              <a:latin typeface="KaiTi"/>
              <a:ea typeface="KaiTi"/>
              <a:cs typeface="KaiTi"/>
            </a:endParaRP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960" y="1765317"/>
            <a:ext cx="247619" cy="260329"/>
          </a:xfrm>
          <a:prstGeom prst="rect">
            <a:avLst/>
          </a:prstGeom>
        </p:spPr>
      </p:pic>
      <p:sp>
        <p:nvSpPr>
          <p:cNvPr id="186" name="rect 186"/>
          <p:cNvSpPr/>
          <p:nvPr/>
        </p:nvSpPr>
        <p:spPr>
          <a:xfrm>
            <a:off x="57180" y="0"/>
            <a:ext cx="1210945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234939" y="889003"/>
            <a:ext cx="5022860" cy="723930"/>
            <a:chOff x="0" y="0"/>
            <a:chExt cx="5022860" cy="723930"/>
          </a:xfrm>
        </p:grpSpPr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022860" cy="723930"/>
            </a:xfrm>
            <a:prstGeom prst="rect">
              <a:avLst/>
            </a:prstGeom>
          </p:spPr>
        </p:pic>
        <p:sp>
          <p:nvSpPr>
            <p:cNvPr id="190" name="textbox 190"/>
            <p:cNvSpPr/>
            <p:nvPr/>
          </p:nvSpPr>
          <p:spPr>
            <a:xfrm>
              <a:off x="-12700" y="-12700"/>
              <a:ext cx="5048884" cy="7848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5750" algn="l" rtl="0" eaLnBrk="0">
                <a:lnSpc>
                  <a:spcPct val="98000"/>
                </a:lnSpc>
                <a:spcBef>
                  <a:spcPts val="3"/>
                </a:spcBef>
                <a:tabLst/>
              </a:pPr>
              <a:r>
                <a:rPr sz="22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  <a:r>
                <a:rPr sz="2200" kern="0" spc="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</a:t>
              </a:r>
              <a:r>
                <a:rPr sz="2400" kern="0" spc="-3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总结与课后作业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92" name="textbox 19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2026-06-06T20:55:44Z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2026-06-06T20:55:50</vt:filetime>
  </property>
  <property fmtid="{D5CDD505-2E9C-101B-9397-08002B2CF9AE}" pid="4" name="UsrData">
    <vt:lpwstr>6a2418cd8cab72001f84dc31wl</vt:lpwstr>
  </property>
</Properties>
</file>