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9" Type="http://schemas.openxmlformats.org/officeDocument/2006/relationships/viewProps" Target="viewProps.xml"/><Relationship Id="rId28" Type="http://schemas.openxmlformats.org/officeDocument/2006/relationships/tableStyles" Target="tableStyles.xml"/><Relationship Id="rId27" Type="http://schemas.openxmlformats.org/officeDocument/2006/relationships/presProps" Target="presProps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4.jpeg"/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225055" y="928942"/>
            <a:ext cx="7671434" cy="1964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-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2390139" algn="l" rtl="0" eaLnBrk="0">
              <a:lnSpc>
                <a:spcPct val="97000"/>
              </a:lnSpc>
              <a:spcBef>
                <a:spcPts val="6"/>
              </a:spcBef>
              <a:tabLst/>
            </a:pPr>
            <a:r>
              <a:rPr sz="5100" b="1" kern="0" spc="-2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描述“洗涤算法”</a:t>
            </a:r>
            <a:endParaRPr sz="51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5791179" y="3826620"/>
            <a:ext cx="4940300" cy="2165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2900" b="1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900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b="1" kern="0" spc="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科：信息技术(</a:t>
            </a:r>
            <a:r>
              <a:rPr sz="2900" b="1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沪科教版)</a:t>
            </a:r>
            <a:endParaRPr sz="2900" dirty="0">
              <a:latin typeface="KaiTi"/>
              <a:ea typeface="KaiTi"/>
              <a:cs typeface="KaiTi"/>
            </a:endParaRPr>
          </a:p>
          <a:p>
            <a:pPr marL="80644" algn="l" rtl="0" eaLnBrk="0">
              <a:lnSpc>
                <a:spcPct val="97000"/>
              </a:lnSpc>
              <a:spcBef>
                <a:spcPts val="751"/>
              </a:spcBef>
              <a:tabLst/>
            </a:pPr>
            <a:r>
              <a:rPr sz="2700" b="1" kern="0" spc="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学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700" b="1" kern="0" spc="7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校：新余市渝水第二中学</a:t>
            </a:r>
            <a:endParaRPr sz="27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"/>
              </a:spcBef>
              <a:tabLst/>
            </a:pP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人</a:t>
            </a:r>
            <a:endParaRPr sz="2300" dirty="0">
              <a:latin typeface="SimSun"/>
              <a:ea typeface="SimSun"/>
              <a:cs typeface="SimSu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484413" y="3859376"/>
            <a:ext cx="2863214" cy="916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600" b="1" kern="0" spc="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年</a:t>
            </a:r>
            <a:r>
              <a:rPr sz="2600" kern="0" spc="3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600" b="1" kern="0" spc="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级：高一年级</a:t>
            </a:r>
            <a:endParaRPr sz="26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8000"/>
              </a:lnSpc>
              <a:spcBef>
                <a:spcPts val="750"/>
              </a:spcBef>
              <a:tabLst/>
            </a:pPr>
            <a:r>
              <a:rPr sz="2700" b="1" kern="0" spc="6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主讲人：刘乐红</a:t>
            </a:r>
            <a:endParaRPr sz="2700" dirty="0">
              <a:latin typeface="KaiTi"/>
              <a:ea typeface="KaiTi"/>
              <a:cs typeface="KaiT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4360" y="5029177"/>
            <a:ext cx="1517538" cy="103507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979139" y="5143500"/>
            <a:ext cx="1212860" cy="10858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1111280" y="3091441"/>
            <a:ext cx="7418705" cy="272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2415" algn="l" rtl="0" eaLnBrk="0">
              <a:lnSpc>
                <a:spcPct val="97000"/>
              </a:lnSpc>
              <a:tabLst/>
            </a:pP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是在有限步骤内解决某一问题所使用的方法。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94"/>
              </a:lnSpc>
              <a:spcBef>
                <a:spcPts val="726"/>
              </a:spcBef>
              <a:tabLst/>
            </a:pPr>
            <a:r>
              <a:rPr sz="2400" kern="0" spc="-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400" kern="0" spc="9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400" kern="0" spc="-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算法的特征</a:t>
            </a:r>
            <a:endParaRPr sz="2400" dirty="0">
              <a:latin typeface="KaiTi"/>
              <a:ea typeface="KaiTi"/>
              <a:cs typeface="KaiTi"/>
            </a:endParaRPr>
          </a:p>
          <a:p>
            <a:pPr marL="50165" algn="l" rtl="0" eaLnBrk="0">
              <a:lnSpc>
                <a:spcPct val="97000"/>
              </a:lnSpc>
              <a:spcBef>
                <a:spcPts val="1734"/>
              </a:spcBef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有穷性、确定性、可行性、有零个或多个输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入、有一个或多个输出</a:t>
            </a:r>
            <a:endParaRPr sz="20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5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98000"/>
              </a:lnSpc>
              <a:spcBef>
                <a:spcPts val="723"/>
              </a:spcBef>
              <a:tabLst/>
            </a:pPr>
            <a:r>
              <a:rPr sz="2400" kern="0" spc="-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3</a:t>
            </a:r>
            <a:r>
              <a:rPr sz="2400" kern="0" spc="11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算法的评价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01015" algn="l" rtl="0" eaLnBrk="0">
              <a:lnSpc>
                <a:spcPct val="98000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可读性、正确性、高效性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50840" y="0"/>
            <a:ext cx="12115800" cy="850900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556115" algn="l" rtl="0" eaLnBrk="0">
              <a:lnSpc>
                <a:spcPct val="97000"/>
              </a:lnSpc>
              <a:spcBef>
                <a:spcPts val="5"/>
              </a:spcBef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282720" y="2362169"/>
            <a:ext cx="2959120" cy="476288"/>
            <a:chOff x="0" y="0"/>
            <a:chExt cx="2959120" cy="476288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959120" cy="476288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-12700" y="-12700"/>
              <a:ext cx="2985135" cy="55054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3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11150" algn="l" rtl="0" eaLnBrk="0">
                <a:lnSpc>
                  <a:spcPct val="99000"/>
                </a:lnSpc>
                <a:spcBef>
                  <a:spcPts val="3"/>
                </a:spcBef>
                <a:tabLst/>
              </a:pPr>
              <a:r>
                <a:rPr sz="2700" kern="0" spc="-19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算法</a:t>
              </a:r>
              <a:endParaRPr sz="27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24" name="textbox 24"/>
          <p:cNvSpPr/>
          <p:nvPr/>
        </p:nvSpPr>
        <p:spPr>
          <a:xfrm>
            <a:off x="3225861" y="991997"/>
            <a:ext cx="1544955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复习回顾</a:t>
            </a:r>
            <a:endParaRPr sz="30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1111280" y="984094"/>
            <a:ext cx="4798059" cy="4300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33600" algn="l" rtl="0" eaLnBrk="0">
              <a:lnSpc>
                <a:spcPct val="95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学习目标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99000"/>
              </a:lnSpc>
              <a:spcBef>
                <a:spcPts val="728"/>
              </a:spcBef>
              <a:tabLst/>
            </a:pPr>
            <a:r>
              <a:rPr sz="2400" kern="0" spc="-3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  <a:r>
              <a:rPr sz="2400" kern="0" spc="9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400" kern="0" spc="-3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掌握描述算法的三种常用方式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727"/>
              </a:spcBef>
              <a:tabLst/>
            </a:pP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    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使用流程图来描述算法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ct val="99000"/>
              </a:lnSpc>
              <a:spcBef>
                <a:spcPts val="3"/>
              </a:spcBef>
              <a:tabLst/>
            </a:pPr>
            <a:r>
              <a:rPr sz="2400" kern="0" spc="10" dirty="0">
                <a:solidFill>
                  <a:srgbClr val="FFC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3</a:t>
            </a:r>
            <a:r>
              <a:rPr sz="2400" kern="0" spc="10" dirty="0">
                <a:solidFill>
                  <a:srgbClr val="FFC0B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400" kern="0" spc="1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提高学生用算法解</a:t>
            </a: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决问题的意识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30" name="rect 30"/>
          <p:cNvSpPr/>
          <p:nvPr/>
        </p:nvSpPr>
        <p:spPr>
          <a:xfrm>
            <a:off x="5084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" name="textbox 3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6" name="rect 36"/>
          <p:cNvSpPr/>
          <p:nvPr/>
        </p:nvSpPr>
        <p:spPr>
          <a:xfrm>
            <a:off x="5084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textbox 38"/>
          <p:cNvSpPr/>
          <p:nvPr/>
        </p:nvSpPr>
        <p:spPr>
          <a:xfrm>
            <a:off x="4615134" y="2138183"/>
            <a:ext cx="3721100" cy="1993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7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9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步骤1:电动机正转30秒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9000"/>
              </a:lnSpc>
              <a:spcBef>
                <a:spcPts val="605"/>
              </a:spcBef>
              <a:tabLst/>
            </a:pPr>
            <a:r>
              <a:rPr sz="2900" b="1" kern="0" spc="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步骤2:停2秒</a:t>
            </a:r>
            <a:endParaRPr sz="2900" dirty="0">
              <a:latin typeface="KaiTi"/>
              <a:ea typeface="KaiTi"/>
              <a:cs typeface="KaiTi"/>
            </a:endParaRPr>
          </a:p>
          <a:p>
            <a:pPr marL="44450" algn="l" rtl="0" eaLnBrk="0">
              <a:lnSpc>
                <a:spcPct val="99000"/>
              </a:lnSpc>
              <a:spcBef>
                <a:spcPts val="555"/>
              </a:spcBef>
              <a:tabLst/>
            </a:pPr>
            <a:r>
              <a:rPr sz="29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步骤3:电动机反转30秒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100000"/>
              </a:lnSpc>
              <a:spcBef>
                <a:spcPts val="771"/>
              </a:spcBef>
              <a:tabLst/>
            </a:pP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步骤4:停2秒</a:t>
            </a:r>
            <a:endParaRPr sz="2700" dirty="0">
              <a:latin typeface="KaiTi"/>
              <a:ea typeface="KaiTi"/>
              <a:cs typeface="KaiT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65240" y="1885950"/>
            <a:ext cx="2774898" cy="2495557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546059" y="5550235"/>
            <a:ext cx="7641590" cy="387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5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通过被理解的语句将算法表示了出来，这就是</a:t>
            </a:r>
            <a:r>
              <a:rPr sz="2500" b="1" kern="0" spc="-14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描述算法。</a:t>
            </a:r>
            <a:endParaRPr sz="2500" dirty="0">
              <a:latin typeface="KaiTi"/>
              <a:ea typeface="KaiTi"/>
              <a:cs typeface="KaiTi"/>
            </a:endParaRPr>
          </a:p>
        </p:txBody>
      </p:sp>
      <p:graphicFrame>
        <p:nvGraphicFramePr>
          <p:cNvPr id="44" name="table 44"/>
          <p:cNvGraphicFramePr>
            <a:graphicFrameLocks noGrp="1"/>
          </p:cNvGraphicFramePr>
          <p:nvPr/>
        </p:nvGraphicFramePr>
        <p:xfrm>
          <a:off x="2044720" y="2340514"/>
          <a:ext cx="1590674" cy="1436370"/>
        </p:xfrm>
        <a:graphic>
          <a:graphicData uri="http://schemas.openxmlformats.org/drawingml/2006/table">
            <a:tbl>
              <a:tblPr/>
              <a:tblGrid>
                <a:gridCol w="785494"/>
                <a:gridCol w="805179"/>
              </a:tblGrid>
              <a:tr h="14363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⑥</a:t>
                      </a:r>
                      <a:r>
                        <a:rPr sz="1200" kern="0" spc="-23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漂</a:t>
                      </a:r>
                      <a:r>
                        <a:rPr sz="1200" kern="0" spc="-24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洗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spcBef>
                          <a:spcPts val="365"/>
                        </a:spcBef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⑤</a:t>
                      </a:r>
                      <a:r>
                        <a:rPr sz="12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b="1" kern="0" spc="-4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</a:t>
                      </a:r>
                      <a:r>
                        <a:rPr sz="1200" kern="0" spc="-11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b="1" kern="0" spc="-4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水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7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103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④</a:t>
                      </a:r>
                      <a:r>
                        <a:rPr sz="1200" kern="0" spc="-270" dirty="0">
                          <a:solidFill>
                            <a:srgbClr val="103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103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脱</a:t>
                      </a:r>
                      <a:r>
                        <a:rPr sz="1200" kern="0" spc="-200" dirty="0">
                          <a:solidFill>
                            <a:srgbClr val="103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b="1" kern="0" spc="-10" dirty="0">
                          <a:solidFill>
                            <a:srgbClr val="103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水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300" kern="0" spc="-7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⑦</a:t>
                      </a:r>
                      <a:r>
                        <a:rPr sz="1300" kern="0" spc="-33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300" b="1" kern="0" spc="-6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排</a:t>
                      </a:r>
                      <a:r>
                        <a:rPr sz="1300" kern="0" spc="-25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300" b="1" kern="0" spc="-5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水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8759" algn="l" rtl="0" eaLnBrk="0">
                        <a:lnSpc>
                          <a:spcPct val="95000"/>
                        </a:lnSpc>
                        <a:spcBef>
                          <a:spcPts val="390"/>
                        </a:spcBef>
                        <a:tabLst/>
                      </a:pPr>
                      <a:r>
                        <a:rPr sz="1300" b="1" kern="0" spc="120" dirty="0">
                          <a:solidFill>
                            <a:srgbClr val="203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⑧脱水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875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b="1" kern="0" spc="-40" dirty="0">
                          <a:solidFill>
                            <a:srgbClr val="102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⑨鸣</a:t>
                      </a:r>
                      <a:r>
                        <a:rPr sz="1300" b="1" kern="0" spc="-40" dirty="0">
                          <a:solidFill>
                            <a:srgbClr val="2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叫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297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6" name="textbox 46"/>
          <p:cNvSpPr/>
          <p:nvPr/>
        </p:nvSpPr>
        <p:spPr>
          <a:xfrm>
            <a:off x="2032020" y="960244"/>
            <a:ext cx="5535929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回顾问题：洗衣机“洗涤算法”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1054100" y="2290028"/>
            <a:ext cx="575309" cy="1837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7155" algn="l" rtl="0" eaLnBrk="0">
              <a:lnSpc>
                <a:spcPct val="96000"/>
              </a:lnSpc>
              <a:tabLst/>
            </a:pPr>
            <a:r>
              <a:rPr sz="1400" b="1" kern="0" spc="0" dirty="0">
                <a:solidFill>
                  <a:srgbClr val="203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</a:t>
            </a:r>
            <a:r>
              <a:rPr sz="1400" b="1" kern="0" spc="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始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71"/>
              </a:spcBef>
              <a:tabLst/>
            </a:pPr>
            <a:r>
              <a:rPr sz="1200" kern="0" spc="-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①</a:t>
            </a:r>
            <a:r>
              <a:rPr sz="1200" kern="0" spc="-2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</a:t>
            </a:r>
            <a:r>
              <a:rPr sz="1200" kern="0" spc="-1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水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361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②</a:t>
            </a:r>
            <a:r>
              <a:rPr sz="1200" kern="0" spc="-2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洗</a:t>
            </a:r>
            <a:r>
              <a:rPr sz="1200" kern="0" spc="-19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涤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③</a:t>
            </a:r>
            <a:r>
              <a:rPr sz="1200" kern="0" spc="-3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排</a:t>
            </a:r>
            <a:r>
              <a:rPr sz="1200" kern="0" spc="-15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水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905377" y="4431076"/>
            <a:ext cx="3100704" cy="337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100" b="1" kern="0" spc="-90" dirty="0">
                <a:solidFill>
                  <a:srgbClr val="205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洗衣机快洗模式的洗衣流程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3152203" y="3907050"/>
            <a:ext cx="40259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结束</a:t>
            </a:r>
            <a:endParaRPr sz="1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487789" y="985619"/>
            <a:ext cx="7585075" cy="2602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0685" algn="l" rtl="0" eaLnBrk="0">
              <a:lnSpc>
                <a:spcPct val="96000"/>
              </a:lnSpc>
              <a:tabLst/>
            </a:pPr>
            <a:r>
              <a:rPr sz="30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描述算法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872"/>
              </a:spcBef>
              <a:tabLst/>
            </a:pPr>
            <a:r>
              <a:rPr sz="2900" b="1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描述算法就是将解决问题的步骤，用一种</a:t>
            </a:r>
            <a:r>
              <a:rPr sz="2900" b="1" kern="0" spc="-11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可理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3969"/>
              </a:lnSpc>
              <a:tabLst/>
            </a:pPr>
            <a:r>
              <a:rPr sz="2900" b="1" kern="0" spc="-260" dirty="0">
                <a:solidFill>
                  <a:srgbClr val="FF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解的形式</a:t>
            </a:r>
            <a:r>
              <a:rPr sz="2900" b="1" kern="0" spc="-2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表示出来。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60" name="rect 60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2" name="textbox 6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2730500" y="965099"/>
            <a:ext cx="5313679" cy="4116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常用的描述算法的方式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848"/>
              </a:spcBef>
              <a:tabLst/>
            </a:pPr>
            <a:r>
              <a:rPr sz="2800" kern="0" spc="-1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算法的描述方式</a:t>
            </a:r>
            <a:endParaRPr sz="28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3546"/>
              </a:lnSpc>
              <a:tabLst/>
            </a:pPr>
            <a:r>
              <a:rPr sz="2800" kern="0" spc="0" dirty="0">
                <a:solidFill>
                  <a:srgbClr val="A0B0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流程图</a:t>
            </a:r>
            <a:r>
              <a:rPr sz="2800" kern="0" spc="70" dirty="0">
                <a:solidFill>
                  <a:srgbClr val="A0B01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     </a:t>
            </a:r>
            <a:r>
              <a:rPr sz="2800" kern="0" spc="0" dirty="0">
                <a:solidFill>
                  <a:srgbClr val="6020A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伪代码</a:t>
            </a:r>
            <a:endParaRPr sz="2800" dirty="0">
              <a:latin typeface="SimSun"/>
              <a:ea typeface="SimSun"/>
              <a:cs typeface="SimSun"/>
            </a:endParaRPr>
          </a:p>
        </p:txBody>
      </p:sp>
      <p:sp>
        <p:nvSpPr>
          <p:cNvPr id="68" name="rect 68"/>
          <p:cNvSpPr/>
          <p:nvPr/>
        </p:nvSpPr>
        <p:spPr>
          <a:xfrm>
            <a:off x="63520" y="0"/>
            <a:ext cx="12103119" cy="857250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0" name="textbox 7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57179" y="4619703"/>
            <a:ext cx="1400175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2800" kern="0" spc="-80" dirty="0">
                <a:solidFill>
                  <a:srgbClr val="2060C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自然语言</a:t>
            </a:r>
            <a:endParaRPr sz="28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96492" y="972932"/>
            <a:ext cx="7811769" cy="4866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56154" algn="l" rtl="0" eaLnBrk="0">
              <a:lnSpc>
                <a:spcPct val="96000"/>
              </a:lnSpc>
              <a:tabLst/>
            </a:pPr>
            <a:r>
              <a:rPr sz="30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描述算法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75284" algn="l" rtl="0" eaLnBrk="0">
              <a:lnSpc>
                <a:spcPct val="99000"/>
              </a:lnSpc>
              <a:spcBef>
                <a:spcPts val="877"/>
              </a:spcBef>
              <a:tabLst/>
            </a:pPr>
            <a:r>
              <a:rPr sz="29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步骤1:电动机正转30秒</a:t>
            </a:r>
            <a:endParaRPr sz="2900" dirty="0">
              <a:latin typeface="KaiTi"/>
              <a:ea typeface="KaiTi"/>
              <a:cs typeface="KaiTi"/>
            </a:endParaRPr>
          </a:p>
          <a:p>
            <a:pPr marL="375284" algn="l" rtl="0" eaLnBrk="0">
              <a:lnSpc>
                <a:spcPct val="99000"/>
              </a:lnSpc>
              <a:spcBef>
                <a:spcPts val="555"/>
              </a:spcBef>
              <a:tabLst/>
            </a:pPr>
            <a:r>
              <a:rPr sz="2900" b="1" kern="0" spc="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步骤2:停2秒</a:t>
            </a:r>
            <a:endParaRPr sz="2900" dirty="0">
              <a:latin typeface="KaiTi"/>
              <a:ea typeface="KaiTi"/>
              <a:cs typeface="KaiTi"/>
            </a:endParaRPr>
          </a:p>
          <a:p>
            <a:pPr marL="400684" algn="l" rtl="0" eaLnBrk="0">
              <a:lnSpc>
                <a:spcPct val="99000"/>
              </a:lnSpc>
              <a:spcBef>
                <a:spcPts val="605"/>
              </a:spcBef>
              <a:tabLst/>
            </a:pPr>
            <a:r>
              <a:rPr sz="2900" b="1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步骤3:电动机反转30秒</a:t>
            </a:r>
            <a:endParaRPr sz="2900" dirty="0">
              <a:latin typeface="KaiTi"/>
              <a:ea typeface="KaiTi"/>
              <a:cs typeface="KaiTi"/>
            </a:endParaRPr>
          </a:p>
          <a:p>
            <a:pPr marL="375284" algn="l" rtl="0" eaLnBrk="0">
              <a:lnSpc>
                <a:spcPct val="100000"/>
              </a:lnSpc>
              <a:spcBef>
                <a:spcPts val="721"/>
              </a:spcBef>
              <a:tabLst/>
            </a:pPr>
            <a:r>
              <a:rPr sz="2700" b="1" kern="0" spc="2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步骤4:停2秒</a:t>
            </a:r>
            <a:endParaRPr sz="27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5630" algn="l" rtl="0" eaLnBrk="0">
              <a:lnSpc>
                <a:spcPct val="97000"/>
              </a:lnSpc>
              <a:spcBef>
                <a:spcPts val="579"/>
              </a:spcBef>
              <a:tabLst/>
            </a:pPr>
            <a:r>
              <a:rPr sz="1900" b="1" kern="0" spc="90" dirty="0">
                <a:solidFill>
                  <a:srgbClr val="305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以上步骤重复执行5次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2400" b="1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你能用简单的语句将描述“洗涤算法”的过程表示出来吗?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78" name="rect 78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0" name="textbox 8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679439" y="1555650"/>
            <a:ext cx="6733540" cy="4030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332"/>
              </a:lnSpc>
              <a:tabLst/>
            </a:pPr>
            <a:r>
              <a:rPr sz="2700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700" kern="0" spc="-1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计数器清零；</a:t>
            </a:r>
            <a:endParaRPr sz="2700" dirty="0">
              <a:latin typeface="KaiTi"/>
              <a:ea typeface="KaiTi"/>
              <a:cs typeface="KaiTi"/>
            </a:endParaRPr>
          </a:p>
          <a:p>
            <a:pPr algn="r" rtl="0" eaLnBrk="0">
              <a:lnSpc>
                <a:spcPct val="95000"/>
              </a:lnSpc>
              <a:spcBef>
                <a:spcPts val="676"/>
              </a:spcBef>
              <a:tabLst/>
            </a:pPr>
            <a:r>
              <a:rPr sz="29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  </a:t>
            </a:r>
            <a:r>
              <a:rPr sz="29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计数器小于5,往下执行。</a:t>
            </a:r>
            <a:r>
              <a:rPr sz="2900" kern="0" spc="-5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否，执行1.8;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100000"/>
              </a:lnSpc>
              <a:spcBef>
                <a:spcPts val="1115"/>
              </a:spcBef>
              <a:tabLst/>
            </a:pP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3.    </a:t>
            </a: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电动机正传30秒；</a:t>
            </a:r>
            <a:endParaRPr sz="26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3406"/>
              </a:lnSpc>
              <a:spcBef>
                <a:spcPts val="680"/>
              </a:spcBef>
              <a:tabLst/>
            </a:pPr>
            <a:r>
              <a:rPr sz="2700" kern="0" spc="-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</a:t>
            </a:r>
            <a:r>
              <a:rPr sz="27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7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电动机停2秒；</a:t>
            </a:r>
            <a:endParaRPr sz="27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100000"/>
              </a:lnSpc>
              <a:spcBef>
                <a:spcPts val="845"/>
              </a:spcBef>
              <a:tabLst/>
            </a:pP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5.    </a:t>
            </a:r>
            <a:r>
              <a:rPr sz="26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电动机反转30秒；</a:t>
            </a:r>
            <a:endParaRPr sz="26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3406"/>
              </a:lnSpc>
              <a:spcBef>
                <a:spcPts val="680"/>
              </a:spcBef>
              <a:tabLst/>
            </a:pPr>
            <a:r>
              <a:rPr sz="2700" kern="0" spc="-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700" kern="0" spc="-1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电动机停2秒；</a:t>
            </a:r>
            <a:endParaRPr sz="27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6000"/>
              </a:lnSpc>
              <a:spcBef>
                <a:spcPts val="535"/>
              </a:spcBef>
              <a:tabLst/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7.  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计数器加1,跳转1.2执行；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3332"/>
              </a:lnSpc>
              <a:spcBef>
                <a:spcPts val="640"/>
              </a:spcBef>
              <a:tabLst/>
            </a:pPr>
            <a:r>
              <a:rPr sz="2700" kern="0" spc="-1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8.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7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洗涤结束。</a:t>
            </a:r>
            <a:endParaRPr sz="2700" dirty="0">
              <a:latin typeface="KaiTi"/>
              <a:ea typeface="KaiTi"/>
              <a:cs typeface="KaiTi"/>
            </a:endParaRPr>
          </a:p>
        </p:txBody>
      </p:sp>
      <p:sp>
        <p:nvSpPr>
          <p:cNvPr id="86" name="rect 86"/>
          <p:cNvSpPr/>
          <p:nvPr/>
        </p:nvSpPr>
        <p:spPr>
          <a:xfrm>
            <a:off x="44500" y="6377"/>
            <a:ext cx="12128479" cy="838185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textbox 8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596900" y="946033"/>
            <a:ext cx="7223125" cy="3571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00" algn="l" rtl="0" eaLnBrk="0">
              <a:lnSpc>
                <a:spcPct val="95000"/>
              </a:lnSpc>
              <a:tabLst/>
            </a:pPr>
            <a:r>
              <a:rPr sz="30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方法1:自然语言描述算法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879"/>
              </a:spcBef>
              <a:tabLst/>
            </a:pP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自然语言即人们日常生活中使用的语言</a:t>
            </a:r>
            <a:r>
              <a:rPr sz="29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，比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3972"/>
              </a:lnSpc>
              <a:tabLst/>
            </a:pPr>
            <a:r>
              <a:rPr sz="2900" kern="0" spc="-2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较符合我们的阅读习惯。</a:t>
            </a:r>
            <a:endParaRPr sz="2900" dirty="0">
              <a:latin typeface="KaiTi"/>
              <a:ea typeface="KaiTi"/>
              <a:cs typeface="KaiTi"/>
            </a:endParaRPr>
          </a:p>
          <a:p>
            <a:pPr marL="463550" algn="l" rtl="0" eaLnBrk="0">
              <a:lnSpc>
                <a:spcPct val="87000"/>
              </a:lnSpc>
              <a:spcBef>
                <a:spcPts val="999"/>
              </a:spcBef>
              <a:tabLst/>
            </a:pP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描述用词要准确、统一、无二义性，且算法</a:t>
            </a:r>
            <a:endParaRPr sz="2900" dirty="0">
              <a:latin typeface="KaiTi"/>
              <a:ea typeface="KaiTi"/>
              <a:cs typeface="KaiTi"/>
            </a:endParaRPr>
          </a:p>
          <a:p>
            <a:pPr marL="24765" algn="l" rtl="0" eaLnBrk="0">
              <a:lnSpc>
                <a:spcPts val="4096"/>
              </a:lnSpc>
              <a:tabLst/>
            </a:pPr>
            <a:r>
              <a:rPr sz="2900" kern="0" spc="-2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的控制结构和嵌套层次要清晰</a:t>
            </a:r>
            <a:r>
              <a:rPr sz="2900" kern="0" spc="-2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明确。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94" name="rect 94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textbox 9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609579" y="958720"/>
            <a:ext cx="7466965" cy="4594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92300" algn="l" rtl="0" eaLnBrk="0">
              <a:lnSpc>
                <a:spcPct val="95000"/>
              </a:lnSpc>
              <a:tabLst/>
            </a:pPr>
            <a:r>
              <a:rPr sz="30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方法1:自然语言描述算法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97000"/>
              </a:lnSpc>
              <a:spcBef>
                <a:spcPts val="813"/>
              </a:spcBef>
              <a:tabLst/>
            </a:pP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优点：通俗易懂，</a:t>
            </a:r>
            <a:endParaRPr sz="2700" dirty="0">
              <a:latin typeface="KaiTi"/>
              <a:ea typeface="KaiTi"/>
              <a:cs typeface="KaiTi"/>
            </a:endParaRPr>
          </a:p>
          <a:p>
            <a:pPr marL="298450" algn="l" rtl="0" eaLnBrk="0">
              <a:lnSpc>
                <a:spcPts val="3379"/>
              </a:lnSpc>
              <a:spcBef>
                <a:spcPts val="750"/>
              </a:spcBef>
              <a:tabLst/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缺点：冗长、歧义性</a:t>
            </a:r>
            <a:endParaRPr sz="2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878"/>
              </a:spcBef>
              <a:tabLst/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如“张三听李明说他的儿子考上大学”</a:t>
            </a:r>
            <a:endParaRPr sz="2900" dirty="0">
              <a:latin typeface="KaiTi"/>
              <a:ea typeface="KaiTi"/>
              <a:cs typeface="KaiTi"/>
            </a:endParaRPr>
          </a:p>
          <a:p>
            <a:pPr algn="r" rtl="0" eaLnBrk="0">
              <a:lnSpc>
                <a:spcPct val="88000"/>
              </a:lnSpc>
              <a:spcBef>
                <a:spcPts val="739"/>
              </a:spcBef>
              <a:tabLst/>
            </a:pP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我们既可以理解为“张三的儿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子考上大学”,</a:t>
            </a:r>
            <a:endParaRPr sz="2700" dirty="0">
              <a:latin typeface="KaiTi"/>
              <a:ea typeface="KaiTi"/>
              <a:cs typeface="KaiTi"/>
            </a:endParaRPr>
          </a:p>
          <a:p>
            <a:pPr marL="50800" algn="l" rtl="0" eaLnBrk="0">
              <a:lnSpc>
                <a:spcPts val="4094"/>
              </a:lnSpc>
              <a:tabLst/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又可以理解为“李明的儿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子考上大学”。</a:t>
            </a:r>
            <a:endParaRPr sz="27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8315" algn="l" rtl="0" eaLnBrk="0">
              <a:lnSpc>
                <a:spcPct val="98000"/>
              </a:lnSpc>
              <a:tabLst/>
            </a:pPr>
            <a:r>
              <a:rPr sz="29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这是自然语言描述算法歧义性的</a:t>
            </a:r>
            <a:r>
              <a:rPr sz="2900" kern="0" spc="-1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一种体现。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102" name="rect 102"/>
          <p:cNvSpPr/>
          <p:nvPr/>
        </p:nvSpPr>
        <p:spPr>
          <a:xfrm>
            <a:off x="38160" y="0"/>
            <a:ext cx="12128479" cy="850872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4" name="textbox 10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1009599" y="984094"/>
            <a:ext cx="6401434" cy="3049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28750" algn="l" rtl="0" eaLnBrk="0">
              <a:lnSpc>
                <a:spcPct val="95000"/>
              </a:lnSpc>
              <a:tabLst/>
            </a:pPr>
            <a:r>
              <a:rPr sz="30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方法2:流程图描述算法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ct val="88000"/>
              </a:lnSpc>
              <a:spcBef>
                <a:spcPts val="812"/>
              </a:spcBef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流程图由一些简单的框图组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成，框图用</a:t>
            </a:r>
            <a:endParaRPr sz="2700" dirty="0">
              <a:latin typeface="KaiTi"/>
              <a:ea typeface="KaiTi"/>
              <a:cs typeface="KaiTi"/>
            </a:endParaRPr>
          </a:p>
          <a:p>
            <a:pPr marL="12700" indent="25400" algn="l" rtl="0" eaLnBrk="0">
              <a:lnSpc>
                <a:spcPct val="131000"/>
              </a:lnSpc>
              <a:spcBef>
                <a:spcPts val="3"/>
              </a:spcBef>
              <a:tabLst/>
            </a:pP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来表示算法的步骤。流程图所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使用的符号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遵循国家颁布的标准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700" dirty="0">
              <a:latin typeface="KaiTi"/>
              <a:ea typeface="KaiTi"/>
              <a:cs typeface="KaiTi"/>
            </a:endParaRPr>
          </a:p>
        </p:txBody>
      </p:sp>
      <p:sp>
        <p:nvSpPr>
          <p:cNvPr id="110" name="rect 110"/>
          <p:cNvSpPr/>
          <p:nvPr/>
        </p:nvSpPr>
        <p:spPr>
          <a:xfrm>
            <a:off x="57180" y="0"/>
            <a:ext cx="12109459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textbox 11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66685" y="1749455"/>
          <a:ext cx="8406765" cy="4095115"/>
        </p:xfrm>
        <a:graphic>
          <a:graphicData uri="http://schemas.openxmlformats.org/drawingml/2006/table">
            <a:tbl>
              <a:tblPr/>
              <a:tblGrid>
                <a:gridCol w="307975"/>
                <a:gridCol w="914400"/>
                <a:gridCol w="253365"/>
                <a:gridCol w="292100"/>
                <a:gridCol w="1841500"/>
                <a:gridCol w="4797425"/>
              </a:tblGrid>
              <a:tr h="54927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892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3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图形符号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650" algn="l" rtl="0" eaLnBrk="0">
                        <a:lnSpc>
                          <a:spcPct val="9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名称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343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3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作用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5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开始/结束框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3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表示一个算法的开始或结束</a:t>
                      </a:r>
                      <a:r>
                        <a:rPr sz="23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。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65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60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处理框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表示要处理的内容，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ts val="105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5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93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23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输入/输出框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9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23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表示数据的输入或结果的输出。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40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5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6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判断框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5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3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表示条件判断的情况。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10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6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3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连接框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3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用于连接因画不下而断开的流程线。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499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600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3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流程线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550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3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指出流程控制方向。</a:t>
                      </a:r>
                      <a:endParaRPr sz="2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8" name="rect 118"/>
          <p:cNvSpPr/>
          <p:nvPr/>
        </p:nvSpPr>
        <p:spPr>
          <a:xfrm>
            <a:off x="57180" y="0"/>
            <a:ext cx="1210945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textbox 120"/>
          <p:cNvSpPr/>
          <p:nvPr/>
        </p:nvSpPr>
        <p:spPr>
          <a:xfrm>
            <a:off x="2057379" y="984094"/>
            <a:ext cx="535622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常用的流程图符号、名</a:t>
            </a: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称及作用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539" y="4108422"/>
            <a:ext cx="1739920" cy="609607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2539" y="3556010"/>
            <a:ext cx="1739920" cy="520659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152379" y="1522949"/>
            <a:ext cx="5801359" cy="3444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817"/>
              </a:lnSpc>
              <a:tabLst/>
            </a:pPr>
            <a:r>
              <a:rPr sz="2300" kern="0" spc="-1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1.</a:t>
            </a: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3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计数器清零；</a:t>
            </a:r>
            <a:endParaRPr sz="23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592"/>
              </a:spcBef>
              <a:tabLst/>
            </a:pP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   </a:t>
            </a:r>
            <a:r>
              <a:rPr sz="2400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计数器小于5,往下执行。否，执行1.8;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9000"/>
              </a:lnSpc>
              <a:spcBef>
                <a:spcPts val="803"/>
              </a:spcBef>
              <a:tabLst/>
            </a:pPr>
            <a:r>
              <a:rPr sz="2400" kern="0" spc="-1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3.</a:t>
            </a:r>
            <a:r>
              <a:rPr sz="2400" kern="0" spc="2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电动机正传30秒；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2880"/>
              </a:lnSpc>
              <a:spcBef>
                <a:spcPts val="560"/>
              </a:spcBef>
              <a:tabLst/>
            </a:pP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4.    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电动机停2秒；</a:t>
            </a:r>
            <a:endParaRPr sz="23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9000"/>
              </a:lnSpc>
              <a:spcBef>
                <a:spcPts val="609"/>
              </a:spcBef>
              <a:tabLst/>
            </a:pPr>
            <a:r>
              <a:rPr sz="24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5.</a:t>
            </a:r>
            <a:r>
              <a:rPr sz="2400" kern="0" spc="1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电动机反转30秒；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2880"/>
              </a:lnSpc>
              <a:spcBef>
                <a:spcPts val="560"/>
              </a:spcBef>
              <a:tabLst/>
            </a:pPr>
            <a:r>
              <a:rPr sz="23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6.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3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电动机停2秒；</a:t>
            </a:r>
            <a:endParaRPr sz="23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8000"/>
              </a:lnSpc>
              <a:spcBef>
                <a:spcPts val="422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7.  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计数器加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1,跳转1.2执行；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2817"/>
              </a:lnSpc>
              <a:spcBef>
                <a:spcPts val="659"/>
              </a:spcBef>
              <a:tabLst/>
            </a:pPr>
            <a:r>
              <a:rPr sz="23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8.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3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洗涤结束。</a:t>
            </a:r>
            <a:endParaRPr sz="2300" dirty="0">
              <a:latin typeface="KaiTi"/>
              <a:ea typeface="KaiTi"/>
              <a:cs typeface="KaiTi"/>
            </a:endParaRPr>
          </a:p>
        </p:txBody>
      </p:sp>
      <p:sp>
        <p:nvSpPr>
          <p:cNvPr id="132" name="rect 132"/>
          <p:cNvSpPr/>
          <p:nvPr/>
        </p:nvSpPr>
        <p:spPr>
          <a:xfrm>
            <a:off x="5084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textbox 134"/>
          <p:cNvSpPr/>
          <p:nvPr/>
        </p:nvSpPr>
        <p:spPr>
          <a:xfrm>
            <a:off x="6473727" y="2843983"/>
            <a:ext cx="1515110" cy="3181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69900" algn="l" rtl="0" eaLnBrk="0">
              <a:lnSpc>
                <a:spcPct val="96000"/>
              </a:lnSpc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280"/>
              </a:spcBef>
              <a:tabLst/>
            </a:pP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电动机正转30秒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9900" algn="l" rtl="0" eaLnBrk="0">
              <a:lnSpc>
                <a:spcPct val="96000"/>
              </a:lnSpc>
              <a:spcBef>
                <a:spcPts val="515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停2秒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4765" algn="l" rtl="0" eaLnBrk="0">
              <a:lnSpc>
                <a:spcPct val="96000"/>
              </a:lnSpc>
              <a:spcBef>
                <a:spcPts val="1580"/>
              </a:spcBef>
              <a:tabLst/>
            </a:pP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电动机反转30秒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9900" algn="l" rtl="0" eaLnBrk="0">
              <a:lnSpc>
                <a:spcPct val="96000"/>
              </a:lnSpc>
              <a:spcBef>
                <a:spcPts val="516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停2秒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ct val="96000"/>
              </a:lnSpc>
              <a:spcBef>
                <a:spcPts val="522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计数器加1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42265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洗涤结束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6708667" y="1179653"/>
            <a:ext cx="1096010" cy="894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7314" algn="l" rtl="0" eaLnBrk="0">
              <a:lnSpc>
                <a:spcPct val="96000"/>
              </a:lnSpc>
              <a:tabLst/>
            </a:pP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洗涤开始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计数器清零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844539" y="5314950"/>
            <a:ext cx="1181160" cy="393717"/>
            <a:chOff x="0" y="0"/>
            <a:chExt cx="1181160" cy="393717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181160" cy="393717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-12700" y="-12700"/>
              <a:ext cx="1207135" cy="4533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0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3825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2000" b="1" kern="0" spc="-6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自然语言</a:t>
              </a:r>
              <a:endParaRPr sz="20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144" name="textbox 144"/>
          <p:cNvSpPr/>
          <p:nvPr/>
        </p:nvSpPr>
        <p:spPr>
          <a:xfrm>
            <a:off x="6804341" y="2444774"/>
            <a:ext cx="883285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900" b="1" kern="0" spc="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计数&lt;5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5324932" y="5798720"/>
            <a:ext cx="788669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tabLst/>
            </a:pPr>
            <a:r>
              <a:rPr sz="2000" b="1" kern="0" spc="-20" dirty="0">
                <a:solidFill>
                  <a:srgbClr val="FFFFFF">
                    <a:alpha val="100000"/>
                  </a:srgbClr>
                </a:solidFill>
                <a:latin typeface="KaiTi"/>
                <a:ea typeface="KaiTi"/>
                <a:cs typeface="KaiTi"/>
              </a:rPr>
              <a:t>流程图</a:t>
            </a:r>
            <a:endParaRPr sz="2000" dirty="0">
              <a:latin typeface="KaiTi"/>
              <a:ea typeface="KaiTi"/>
              <a:cs typeface="KaiTi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7933807" y="2266627"/>
            <a:ext cx="206375" cy="259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37"/>
              </a:lnSpc>
              <a:tabLst/>
            </a:pPr>
            <a:r>
              <a:rPr sz="1500" b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否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52" name="textbox 152"/>
          <p:cNvSpPr/>
          <p:nvPr/>
        </p:nvSpPr>
        <p:spPr>
          <a:xfrm>
            <a:off x="990579" y="984094"/>
            <a:ext cx="6786880" cy="4497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47800" algn="l" rtl="0" eaLnBrk="0">
              <a:lnSpc>
                <a:spcPct val="95000"/>
              </a:lnSpc>
              <a:tabLst/>
            </a:pPr>
            <a:r>
              <a:rPr sz="30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方法2:流程图描述算法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0" algn="l" rtl="0" eaLnBrk="0">
              <a:lnSpc>
                <a:spcPct val="95000"/>
              </a:lnSpc>
              <a:spcBef>
                <a:spcPts val="872"/>
              </a:spcBef>
              <a:tabLst/>
            </a:pPr>
            <a:r>
              <a:rPr sz="29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优点：清晰直观，算法结构表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达明确</a:t>
            </a:r>
            <a:endParaRPr sz="2900" dirty="0">
              <a:latin typeface="KaiTi"/>
              <a:ea typeface="KaiTi"/>
              <a:cs typeface="KaiTi"/>
            </a:endParaRPr>
          </a:p>
          <a:p>
            <a:pPr marL="323215" algn="l" rtl="0" eaLnBrk="0">
              <a:lnSpc>
                <a:spcPct val="87000"/>
              </a:lnSpc>
              <a:spcBef>
                <a:spcPts val="785"/>
              </a:spcBef>
              <a:tabLst/>
            </a:pPr>
            <a:r>
              <a:rPr sz="2900" kern="0" spc="-1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缺点：当控制结构和</a:t>
            </a:r>
            <a:r>
              <a:rPr sz="2900" kern="0" spc="-2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嵌套层次较复杂时，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390014" algn="l" rtl="0" eaLnBrk="0">
              <a:lnSpc>
                <a:spcPts val="4050"/>
              </a:lnSpc>
              <a:tabLst/>
            </a:pPr>
            <a:r>
              <a:rPr sz="2900" kern="0" spc="-2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对应流程图所占篇幅</a:t>
            </a:r>
            <a:r>
              <a:rPr sz="2900" kern="0" spc="-2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会比较大，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390014" algn="l" rtl="0" eaLnBrk="0">
              <a:lnSpc>
                <a:spcPct val="95000"/>
              </a:lnSpc>
              <a:spcBef>
                <a:spcPts val="982"/>
              </a:spcBef>
              <a:tabLst/>
            </a:pPr>
            <a:r>
              <a:rPr sz="2900" kern="0" spc="-2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影响可读性，也不易于修改。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indent="-18415" algn="l" rtl="0" eaLnBrk="0">
              <a:lnSpc>
                <a:spcPct val="96000"/>
              </a:lnSpc>
              <a:tabLst/>
            </a:pP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如果要用流程图来描述整个“快洗”模式的</a:t>
            </a:r>
            <a:r>
              <a:rPr sz="29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算法，图就有些庞大。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154" name="rect 154"/>
          <p:cNvSpPr/>
          <p:nvPr/>
        </p:nvSpPr>
        <p:spPr>
          <a:xfrm>
            <a:off x="5084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" name="textbox 15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457179" y="1918101"/>
            <a:ext cx="5067934" cy="3539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150" algn="l" rtl="0" eaLnBrk="0">
              <a:lnSpc>
                <a:spcPct val="87000"/>
              </a:lnSpc>
              <a:tabLst/>
            </a:pPr>
            <a:r>
              <a:rPr sz="2900" kern="0" spc="-1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伪代码是一种算法描</a:t>
            </a:r>
            <a:r>
              <a:rPr sz="2900" kern="0" spc="-2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述语言，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120000"/>
              </a:lnSpc>
              <a:spcBef>
                <a:spcPts val="10"/>
              </a:spcBef>
              <a:tabLst/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它是用介于自然语言和程序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设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900" b="1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计语言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之间的人工语言来描述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900" kern="0" spc="-1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算法。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indent="292100" algn="l" rtl="0" eaLnBrk="0">
              <a:lnSpc>
                <a:spcPct val="115000"/>
              </a:lnSpc>
              <a:spcBef>
                <a:spcPts val="102"/>
              </a:spcBef>
              <a:tabLst/>
            </a:pP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伪代码书写方便、格式紧凑、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表达精炼，比较容易被开发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人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</a:t>
            </a:r>
            <a:r>
              <a:rPr sz="29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员理解。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162" name="rect 162"/>
          <p:cNvSpPr/>
          <p:nvPr/>
        </p:nvSpPr>
        <p:spPr>
          <a:xfrm>
            <a:off x="57180" y="0"/>
            <a:ext cx="1210945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" name="textbox 164"/>
          <p:cNvSpPr/>
          <p:nvPr/>
        </p:nvSpPr>
        <p:spPr>
          <a:xfrm>
            <a:off x="5854699" y="1975187"/>
            <a:ext cx="2524125" cy="3437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29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i=0</a:t>
            </a:r>
            <a:endParaRPr sz="2900" dirty="0">
              <a:latin typeface="Times New Roman"/>
              <a:ea typeface="Times New Roman"/>
              <a:cs typeface="Times New Roman"/>
            </a:endParaRPr>
          </a:p>
          <a:p>
            <a:pPr marL="31115" algn="l" rtl="0" eaLnBrk="0">
              <a:lnSpc>
                <a:spcPct val="80000"/>
              </a:lnSpc>
              <a:spcBef>
                <a:spcPts val="1254"/>
              </a:spcBef>
              <a:tabLst/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2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8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&lt;5</a:t>
            </a:r>
            <a:endParaRPr sz="28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88000"/>
              </a:lnSpc>
              <a:spcBef>
                <a:spcPts val="1049"/>
              </a:spcBef>
              <a:tabLst/>
            </a:pP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电动机正转30秒</a:t>
            </a:r>
            <a:endParaRPr sz="2800" dirty="0">
              <a:latin typeface="KaiTi"/>
              <a:ea typeface="KaiTi"/>
              <a:cs typeface="KaiTi"/>
            </a:endParaRPr>
          </a:p>
          <a:p>
            <a:pPr marL="31115" algn="l" rtl="0" eaLnBrk="0">
              <a:lnSpc>
                <a:spcPts val="4005"/>
              </a:lnSpc>
              <a:tabLst/>
            </a:pPr>
            <a:r>
              <a:rPr sz="2800" kern="0" spc="2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停2秒</a:t>
            </a:r>
            <a:endParaRPr sz="2800" dirty="0">
              <a:latin typeface="KaiTi"/>
              <a:ea typeface="KaiTi"/>
              <a:cs typeface="KaiTi"/>
            </a:endParaRPr>
          </a:p>
          <a:p>
            <a:pPr algn="r" rtl="0" eaLnBrk="0">
              <a:lnSpc>
                <a:spcPct val="88000"/>
              </a:lnSpc>
              <a:spcBef>
                <a:spcPts val="1098"/>
              </a:spcBef>
              <a:tabLst/>
            </a:pPr>
            <a:r>
              <a:rPr sz="28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电动机反转30秒</a:t>
            </a:r>
            <a:endParaRPr sz="2800" dirty="0">
              <a:latin typeface="KaiTi"/>
              <a:ea typeface="KaiTi"/>
              <a:cs typeface="KaiTi"/>
            </a:endParaRPr>
          </a:p>
          <a:p>
            <a:pPr marL="31115" algn="l" rtl="0" eaLnBrk="0">
              <a:lnSpc>
                <a:spcPts val="4050"/>
              </a:lnSpc>
              <a:tabLst/>
            </a:pPr>
            <a:r>
              <a:rPr sz="2800" kern="0" spc="2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停2秒</a:t>
            </a:r>
            <a:endParaRPr sz="28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80000"/>
              </a:lnSpc>
              <a:spcBef>
                <a:spcPts val="3"/>
              </a:spcBef>
              <a:tabLst/>
            </a:pPr>
            <a:r>
              <a:rPr sz="28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i=1+1</a:t>
            </a:r>
            <a:endParaRPr sz="28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2527259" y="984094"/>
            <a:ext cx="4026534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方法3:伪代码描述算法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1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72" name="textbox 172"/>
          <p:cNvSpPr/>
          <p:nvPr/>
        </p:nvSpPr>
        <p:spPr>
          <a:xfrm>
            <a:off x="260400" y="1769643"/>
            <a:ext cx="4437379" cy="2877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02"/>
              </a:lnSpc>
              <a:tabLst/>
            </a:pPr>
            <a:r>
              <a:rPr sz="19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计数器清零；</a:t>
            </a:r>
            <a:endParaRPr sz="1900" dirty="0">
              <a:latin typeface="KaiTi"/>
              <a:ea typeface="KaiTi"/>
              <a:cs typeface="KaiTi"/>
            </a:endParaRPr>
          </a:p>
          <a:p>
            <a:pPr marL="43815" indent="-31115" algn="l" rtl="0" eaLnBrk="0">
              <a:lnSpc>
                <a:spcPct val="121000"/>
              </a:lnSpc>
              <a:spcBef>
                <a:spcPts val="63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计数器小于5,往下执行。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否，执行2.8;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0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电动机正传30秒；</a:t>
            </a:r>
            <a:endParaRPr sz="2000" dirty="0">
              <a:latin typeface="KaiTi"/>
              <a:ea typeface="KaiTi"/>
              <a:cs typeface="KaiTi"/>
            </a:endParaRPr>
          </a:p>
          <a:p>
            <a:pPr marL="43815" algn="l" rtl="0" eaLnBrk="0">
              <a:lnSpc>
                <a:spcPts val="2354"/>
              </a:lnSpc>
              <a:spcBef>
                <a:spcPts val="531"/>
              </a:spcBef>
              <a:tabLst/>
            </a:pPr>
            <a:r>
              <a:rPr sz="1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电动机停2秒；</a:t>
            </a:r>
            <a:endParaRPr sz="1900" dirty="0">
              <a:latin typeface="KaiTi"/>
              <a:ea typeface="KaiTi"/>
              <a:cs typeface="KaiTi"/>
            </a:endParaRPr>
          </a:p>
          <a:p>
            <a:pPr marL="43815" algn="l" rtl="0" eaLnBrk="0">
              <a:lnSpc>
                <a:spcPts val="2354"/>
              </a:lnSpc>
              <a:spcBef>
                <a:spcPts val="496"/>
              </a:spcBef>
              <a:tabLst/>
            </a:pPr>
            <a:r>
              <a:rPr sz="19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电动机反转30秒；</a:t>
            </a:r>
            <a:endParaRPr sz="1900" dirty="0">
              <a:latin typeface="KaiTi"/>
              <a:ea typeface="KaiTi"/>
              <a:cs typeface="KaiTi"/>
            </a:endParaRPr>
          </a:p>
          <a:p>
            <a:pPr marL="43815" algn="l" rtl="0" eaLnBrk="0">
              <a:lnSpc>
                <a:spcPts val="2354"/>
              </a:lnSpc>
              <a:spcBef>
                <a:spcPts val="545"/>
              </a:spcBef>
              <a:tabLst/>
            </a:pPr>
            <a:r>
              <a:rPr sz="1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电动机停2秒；</a:t>
            </a:r>
            <a:endParaRPr sz="1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6000"/>
              </a:lnSpc>
              <a:spcBef>
                <a:spcPts val="470"/>
              </a:spcBef>
              <a:tabLst/>
            </a:pP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计数器加1,跳转2.2执行；</a:t>
            </a:r>
            <a:endParaRPr sz="20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2302"/>
              </a:lnSpc>
              <a:spcBef>
                <a:spcPts val="567"/>
              </a:spcBef>
              <a:tabLst/>
            </a:pPr>
            <a:r>
              <a:rPr sz="1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洗涤结束。</a:t>
            </a:r>
            <a:endParaRPr sz="1900" dirty="0">
              <a:latin typeface="KaiTi"/>
              <a:ea typeface="KaiTi"/>
              <a:cs typeface="KaiTi"/>
            </a:endParaRPr>
          </a:p>
        </p:txBody>
      </p:sp>
      <p:sp>
        <p:nvSpPr>
          <p:cNvPr id="174" name="rect 174"/>
          <p:cNvSpPr/>
          <p:nvPr/>
        </p:nvSpPr>
        <p:spPr>
          <a:xfrm>
            <a:off x="5084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" name="textbox 176"/>
          <p:cNvSpPr/>
          <p:nvPr/>
        </p:nvSpPr>
        <p:spPr>
          <a:xfrm>
            <a:off x="5425900" y="1071708"/>
            <a:ext cx="1653539" cy="4845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23215" algn="l" rtl="0" eaLnBrk="0">
              <a:lnSpc>
                <a:spcPct val="96000"/>
              </a:lnSpc>
              <a:tabLst/>
            </a:pPr>
            <a:r>
              <a:rPr sz="17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洗涤开始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ct val="95000"/>
              </a:lnSpc>
              <a:spcBef>
                <a:spcPts val="515"/>
              </a:spcBef>
              <a:tabLst/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计数器清零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spcBef>
                <a:spcPts val="453"/>
              </a:spcBef>
              <a:tabLst/>
            </a:pPr>
            <a:r>
              <a:rPr sz="1500" b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否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323850" algn="l" rtl="0" eaLnBrk="0">
              <a:lnSpc>
                <a:spcPct val="92000"/>
              </a:lnSpc>
              <a:spcBef>
                <a:spcPts val="9"/>
              </a:spcBef>
              <a:tabLst/>
            </a:pPr>
            <a:r>
              <a:rPr sz="1900" b="1" kern="0" spc="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计数&lt;5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469265" algn="l" rtl="0" eaLnBrk="0">
              <a:lnSpc>
                <a:spcPct val="96000"/>
              </a:lnSpc>
              <a:spcBef>
                <a:spcPts val="901"/>
              </a:spcBef>
              <a:tabLst/>
            </a:pP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398"/>
              </a:spcBef>
              <a:tabLst/>
            </a:pP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电动机正转30秒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9900" algn="l" rtl="0" eaLnBrk="0">
              <a:lnSpc>
                <a:spcPct val="96000"/>
              </a:lnSpc>
              <a:spcBef>
                <a:spcPts val="515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停2秒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580"/>
              </a:spcBef>
              <a:tabLst/>
            </a:pPr>
            <a:r>
              <a:rPr sz="17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电动机反转30秒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69900" algn="l" rtl="0" eaLnBrk="0">
              <a:lnSpc>
                <a:spcPct val="96000"/>
              </a:lnSpc>
              <a:spcBef>
                <a:spcPts val="516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停2秒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700" algn="l" rtl="0" eaLnBrk="0">
              <a:lnSpc>
                <a:spcPct val="96000"/>
              </a:lnSpc>
              <a:spcBef>
                <a:spcPts val="512"/>
              </a:spcBef>
              <a:tabLst/>
            </a:pP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计数器加1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23215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7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洗涤结束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8597899" y="1941120"/>
            <a:ext cx="2184400" cy="2920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i=0</a:t>
            </a:r>
            <a:endParaRPr sz="20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80000"/>
              </a:lnSpc>
              <a:spcBef>
                <a:spcPts val="1179"/>
              </a:spcBef>
              <a:tabLst/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WHILE</a:t>
            </a:r>
            <a:r>
              <a:rPr sz="2400" kern="0" spc="5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24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&lt;5</a:t>
            </a:r>
            <a:endParaRPr sz="24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89000"/>
              </a:lnSpc>
              <a:spcBef>
                <a:spcPts val="858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电动机正转30秒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3400"/>
              </a:lnSpc>
              <a:tabLst/>
            </a:pPr>
            <a:r>
              <a:rPr sz="2400" kern="0" spc="2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停2秒</a:t>
            </a:r>
            <a:endParaRPr sz="2400" dirty="0">
              <a:latin typeface="KaiTi"/>
              <a:ea typeface="KaiTi"/>
              <a:cs typeface="KaiTi"/>
            </a:endParaRPr>
          </a:p>
          <a:p>
            <a:pPr algn="r" rtl="0" eaLnBrk="0">
              <a:lnSpc>
                <a:spcPct val="89000"/>
              </a:lnSpc>
              <a:spcBef>
                <a:spcPts val="937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电动机反转30秒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3500"/>
              </a:lnSpc>
              <a:tabLst/>
            </a:pPr>
            <a:r>
              <a:rPr sz="2400" kern="0" spc="2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停2秒</a:t>
            </a:r>
            <a:endParaRPr sz="24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i=i+1</a:t>
            </a:r>
            <a:endParaRPr sz="22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picture 1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84" name="textbox 184"/>
          <p:cNvSpPr/>
          <p:nvPr/>
        </p:nvSpPr>
        <p:spPr>
          <a:xfrm>
            <a:off x="4590999" y="2591145"/>
            <a:ext cx="6388734" cy="2148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539750" algn="l" rtl="0" eaLnBrk="0">
              <a:lnSpc>
                <a:spcPct val="96000"/>
              </a:lnSpc>
              <a:tabLst/>
            </a:pPr>
            <a:r>
              <a:rPr sz="2900" kern="0" spc="-1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自然语言描述的算法更容易看懂，但</a:t>
            </a:r>
            <a:r>
              <a:rPr sz="29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是文字比较多，看起来费劲；流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程图描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述的算法直观简洁，但要正确使用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框图；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伪代码比较简短，但要有一定的英文基</a:t>
            </a:r>
            <a:r>
              <a:rPr sz="29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础，各有各的好处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186" name="rect 186"/>
          <p:cNvSpPr/>
          <p:nvPr/>
        </p:nvSpPr>
        <p:spPr>
          <a:xfrm>
            <a:off x="38160" y="0"/>
            <a:ext cx="12128479" cy="844563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88" name="picture 1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854159" y="1587489"/>
            <a:ext cx="1416100" cy="4108490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picture 1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194" name="table 194"/>
          <p:cNvGraphicFramePr>
            <a:graphicFrameLocks noGrp="1"/>
          </p:cNvGraphicFramePr>
          <p:nvPr/>
        </p:nvGraphicFramePr>
        <p:xfrm>
          <a:off x="638124" y="2028850"/>
          <a:ext cx="7461250" cy="3898264"/>
        </p:xfrm>
        <a:graphic>
          <a:graphicData uri="http://schemas.openxmlformats.org/drawingml/2006/table">
            <a:tbl>
              <a:tblPr/>
              <a:tblGrid>
                <a:gridCol w="2244725"/>
                <a:gridCol w="1790700"/>
                <a:gridCol w="3425825"/>
              </a:tblGrid>
              <a:tr h="6635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72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5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算法描述方式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2294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5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优势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5094" algn="l" rtl="0" eaLnBrk="0">
                        <a:lnSpc>
                          <a:spcPct val="9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5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不足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577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自然语言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79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5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通俗易懂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009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容易产生歧义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88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452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流程图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79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2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结构清晰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7795" algn="l" rtl="0" eaLnBrk="0">
                        <a:lnSpc>
                          <a:spcPts val="3089"/>
                        </a:lnSpc>
                        <a:tabLst/>
                      </a:pPr>
                      <a:r>
                        <a:rPr sz="25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寓意明确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3209" indent="-158114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情况复杂时，过多的流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2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程线影响算法的理解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9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4525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伪代码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795" algn="l" rtl="0" eaLnBrk="0">
                        <a:lnSpc>
                          <a:spcPct val="83000"/>
                        </a:lnSpc>
                        <a:tabLst/>
                      </a:pPr>
                      <a:r>
                        <a:rPr sz="2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直观简洁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37795" algn="l" rtl="0" eaLnBrk="0">
                        <a:lnSpc>
                          <a:spcPts val="3273"/>
                        </a:lnSpc>
                        <a:tabLst/>
                      </a:pPr>
                      <a:r>
                        <a:rPr sz="2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写法灵活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3894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2500" b="1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错误不易排查，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  <a:p>
                      <a:pPr marL="125095" algn="l" rtl="0" eaLnBrk="0">
                        <a:lnSpc>
                          <a:spcPct val="94000"/>
                        </a:lnSpc>
                        <a:spcBef>
                          <a:spcPts val="173"/>
                        </a:spcBef>
                        <a:tabLst/>
                      </a:pPr>
                      <a:r>
                        <a:rPr sz="2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计算机无法理解和执行</a:t>
                      </a:r>
                      <a:endParaRPr sz="25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6" name="rect 196"/>
          <p:cNvSpPr/>
          <p:nvPr/>
        </p:nvSpPr>
        <p:spPr>
          <a:xfrm>
            <a:off x="57180" y="6377"/>
            <a:ext cx="12109459" cy="844494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8" name="textbox 198"/>
          <p:cNvSpPr/>
          <p:nvPr/>
        </p:nvSpPr>
        <p:spPr>
          <a:xfrm>
            <a:off x="2685999" y="952342"/>
            <a:ext cx="3453765" cy="462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算法描述方式的比较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04" name="textbox 204"/>
          <p:cNvSpPr/>
          <p:nvPr/>
        </p:nvSpPr>
        <p:spPr>
          <a:xfrm>
            <a:off x="311119" y="953866"/>
            <a:ext cx="8350250" cy="4653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82365" algn="l" rtl="0" eaLnBrk="0">
              <a:lnSpc>
                <a:spcPct val="96000"/>
              </a:lnSpc>
              <a:tabLst/>
            </a:pPr>
            <a:r>
              <a:rPr sz="30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活动一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" indent="443865" algn="l" rtl="0" eaLnBrk="0">
              <a:lnSpc>
                <a:spcPct val="95000"/>
              </a:lnSpc>
              <a:spcBef>
                <a:spcPts val="873"/>
              </a:spcBef>
              <a:tabLst/>
            </a:pP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有些洗衣机会根据投入衣物的重量来自动设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 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定水位，其算法用自然</a:t>
            </a:r>
            <a:r>
              <a:rPr sz="29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语言可描述如下：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6000"/>
              </a:lnSpc>
              <a:spcBef>
                <a:spcPts val="1455"/>
              </a:spcBef>
              <a:tabLst/>
            </a:pPr>
            <a:r>
              <a:rPr sz="2900" kern="0" spc="-2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如果衣物重量属于范围1,则设定为第一挡水量；</a:t>
            </a:r>
            <a:endParaRPr sz="2900" dirty="0">
              <a:latin typeface="KaiTi"/>
              <a:ea typeface="KaiTi"/>
              <a:cs typeface="KaiTi"/>
            </a:endParaRPr>
          </a:p>
          <a:p>
            <a:pPr marL="31750" algn="l" rtl="0" eaLnBrk="0">
              <a:lnSpc>
                <a:spcPct val="95000"/>
              </a:lnSpc>
              <a:spcBef>
                <a:spcPts val="698"/>
              </a:spcBef>
              <a:tabLst/>
            </a:pPr>
            <a:r>
              <a:rPr sz="2900" kern="0" spc="-2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否则，如果衣物重量属于范围2,则设定为第二挡水量；</a:t>
            </a:r>
            <a:endParaRPr sz="2900" dirty="0">
              <a:latin typeface="KaiTi"/>
              <a:ea typeface="KaiTi"/>
              <a:cs typeface="KaiTi"/>
            </a:endParaRPr>
          </a:p>
          <a:p>
            <a:pPr marL="31750" algn="l" rtl="0" eaLnBrk="0">
              <a:lnSpc>
                <a:spcPct val="113000"/>
              </a:lnSpc>
              <a:spcBef>
                <a:spcPts val="186"/>
              </a:spcBef>
              <a:tabLst/>
            </a:pPr>
            <a:r>
              <a:rPr sz="2900" kern="0" spc="-1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否则，如果衣物重量属于范围</a:t>
            </a:r>
            <a:r>
              <a:rPr sz="2900" kern="0" spc="-1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3,则设定为第三挡水量；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否则，报警提示衣物超重</a:t>
            </a:r>
            <a:r>
              <a:rPr sz="2900" kern="0" spc="-1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。</a:t>
            </a:r>
            <a:endParaRPr sz="2900" dirty="0">
              <a:latin typeface="KaiTi"/>
              <a:ea typeface="KaiTi"/>
              <a:cs typeface="KaiTi"/>
            </a:endParaRPr>
          </a:p>
          <a:p>
            <a:pPr marL="488950" algn="l" rtl="0" eaLnBrk="0">
              <a:lnSpc>
                <a:spcPct val="96000"/>
              </a:lnSpc>
              <a:spcBef>
                <a:spcPts val="701"/>
              </a:spcBef>
              <a:tabLst/>
            </a:pPr>
            <a:r>
              <a:rPr sz="2900" kern="0" spc="-2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请同学们补全下面流程</a:t>
            </a:r>
            <a:r>
              <a:rPr sz="2900" kern="0" spc="-2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图。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206" name="rect 206"/>
          <p:cNvSpPr/>
          <p:nvPr/>
        </p:nvSpPr>
        <p:spPr>
          <a:xfrm>
            <a:off x="5718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8" name="textbox 20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 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12" name="textbox 212"/>
          <p:cNvSpPr/>
          <p:nvPr/>
        </p:nvSpPr>
        <p:spPr>
          <a:xfrm>
            <a:off x="2622600" y="1022225"/>
            <a:ext cx="4246245" cy="1024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6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30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自动设定水位流程图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否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1028740" y="1102878"/>
            <a:ext cx="1099819" cy="18389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98000"/>
              </a:lnSpc>
              <a:tabLst/>
            </a:pPr>
            <a:r>
              <a:rPr sz="17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开始</a:t>
            </a:r>
            <a:endParaRPr sz="17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064" algn="l" rtl="0" eaLnBrk="0">
              <a:lnSpc>
                <a:spcPct val="86000"/>
              </a:lnSpc>
              <a:spcBef>
                <a:spcPts val="452"/>
              </a:spcBef>
              <a:tabLst/>
            </a:pP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衣物重量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145414" algn="l" rtl="0" eaLnBrk="0">
              <a:lnSpc>
                <a:spcPts val="1836"/>
              </a:lnSpc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属于范围</a:t>
            </a:r>
            <a:endParaRPr sz="1400" dirty="0">
              <a:latin typeface="SimSun"/>
              <a:ea typeface="SimSun"/>
              <a:cs typeface="SimSun"/>
            </a:endParaRPr>
          </a:p>
          <a:p>
            <a:pPr marL="367665" algn="l" rtl="0" eaLnBrk="0">
              <a:lnSpc>
                <a:spcPts val="886"/>
              </a:lnSpc>
              <a:spcBef>
                <a:spcPts val="404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1?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70814" algn="l" rtl="0" eaLnBrk="0">
              <a:lnSpc>
                <a:spcPts val="2465"/>
              </a:lnSpc>
              <a:tabLst/>
            </a:pPr>
            <a:r>
              <a:rPr sz="19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endParaRPr sz="19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设定为第一档水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6235700" y="3107478"/>
            <a:ext cx="1063625" cy="184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否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23215" algn="l" rtl="0" eaLnBrk="0">
              <a:lnSpc>
                <a:spcPct val="83000"/>
              </a:lnSpc>
              <a:spcBef>
                <a:spcPts val="423"/>
              </a:spcBef>
              <a:tabLst/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衣物重量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ts val="2394"/>
              </a:lnSpc>
              <a:tabLst/>
            </a:pP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超出容量?</a:t>
            </a:r>
            <a:endParaRPr sz="1400" dirty="0">
              <a:latin typeface="SimSun"/>
              <a:ea typeface="SimSun"/>
              <a:cs typeface="SimSun"/>
            </a:endParaRPr>
          </a:p>
          <a:p>
            <a:pPr marL="438150" algn="l" rtl="0" eaLnBrk="0">
              <a:lnSpc>
                <a:spcPct val="83000"/>
              </a:lnSpc>
              <a:spcBef>
                <a:spcPts val="978"/>
              </a:spcBef>
              <a:tabLst/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endParaRPr sz="2200" dirty="0">
              <a:latin typeface="SimSun"/>
              <a:ea typeface="SimSun"/>
              <a:cs typeface="SimSun"/>
            </a:endParaRPr>
          </a:p>
          <a:p>
            <a:pPr marL="412115" algn="l" rtl="0" eaLnBrk="0">
              <a:lnSpc>
                <a:spcPts val="2584"/>
              </a:lnSpc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报警</a:t>
            </a:r>
            <a:endParaRPr sz="1600" dirty="0">
              <a:latin typeface="SimSun"/>
              <a:ea typeface="SimSun"/>
              <a:cs typeface="SimSun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2762199" y="2478664"/>
            <a:ext cx="116522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0" algn="l" rtl="0" eaLnBrk="0">
              <a:lnSpc>
                <a:spcPct val="95000"/>
              </a:lnSpc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衣物重量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r" rtl="0" eaLnBrk="0">
              <a:lnSpc>
                <a:spcPct val="95000"/>
              </a:lnSpc>
              <a:spcBef>
                <a:spcPts val="643"/>
              </a:spcBef>
              <a:tabLst/>
            </a:pP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属于范围2?</a:t>
            </a:r>
            <a:endParaRPr sz="1400" dirty="0">
              <a:latin typeface="SimSun"/>
              <a:ea typeface="SimSun"/>
              <a:cs typeface="SimSun"/>
            </a:endParaRPr>
          </a:p>
          <a:p>
            <a:pPr marL="234950" algn="l" rtl="0" eaLnBrk="0">
              <a:lnSpc>
                <a:spcPct val="99000"/>
              </a:lnSpc>
              <a:spcBef>
                <a:spcPts val="1287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66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设定为第二档水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4603800" y="3094649"/>
            <a:ext cx="1099819" cy="1060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0964" algn="l" rtl="0" eaLnBrk="0">
              <a:lnSpc>
                <a:spcPct val="95000"/>
              </a:lnSpc>
              <a:tabLst/>
            </a:pP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衣物重量</a:t>
            </a:r>
            <a:endParaRPr sz="1400" dirty="0">
              <a:latin typeface="SimSun"/>
              <a:ea typeface="SimSun"/>
              <a:cs typeface="SimSun"/>
            </a:endParaRPr>
          </a:p>
          <a:p>
            <a:pPr marL="113664" algn="l" rtl="0" eaLnBrk="0">
              <a:lnSpc>
                <a:spcPct val="95000"/>
              </a:lnSpc>
              <a:spcBef>
                <a:spcPts val="643"/>
              </a:spcBef>
              <a:tabLst/>
            </a:pPr>
            <a:r>
              <a:rPr sz="14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属于范围3?</a:t>
            </a:r>
            <a:endParaRPr sz="1400" dirty="0">
              <a:latin typeface="SimSun"/>
              <a:ea typeface="SimSun"/>
              <a:cs typeface="SimSun"/>
            </a:endParaRPr>
          </a:p>
          <a:p>
            <a:pPr marL="189864" algn="l" rtl="0" eaLnBrk="0">
              <a:lnSpc>
                <a:spcPct val="99000"/>
              </a:lnSpc>
              <a:spcBef>
                <a:spcPts val="1137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是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12700" algn="l" rtl="0" eaLnBrk="0">
              <a:lnSpc>
                <a:spcPct val="95000"/>
              </a:lnSpc>
              <a:spcBef>
                <a:spcPts val="17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设定为第三档水</a:t>
            </a:r>
            <a:endParaRPr sz="1200" dirty="0">
              <a:latin typeface="SimSun"/>
              <a:ea typeface="SimSun"/>
              <a:cs typeface="SimSun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3409960" y="5931684"/>
            <a:ext cx="390525" cy="227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结束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7848580" y="3705492"/>
            <a:ext cx="205104" cy="274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61"/>
              </a:lnSpc>
              <a:tabLst/>
            </a:pP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否</a:t>
            </a:r>
            <a:endParaRPr sz="1500" dirty="0">
              <a:latin typeface="SimSun"/>
              <a:ea typeface="SimSun"/>
              <a:cs typeface="SimSun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4521260" y="2497871"/>
            <a:ext cx="208915" cy="249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否</a:t>
            </a:r>
            <a:endParaRPr sz="15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picture 2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32" name="textbox 232"/>
          <p:cNvSpPr/>
          <p:nvPr/>
        </p:nvSpPr>
        <p:spPr>
          <a:xfrm>
            <a:off x="584220" y="1168310"/>
            <a:ext cx="5127625" cy="4618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6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96000"/>
              </a:lnSpc>
              <a:tabLst/>
            </a:pPr>
            <a:r>
              <a:rPr sz="2900" kern="0" spc="-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请同学们补全下面伪代码?</a:t>
            </a:r>
            <a:endParaRPr sz="29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9000"/>
              </a:lnSpc>
              <a:spcBef>
                <a:spcPts val="879"/>
              </a:spcBef>
              <a:tabLst/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IF</a:t>
            </a:r>
            <a:r>
              <a:rPr sz="2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衣物重量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    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范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围</a:t>
            </a:r>
            <a:r>
              <a:rPr sz="2900" kern="0" spc="-48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1</a:t>
            </a:r>
            <a:endParaRPr sz="2900" dirty="0">
              <a:latin typeface="KaiTi"/>
              <a:ea typeface="KaiTi"/>
              <a:cs typeface="KaiTi"/>
            </a:endParaRPr>
          </a:p>
          <a:p>
            <a:pPr marL="768350" algn="l" rtl="0" eaLnBrk="0">
              <a:lnSpc>
                <a:spcPct val="89000"/>
              </a:lnSpc>
              <a:spcBef>
                <a:spcPts val="168"/>
              </a:spcBef>
              <a:tabLst/>
            </a:pP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设定</a:t>
            </a:r>
            <a:r>
              <a:rPr sz="2900" kern="0" spc="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水位=第一档水量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86000"/>
              </a:lnSpc>
              <a:spcBef>
                <a:spcPts val="16"/>
              </a:spcBef>
              <a:tabLst/>
            </a:pP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EISEIF</a:t>
            </a:r>
            <a:r>
              <a:rPr sz="2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29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衣物重量</a:t>
            </a:r>
            <a:r>
              <a:rPr sz="2900" kern="0" spc="12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</a:t>
            </a:r>
            <a:r>
              <a:rPr sz="29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2900" kern="0" spc="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范围2</a:t>
            </a:r>
            <a:endParaRPr sz="2900" dirty="0">
              <a:latin typeface="KaiTi"/>
              <a:ea typeface="KaiTi"/>
              <a:cs typeface="KaiTi"/>
            </a:endParaRPr>
          </a:p>
          <a:p>
            <a:pPr marL="768350" algn="l" rtl="0" eaLnBrk="0">
              <a:lnSpc>
                <a:spcPct val="86000"/>
              </a:lnSpc>
              <a:spcBef>
                <a:spcPts val="18"/>
              </a:spcBef>
              <a:tabLst/>
            </a:pP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设定</a:t>
            </a:r>
            <a:r>
              <a:rPr sz="2900" kern="0" spc="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水位=第二档水量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ts val="4139"/>
              </a:lnSpc>
              <a:tabLst/>
            </a:pP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EISEIF</a:t>
            </a:r>
            <a:r>
              <a:rPr sz="2900" kern="0" spc="2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衣物重量</a:t>
            </a:r>
            <a:r>
              <a:rPr sz="2900" kern="0" spc="3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IN      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范围3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indent="736600" algn="l" rtl="0" eaLnBrk="0">
              <a:lnSpc>
                <a:spcPct val="102000"/>
              </a:lnSpc>
              <a:spcBef>
                <a:spcPts val="5"/>
              </a:spcBef>
              <a:tabLst/>
            </a:pPr>
            <a:r>
              <a:rPr sz="29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设定</a:t>
            </a:r>
            <a:r>
              <a:rPr sz="29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</a:t>
            </a:r>
            <a:r>
              <a:rPr sz="29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水位=第三档水</a:t>
            </a:r>
            <a:r>
              <a:rPr sz="29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量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900" kern="0" spc="-6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ELSE     </a:t>
            </a:r>
            <a:r>
              <a:rPr sz="29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报警提示</a:t>
            </a:r>
            <a:r>
              <a:rPr sz="2900" kern="0" spc="-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衣物超重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76000"/>
              </a:lnSpc>
              <a:spcBef>
                <a:spcPts val="131"/>
              </a:spcBef>
              <a:tabLst/>
            </a:pPr>
            <a:r>
              <a:rPr sz="2900" kern="0" spc="-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END   IF</a:t>
            </a:r>
            <a:endParaRPr sz="29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34" name="rect 234"/>
          <p:cNvSpPr/>
          <p:nvPr/>
        </p:nvSpPr>
        <p:spPr>
          <a:xfrm>
            <a:off x="57180" y="0"/>
            <a:ext cx="12115800" cy="844563"/>
          </a:xfrm>
          <a:prstGeom prst="rect">
            <a:avLst/>
          </a:prstGeom>
          <a:solidFill>
            <a:srgbClr val="37544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" name="textbox 23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2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40" name="rect 240"/>
          <p:cNvSpPr/>
          <p:nvPr/>
        </p:nvSpPr>
        <p:spPr>
          <a:xfrm>
            <a:off x="57180" y="0"/>
            <a:ext cx="12115800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" name="textbox 242"/>
          <p:cNvSpPr/>
          <p:nvPr/>
        </p:nvSpPr>
        <p:spPr>
          <a:xfrm>
            <a:off x="1111280" y="2968327"/>
            <a:ext cx="2925445" cy="1497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使用流程图来描</a:t>
            </a:r>
            <a:endParaRPr sz="2900" dirty="0">
              <a:latin typeface="KaiTi"/>
              <a:ea typeface="KaiTi"/>
              <a:cs typeface="KaiTi"/>
            </a:endParaRPr>
          </a:p>
          <a:p>
            <a:pPr marL="31115" indent="-18415" algn="l" rtl="0" eaLnBrk="0">
              <a:lnSpc>
                <a:spcPct val="123000"/>
              </a:lnSpc>
              <a:spcBef>
                <a:spcPts val="8"/>
              </a:spcBef>
              <a:tabLst/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述医院“自助挂号</a:t>
            </a:r>
            <a:r>
              <a:rPr sz="2900" kern="0" spc="-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900" kern="0" spc="1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算法”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246" name="textbox 246"/>
          <p:cNvSpPr/>
          <p:nvPr/>
        </p:nvSpPr>
        <p:spPr>
          <a:xfrm>
            <a:off x="3981399" y="953866"/>
            <a:ext cx="1165860" cy="46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活动二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5842020" y="4004522"/>
            <a:ext cx="514350" cy="149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0"/>
              </a:lnSpc>
              <a:tabLst/>
            </a:pP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预约挂号</a:t>
            </a:r>
            <a:endParaRPr sz="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2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952540" y="1232804"/>
            <a:ext cx="7076440" cy="3404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44550" algn="l" rtl="0" eaLnBrk="0">
              <a:lnSpc>
                <a:spcPts val="3384"/>
              </a:lnSpc>
              <a:tabLst/>
            </a:pPr>
            <a:r>
              <a:rPr sz="2700" kern="0" spc="-20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自然语言描述：</a:t>
            </a:r>
            <a:endParaRPr sz="2700" dirty="0">
              <a:latin typeface="KaiTi"/>
              <a:ea typeface="KaiTi"/>
              <a:cs typeface="KaiT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882"/>
              </a:spcBef>
              <a:tabLst/>
            </a:pP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(1)进入登录界面，选用本人有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效证件登录。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5000"/>
              </a:lnSpc>
              <a:spcBef>
                <a:spcPts val="44"/>
              </a:spcBef>
              <a:tabLst/>
            </a:pP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(2)进入挂号分类界面，选择要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挂号的科室。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4000"/>
              </a:lnSpc>
              <a:spcBef>
                <a:spcPts val="150"/>
              </a:spcBef>
              <a:tabLst/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(3)选择该科室当日门诊的某位医生。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7000"/>
              </a:lnSpc>
              <a:spcBef>
                <a:spcPts val="14"/>
              </a:spcBef>
              <a:tabLst/>
            </a:pP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(4)依据提示完成缴费。</a:t>
            </a:r>
            <a:endParaRPr sz="2900" dirty="0">
              <a:latin typeface="KaiTi"/>
              <a:ea typeface="KaiTi"/>
              <a:cs typeface="KaiTi"/>
            </a:endParaRPr>
          </a:p>
          <a:p>
            <a:pPr marL="12700" algn="l" rtl="0" eaLnBrk="0">
              <a:lnSpc>
                <a:spcPct val="96000"/>
              </a:lnSpc>
              <a:spcBef>
                <a:spcPts val="45"/>
              </a:spcBef>
              <a:tabLst/>
            </a:pP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(5)领取机器打印的挂号就诊单。</a:t>
            </a:r>
            <a:endParaRPr sz="2900" dirty="0">
              <a:latin typeface="KaiTi"/>
              <a:ea typeface="KaiTi"/>
              <a:cs typeface="KaiTi"/>
            </a:endParaRPr>
          </a:p>
        </p:txBody>
      </p:sp>
      <p:sp>
        <p:nvSpPr>
          <p:cNvPr id="254" name="rect 254"/>
          <p:cNvSpPr/>
          <p:nvPr/>
        </p:nvSpPr>
        <p:spPr>
          <a:xfrm>
            <a:off x="25359" y="6377"/>
            <a:ext cx="12141280" cy="838185"/>
          </a:xfrm>
          <a:prstGeom prst="rect">
            <a:avLst/>
          </a:prstGeom>
          <a:solidFill>
            <a:srgbClr val="36533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56" name="textbox 256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picture 2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60" name="textbox 260"/>
          <p:cNvSpPr/>
          <p:nvPr/>
        </p:nvSpPr>
        <p:spPr>
          <a:xfrm>
            <a:off x="336600" y="1606851"/>
            <a:ext cx="4689475" cy="2943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6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52400" algn="l" rtl="0" eaLnBrk="0">
              <a:lnSpc>
                <a:spcPct val="99000"/>
              </a:lnSpc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(1)</a:t>
            </a:r>
            <a:r>
              <a:rPr sz="2400" kern="0" spc="3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进入登录界面，选用</a:t>
            </a:r>
            <a:r>
              <a:rPr sz="2400" kern="0" spc="-5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本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    </a:t>
            </a: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人有效证件登录。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2700" indent="152400" algn="l" rtl="0" eaLnBrk="0">
              <a:lnSpc>
                <a:spcPct val="99000"/>
              </a:lnSpc>
              <a:spcBef>
                <a:spcPts val="98"/>
              </a:spcBef>
              <a:tabLst/>
            </a:pP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(2)进入挂号分类界面</a:t>
            </a:r>
            <a:r>
              <a:rPr sz="2400" kern="0" spc="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，选择要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挂号的科室。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31115" indent="133350" algn="l" rtl="0" eaLnBrk="0">
              <a:lnSpc>
                <a:spcPct val="99000"/>
              </a:lnSpc>
              <a:spcBef>
                <a:spcPts val="41"/>
              </a:spcBef>
              <a:tabLst/>
            </a:pPr>
            <a:r>
              <a:rPr sz="2400" kern="0" spc="7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(3)选择该科室当日门诊的某位</a:t>
            </a: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 </a:t>
            </a: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医生。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65100" algn="l" rtl="0" eaLnBrk="0">
              <a:lnSpc>
                <a:spcPct val="99000"/>
              </a:lnSpc>
              <a:spcBef>
                <a:spcPts val="6"/>
              </a:spcBef>
              <a:tabLst/>
            </a:pPr>
            <a:r>
              <a:rPr sz="2400" kern="0" spc="-4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(4)依据提示完成缴费。</a:t>
            </a:r>
            <a:endParaRPr sz="2400" dirty="0">
              <a:latin typeface="KaiTi"/>
              <a:ea typeface="KaiTi"/>
              <a:cs typeface="KaiTi"/>
            </a:endParaRPr>
          </a:p>
          <a:p>
            <a:pPr marL="165100" algn="l" rtl="0" eaLnBrk="0">
              <a:lnSpc>
                <a:spcPct val="98000"/>
              </a:lnSpc>
              <a:spcBef>
                <a:spcPts val="82"/>
              </a:spcBef>
              <a:tabLst/>
            </a:pPr>
            <a:r>
              <a:rPr sz="24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(5)领取机器打印的挂号就诊单。</a:t>
            </a:r>
            <a:endParaRPr sz="2400" dirty="0">
              <a:latin typeface="KaiTi"/>
              <a:ea typeface="KaiTi"/>
              <a:cs typeface="KaiTi"/>
            </a:endParaRPr>
          </a:p>
        </p:txBody>
      </p:sp>
      <p:sp>
        <p:nvSpPr>
          <p:cNvPr id="262" name="rect 262"/>
          <p:cNvSpPr/>
          <p:nvPr/>
        </p:nvSpPr>
        <p:spPr>
          <a:xfrm>
            <a:off x="50840" y="0"/>
            <a:ext cx="12122139" cy="850872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 rot="21600000">
            <a:off x="6102339" y="977882"/>
            <a:ext cx="1587520" cy="5257822"/>
            <a:chOff x="0" y="0"/>
            <a:chExt cx="1587520" cy="5257822"/>
          </a:xfrm>
        </p:grpSpPr>
        <p:pic>
          <p:nvPicPr>
            <p:cNvPr id="264" name="picture 26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587520" cy="5257822"/>
            </a:xfrm>
            <a:prstGeom prst="rect">
              <a:avLst/>
            </a:prstGeom>
          </p:spPr>
        </p:pic>
        <p:sp>
          <p:nvSpPr>
            <p:cNvPr id="266" name="textbox 266"/>
            <p:cNvSpPr/>
            <p:nvPr/>
          </p:nvSpPr>
          <p:spPr>
            <a:xfrm>
              <a:off x="-12700" y="-12700"/>
              <a:ext cx="1613535" cy="53193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405765" algn="l" rtl="0" eaLnBrk="0">
                <a:lnSpc>
                  <a:spcPct val="97000"/>
                </a:lnSpc>
                <a:spcBef>
                  <a:spcPts val="2"/>
                </a:spcBef>
                <a:tabLst/>
              </a:pPr>
              <a:r>
                <a:rPr sz="2000" kern="0" spc="-5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开始挂号</a:t>
              </a:r>
              <a:endParaRPr sz="20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51815" algn="l" rtl="0" eaLnBrk="0">
                <a:lnSpc>
                  <a:spcPct val="98000"/>
                </a:lnSpc>
                <a:spcBef>
                  <a:spcPts val="610"/>
                </a:spcBef>
                <a:tabLst/>
              </a:pP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登录</a:t>
              </a:r>
              <a:endParaRPr sz="20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9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8450" algn="l" rtl="0" eaLnBrk="0">
                <a:lnSpc>
                  <a:spcPct val="98000"/>
                </a:lnSpc>
                <a:spcBef>
                  <a:spcPts val="609"/>
                </a:spcBef>
                <a:tabLst/>
              </a:pP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选择科室</a:t>
              </a:r>
              <a:endParaRPr sz="20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8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98450" algn="l" rtl="0" eaLnBrk="0">
                <a:lnSpc>
                  <a:spcPct val="98000"/>
                </a:lnSpc>
                <a:spcBef>
                  <a:spcPts val="602"/>
                </a:spcBef>
                <a:tabLst/>
              </a:pPr>
              <a:r>
                <a:rPr sz="2000" kern="0" spc="-2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选择医生</a:t>
              </a:r>
              <a:endParaRPr sz="20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58165" algn="l" rtl="0" eaLnBrk="0">
                <a:lnSpc>
                  <a:spcPct val="97000"/>
                </a:lnSpc>
                <a:spcBef>
                  <a:spcPts val="605"/>
                </a:spcBef>
                <a:tabLst/>
              </a:pP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缴费</a:t>
              </a:r>
              <a:endParaRPr sz="20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2400" algn="l" rtl="0" eaLnBrk="0">
                <a:lnSpc>
                  <a:spcPct val="97000"/>
                </a:lnSpc>
                <a:spcBef>
                  <a:spcPts val="602"/>
                </a:spcBef>
                <a:tabLst/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领取就诊单</a:t>
              </a:r>
              <a:endParaRPr sz="20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9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8615" algn="l" rtl="0" eaLnBrk="0">
                <a:lnSpc>
                  <a:spcPct val="96000"/>
                </a:lnSpc>
                <a:spcBef>
                  <a:spcPts val="609"/>
                </a:spcBef>
                <a:tabLst/>
              </a:pPr>
              <a:r>
                <a:rPr sz="2000" kern="0" spc="-30" dirty="0">
                  <a:solidFill>
                    <a:srgbClr val="00000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挂号结束</a:t>
              </a:r>
              <a:endParaRPr sz="2000" dirty="0">
                <a:latin typeface="KaiTi"/>
                <a:ea typeface="KaiTi"/>
                <a:cs typeface="KaiTi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96875" algn="l" rtl="0" eaLnBrk="0">
                <a:lnSpc>
                  <a:spcPct val="99000"/>
                </a:lnSpc>
                <a:spcBef>
                  <a:spcPts val="1"/>
                </a:spcBef>
                <a:tabLst/>
              </a:pP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流程图</a:t>
              </a:r>
              <a:endParaRPr sz="2000" dirty="0">
                <a:latin typeface="KaiTi"/>
                <a:ea typeface="KaiTi"/>
                <a:cs typeface="KaiTi"/>
              </a:endParaRPr>
            </a:p>
          </p:txBody>
        </p:sp>
      </p:grpSp>
      <p:sp>
        <p:nvSpPr>
          <p:cNvPr id="268" name="textbox 268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1504980" y="5543527"/>
            <a:ext cx="1193718" cy="393717"/>
            <a:chOff x="0" y="0"/>
            <a:chExt cx="1193718" cy="393717"/>
          </a:xfrm>
        </p:grpSpPr>
        <p:pic>
          <p:nvPicPr>
            <p:cNvPr id="270" name="picture 27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1193718" cy="393717"/>
            </a:xfrm>
            <a:prstGeom prst="rect">
              <a:avLst/>
            </a:prstGeom>
          </p:spPr>
        </p:pic>
        <p:sp>
          <p:nvSpPr>
            <p:cNvPr id="272" name="textbox 272"/>
            <p:cNvSpPr/>
            <p:nvPr/>
          </p:nvSpPr>
          <p:spPr>
            <a:xfrm>
              <a:off x="-12700" y="-12700"/>
              <a:ext cx="1219200" cy="4533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30175" algn="l" rtl="0" eaLnBrk="0">
                <a:lnSpc>
                  <a:spcPct val="98000"/>
                </a:lnSpc>
                <a:spcBef>
                  <a:spcPts val="7"/>
                </a:spcBef>
                <a:tabLst/>
              </a:pPr>
              <a:r>
                <a:rPr sz="2000" b="1" kern="0" spc="-70" dirty="0">
                  <a:solidFill>
                    <a:srgbClr val="FFFFFF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自然语言</a:t>
              </a:r>
              <a:endParaRPr sz="2000" dirty="0">
                <a:latin typeface="KaiTi"/>
                <a:ea typeface="KaiTi"/>
                <a:cs typeface="KaiT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2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76" name="textbox 276"/>
          <p:cNvSpPr/>
          <p:nvPr/>
        </p:nvSpPr>
        <p:spPr>
          <a:xfrm>
            <a:off x="1746240" y="949942"/>
            <a:ext cx="4961254" cy="46170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54250" algn="l" rtl="0" eaLnBrk="0">
              <a:lnSpc>
                <a:spcPct val="98000"/>
              </a:lnSpc>
              <a:tabLst/>
            </a:pPr>
            <a:r>
              <a:rPr sz="30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总结</a:t>
            </a:r>
            <a:endParaRPr sz="3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1029"/>
              </a:spcBef>
              <a:tabLst/>
            </a:pPr>
            <a:r>
              <a:rPr sz="3400" kern="0" spc="-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自然语言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1045"/>
              </a:spcBef>
              <a:tabLst/>
            </a:pPr>
            <a:r>
              <a:rPr sz="5300" kern="0" spc="-70" baseline="-3931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流程图</a:t>
            </a:r>
            <a:r>
              <a:rPr sz="3400" kern="0" spc="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2500" kern="0" spc="-70" baseline="16668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算法的描述方</a:t>
            </a:r>
            <a:r>
              <a:rPr sz="2500" kern="0" spc="-80" baseline="16668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式</a:t>
            </a:r>
            <a:endParaRPr sz="2500" baseline="16668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88264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30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伪代码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278" name="rect 278"/>
          <p:cNvSpPr/>
          <p:nvPr/>
        </p:nvSpPr>
        <p:spPr>
          <a:xfrm>
            <a:off x="50840" y="0"/>
            <a:ext cx="12115800" cy="857250"/>
          </a:xfrm>
          <a:prstGeom prst="rect">
            <a:avLst/>
          </a:prstGeom>
          <a:solidFill>
            <a:srgbClr val="38554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0" name="textbox 280"/>
          <p:cNvSpPr/>
          <p:nvPr/>
        </p:nvSpPr>
        <p:spPr>
          <a:xfrm>
            <a:off x="9594839" y="384499"/>
            <a:ext cx="2174875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300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基础教育精品课</a:t>
            </a:r>
            <a:endParaRPr sz="23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2026-06-07T22:08:30Z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2026-06-07T22:08:40</vt:filetime>
  </property>
  <property fmtid="{D5CDD505-2E9C-101B-9397-08002B2CF9AE}" pid="4" name="UsrData">
    <vt:lpwstr>6a257b5a8cab72001f86cec0wl</vt:lpwstr>
  </property>
</Properties>
</file>