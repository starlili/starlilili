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3" Type="http://schemas.openxmlformats.org/officeDocument/2006/relationships/viewProps" Target="viewProps.xml"/><Relationship Id="rId22" Type="http://schemas.openxmlformats.org/officeDocument/2006/relationships/tableStyles" Target="tableStyles.xml"/><Relationship Id="rId21" Type="http://schemas.openxmlformats.org/officeDocument/2006/relationships/presProps" Target="presProps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225055" y="928942"/>
            <a:ext cx="8552815" cy="1951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8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400" b="1" kern="0" spc="-1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3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5100" b="1" kern="0" spc="-3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用列表表示和计算平</a:t>
            </a:r>
            <a:r>
              <a:rPr sz="5100" b="1" kern="0" spc="-3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均气</a:t>
            </a:r>
            <a:r>
              <a:rPr sz="5100" b="1" kern="0" spc="-2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温</a:t>
            </a:r>
            <a:endParaRPr sz="5100" dirty="0">
              <a:latin typeface="SimHei"/>
              <a:ea typeface="SimHei"/>
              <a:cs typeface="Sim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215243" y="3826620"/>
            <a:ext cx="4891404" cy="951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ct val="97000"/>
              </a:lnSpc>
              <a:tabLst/>
            </a:pPr>
            <a:r>
              <a:rPr sz="2900" b="1" kern="0" spc="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学</a:t>
            </a:r>
            <a:r>
              <a:rPr sz="2900" kern="0" spc="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900" b="1" kern="0" spc="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科：信息技术(</a:t>
            </a:r>
            <a:r>
              <a:rPr sz="2900" b="1" kern="0" spc="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沪科教版)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7000"/>
              </a:lnSpc>
              <a:spcBef>
                <a:spcPts val="773"/>
              </a:spcBef>
              <a:tabLst/>
            </a:pPr>
            <a:r>
              <a:rPr sz="2700" b="1" kern="0" spc="5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学</a:t>
            </a:r>
            <a:r>
              <a:rPr sz="2700" kern="0" spc="2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700" b="1" kern="0" spc="5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校：福建省福州高级中学</a:t>
            </a:r>
            <a:endParaRPr sz="2700" dirty="0">
              <a:latin typeface="KaiTi"/>
              <a:ea typeface="KaiTi"/>
              <a:cs typeface="KaiT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478042" y="3828093"/>
            <a:ext cx="2503804" cy="935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9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900" b="1" kern="0" spc="-1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年</a:t>
            </a:r>
            <a:r>
              <a:rPr sz="2900" kern="0" spc="1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900" b="1" kern="0" spc="-1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级：高二</a:t>
            </a:r>
            <a:endParaRPr sz="2900" dirty="0">
              <a:latin typeface="KaiTi"/>
              <a:ea typeface="KaiTi"/>
              <a:cs typeface="KaiTi"/>
            </a:endParaRPr>
          </a:p>
          <a:p>
            <a:pPr marL="25400" algn="l" rtl="0" eaLnBrk="0">
              <a:lnSpc>
                <a:spcPct val="98000"/>
              </a:lnSpc>
              <a:spcBef>
                <a:spcPts val="598"/>
              </a:spcBef>
              <a:tabLst/>
            </a:pPr>
            <a:r>
              <a:rPr sz="2700" b="1" kern="0" spc="5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主讲人：许佳佳</a:t>
            </a:r>
            <a:endParaRPr sz="2700" dirty="0">
              <a:latin typeface="KaiTi"/>
              <a:ea typeface="KaiTi"/>
              <a:cs typeface="KaiTi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60" y="5029177"/>
            <a:ext cx="1517538" cy="1035077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788701" y="5143500"/>
            <a:ext cx="1403298" cy="1092205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5791179" y="5629736"/>
            <a:ext cx="304165" cy="362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2300" kern="0" spc="-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人</a:t>
            </a:r>
            <a:endParaRPr sz="23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18" name="table 18"/>
          <p:cNvGraphicFramePr>
            <a:graphicFrameLocks noGrp="1"/>
          </p:cNvGraphicFramePr>
          <p:nvPr/>
        </p:nvGraphicFramePr>
        <p:xfrm>
          <a:off x="831860" y="3039043"/>
          <a:ext cx="6600190" cy="2219325"/>
        </p:xfrm>
        <a:graphic>
          <a:graphicData uri="http://schemas.openxmlformats.org/drawingml/2006/table">
            <a:tbl>
              <a:tblPr/>
              <a:tblGrid>
                <a:gridCol w="637540"/>
                <a:gridCol w="891539"/>
                <a:gridCol w="885825"/>
                <a:gridCol w="882650"/>
                <a:gridCol w="885825"/>
                <a:gridCol w="892175"/>
                <a:gridCol w="895985"/>
                <a:gridCol w="628650"/>
              </a:tblGrid>
              <a:tr h="1069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04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1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昨天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ts val="2016"/>
                        </a:lnSpc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09/02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27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5275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今天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51459" algn="l" rtl="0" eaLnBrk="0">
                        <a:lnSpc>
                          <a:spcPts val="2108"/>
                        </a:lnSpc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09/03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27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337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明天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48284" algn="l" rtl="0" eaLnBrk="0">
                        <a:lnSpc>
                          <a:spcPts val="1992"/>
                        </a:lnSpc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09/04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3209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3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周四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51459" algn="l" rtl="0" eaLnBrk="0">
                        <a:lnSpc>
                          <a:spcPts val="1983"/>
                        </a:lnSpc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09/05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111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9559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周五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58445" algn="l" rtl="0" eaLnBrk="0">
                        <a:lnSpc>
                          <a:spcPts val="1977"/>
                        </a:lnSpc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09/06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959" algn="l" rtl="0" eaLnBrk="0">
                        <a:lnSpc>
                          <a:spcPts val="1431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6070E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70%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337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3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周六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60984" algn="l" rtl="0" eaLnBrk="0">
                        <a:lnSpc>
                          <a:spcPts val="1983"/>
                        </a:lnSpc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09/07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784" algn="l" rtl="0" eaLnBrk="0">
                        <a:lnSpc>
                          <a:spcPts val="1431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4060F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70%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111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5909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周日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57809" algn="l" rtl="0" eaLnBrk="0">
                        <a:lnSpc>
                          <a:spcPts val="1977"/>
                        </a:lnSpc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09/08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1459" indent="31115" algn="l" rtl="0" eaLnBrk="0">
                        <a:lnSpc>
                          <a:spcPct val="127000"/>
                        </a:lnSpc>
                        <a:tabLst/>
                      </a:pPr>
                      <a:r>
                        <a:rPr sz="13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周一</a:t>
                      </a: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09/09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ts val="1771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36°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5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6709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1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r>
                        <a:rPr sz="1100" b="1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4°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4170" algn="l" rtl="0" eaLnBrk="0">
                        <a:lnSpc>
                          <a:spcPts val="1771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33°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6709" algn="l" rtl="0" eaLnBrk="0">
                        <a:lnSpc>
                          <a:spcPts val="1771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33°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3695" algn="l" rtl="0" eaLnBrk="0">
                        <a:lnSpc>
                          <a:spcPts val="1771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33°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6870" algn="l" rtl="0" eaLnBrk="0">
                        <a:lnSpc>
                          <a:spcPts val="1771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33°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4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3059" algn="l" rtl="0" eaLnBrk="0">
                        <a:lnSpc>
                          <a:spcPts val="1567"/>
                        </a:lnSpc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34°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4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567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  <a:r>
                        <a:rPr sz="1100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°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51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3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ts val="1771"/>
                        </a:lnSpc>
                        <a:tabLst/>
                      </a:pPr>
                      <a:r>
                        <a:rPr sz="13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28°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6709" algn="l" rtl="0" eaLnBrk="0">
                        <a:lnSpc>
                          <a:spcPct val="8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27°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0834" algn="l" rtl="0" eaLnBrk="0">
                        <a:lnSpc>
                          <a:spcPct val="8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27°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6709" algn="l" rtl="0" eaLnBrk="0">
                        <a:lnSpc>
                          <a:spcPct val="82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3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27°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3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7345" algn="l" rtl="0" eaLnBrk="0">
                        <a:lnSpc>
                          <a:spcPts val="1771"/>
                        </a:lnSpc>
                        <a:tabLst/>
                      </a:pPr>
                      <a:r>
                        <a:rPr sz="13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28°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6870" algn="l" rtl="0" eaLnBrk="0">
                        <a:lnSpc>
                          <a:spcPct val="8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27°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0359" algn="l" rtl="0" eaLnBrk="0">
                        <a:lnSpc>
                          <a:spcPct val="8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27°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6709" algn="l" rtl="0" eaLnBrk="0">
                        <a:lnSpc>
                          <a:spcPts val="171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3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26°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0" name="textbox 20"/>
          <p:cNvSpPr/>
          <p:nvPr/>
        </p:nvSpPr>
        <p:spPr>
          <a:xfrm>
            <a:off x="608688" y="1227881"/>
            <a:ext cx="7314565" cy="1542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0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用列表表示和计算平均气温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034" indent="565150" algn="l" rtl="0" eaLnBrk="0">
              <a:lnSpc>
                <a:spcPct val="96000"/>
              </a:lnSpc>
              <a:tabLst/>
            </a:pP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气温是与人们日常生活息息相关的一个物理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900" kern="0" spc="-1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量，它表示空气的温度。</a:t>
            </a:r>
            <a:endParaRPr sz="2900" dirty="0">
              <a:latin typeface="KaiTi"/>
              <a:ea typeface="KaiTi"/>
              <a:cs typeface="KaiT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69860" y="0"/>
            <a:ext cx="12103734" cy="850900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537065" algn="l" rtl="0" eaLnBrk="0">
              <a:lnSpc>
                <a:spcPct val="97000"/>
              </a:lnSpc>
              <a:spcBef>
                <a:spcPts val="5"/>
              </a:spcBef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755639" y="1157998"/>
            <a:ext cx="6703059" cy="401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7630" algn="l" rtl="0" eaLnBrk="0">
              <a:lnSpc>
                <a:spcPct val="96000"/>
              </a:lnSpc>
              <a:tabLst/>
            </a:pPr>
            <a:r>
              <a:rPr sz="30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(1)计算日平均气温</a:t>
            </a:r>
            <a:endParaRPr sz="3000" dirty="0">
              <a:latin typeface="SimHei"/>
              <a:ea typeface="SimHei"/>
              <a:cs typeface="SimHei"/>
            </a:endParaRPr>
          </a:p>
          <a:p>
            <a:pPr marL="57150" algn="l" rtl="0" eaLnBrk="0">
              <a:lnSpc>
                <a:spcPct val="99000"/>
              </a:lnSpc>
              <a:spcBef>
                <a:spcPts val="1572"/>
              </a:spcBef>
              <a:tabLst/>
            </a:pP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问题：已知气象台某日观测得到的4次气</a:t>
            </a:r>
            <a:r>
              <a:rPr sz="2400" kern="0" spc="-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温为：</a:t>
            </a:r>
            <a:endParaRPr sz="2400" dirty="0">
              <a:latin typeface="KaiTi"/>
              <a:ea typeface="KaiTi"/>
              <a:cs typeface="KaiTi"/>
            </a:endParaRPr>
          </a:p>
          <a:p>
            <a:pPr marL="24765" algn="l" rtl="0" eaLnBrk="0">
              <a:lnSpc>
                <a:spcPct val="93000"/>
              </a:lnSpc>
              <a:spcBef>
                <a:spcPts val="1478"/>
              </a:spcBef>
              <a:tabLst/>
            </a:pP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10℃、13℃、18℃、12℃,求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该日的日平均气温。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52400" algn="l" rtl="0" eaLnBrk="0">
              <a:lnSpc>
                <a:spcPct val="91000"/>
              </a:lnSpc>
              <a:spcBef>
                <a:spcPts val="26"/>
              </a:spcBef>
              <a:tabLst/>
            </a:pPr>
            <a:r>
              <a:rPr sz="2800" b="1" kern="0" spc="-11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2800" b="1" kern="0" spc="6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</a:t>
            </a:r>
            <a:r>
              <a:rPr sz="2800" b="1" kern="0" spc="-11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800" b="1" kern="0" spc="1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</a:t>
            </a:r>
            <a:r>
              <a:rPr sz="2800" b="1" kern="0" spc="-11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2800" b="1" kern="0" spc="3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</a:t>
            </a:r>
            <a:r>
              <a:rPr sz="2800" b="1" kern="0" spc="-11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</a:t>
            </a:r>
            <a:endParaRPr sz="2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4450" indent="-31750" algn="l" rtl="0" eaLnBrk="0">
              <a:lnSpc>
                <a:spcPct val="95000"/>
              </a:lnSpc>
              <a:spcBef>
                <a:spcPts val="726"/>
              </a:spcBef>
              <a:tabLst/>
            </a:pPr>
            <a:r>
              <a:rPr sz="2400" kern="0" spc="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批量数据：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一组数据类型相同的数据对象。数据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类型可以是简单类型，也可以是复杂的构造类型。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06679" algn="l" rtl="0" eaLnBrk="0">
              <a:lnSpc>
                <a:spcPct val="93000"/>
              </a:lnSpc>
              <a:spcBef>
                <a:spcPts val="1"/>
              </a:spcBef>
              <a:tabLst/>
            </a:pPr>
            <a:r>
              <a:rPr sz="2800" b="1" kern="0" spc="-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思考：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那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Python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中批量数据如何表示呢?</a:t>
            </a:r>
            <a:endParaRPr sz="2800" dirty="0">
              <a:latin typeface="KaiTi"/>
              <a:ea typeface="KaiTi"/>
              <a:cs typeface="KaiTi"/>
            </a:endParaRPr>
          </a:p>
        </p:txBody>
      </p:sp>
      <p:sp>
        <p:nvSpPr>
          <p:cNvPr id="28" name="rect 28"/>
          <p:cNvSpPr/>
          <p:nvPr/>
        </p:nvSpPr>
        <p:spPr>
          <a:xfrm>
            <a:off x="50840" y="0"/>
            <a:ext cx="12115800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" name="textbox 30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374639" y="1448191"/>
            <a:ext cx="6725284" cy="3763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2900" kern="0" spc="-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列表用</a:t>
            </a:r>
            <a:r>
              <a:rPr sz="2900" kern="0" spc="-10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“[]”</a:t>
            </a:r>
            <a:r>
              <a:rPr sz="2900" kern="0" spc="-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表示，其中每</a:t>
            </a: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一项可以是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5000"/>
              </a:lnSpc>
              <a:spcBef>
                <a:spcPts val="1694"/>
              </a:spcBef>
              <a:tabLst/>
            </a:pPr>
            <a:r>
              <a:rPr sz="2900" kern="0" spc="-1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任意数据类型，各数据项之间用逗号分隔。</a:t>
            </a:r>
            <a:endParaRPr sz="2900" dirty="0">
              <a:latin typeface="KaiTi"/>
              <a:ea typeface="KaiTi"/>
              <a:cs typeface="KaiTi"/>
            </a:endParaRPr>
          </a:p>
          <a:p>
            <a:pPr marL="971550" algn="l" rtl="0" eaLnBrk="0">
              <a:lnSpc>
                <a:spcPct val="93000"/>
              </a:lnSpc>
              <a:spcBef>
                <a:spcPts val="1628"/>
              </a:spcBef>
              <a:tabLst/>
            </a:pPr>
            <a:r>
              <a:rPr sz="2800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L=[]</a:t>
            </a:r>
            <a:r>
              <a:rPr sz="2800" kern="0" spc="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2800" kern="0" spc="-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#</a:t>
            </a:r>
            <a:r>
              <a:rPr sz="2800" kern="0" spc="-80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800" kern="0" spc="-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创建一个空的列表</a:t>
            </a:r>
            <a:r>
              <a:rPr sz="2800" kern="0" spc="-1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</a:t>
            </a:r>
            <a:endParaRPr sz="2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7314" indent="-24765" algn="l" rtl="0" eaLnBrk="0">
              <a:lnSpc>
                <a:spcPct val="98000"/>
              </a:lnSpc>
              <a:spcBef>
                <a:spcPts val="880"/>
              </a:spcBef>
              <a:tabLst/>
            </a:pPr>
            <a:r>
              <a:rPr sz="2900" kern="0" spc="-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创建一个列表，存储该日观测得到的气</a:t>
            </a: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温</a:t>
            </a:r>
            <a:r>
              <a:rPr sz="29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900" kern="0" spc="-1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数据的语句如下：</a:t>
            </a:r>
            <a:endParaRPr sz="29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825500" algn="l" rtl="0" eaLnBrk="0">
              <a:lnSpc>
                <a:spcPct val="82000"/>
              </a:lnSpc>
              <a:spcBef>
                <a:spcPts val="6"/>
              </a:spcBef>
              <a:tabLst/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&gt;&gt;&gt;t</a:t>
            </a:r>
            <a:r>
              <a:rPr sz="2700" u="dotted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700" kern="0" spc="-5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Day=[10,13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,18,12]</a:t>
            </a:r>
            <a:endParaRPr sz="2700" dirty="0">
              <a:latin typeface="Arial"/>
              <a:ea typeface="Arial"/>
              <a:cs typeface="Arial"/>
            </a:endParaRPr>
          </a:p>
        </p:txBody>
      </p:sp>
      <p:sp>
        <p:nvSpPr>
          <p:cNvPr id="36" name="rect 36"/>
          <p:cNvSpPr/>
          <p:nvPr/>
        </p:nvSpPr>
        <p:spPr>
          <a:xfrm>
            <a:off x="38160" y="6377"/>
            <a:ext cx="12128479" cy="838185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" name="textbox 3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2" name="table 42"/>
          <p:cNvGraphicFramePr>
            <a:graphicFrameLocks noGrp="1"/>
          </p:cNvGraphicFramePr>
          <p:nvPr/>
        </p:nvGraphicFramePr>
        <p:xfrm>
          <a:off x="415985" y="1482747"/>
          <a:ext cx="8349615" cy="4653914"/>
        </p:xfrm>
        <a:graphic>
          <a:graphicData uri="http://schemas.openxmlformats.org/drawingml/2006/table">
            <a:tbl>
              <a:tblPr/>
              <a:tblGrid>
                <a:gridCol w="1323975"/>
                <a:gridCol w="4755515"/>
                <a:gridCol w="2270125"/>
              </a:tblGrid>
              <a:tr h="644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1800" algn="l" rtl="0" eaLnBrk="0">
                        <a:lnSpc>
                          <a:spcPct val="9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800" b="1" kern="0" spc="6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操作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43125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b="1" kern="0" spc="40" dirty="0">
                          <a:solidFill>
                            <a:srgbClr val="404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描述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011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800" b="1" kern="0" spc="8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案例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39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7990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x[i]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4364" indent="-152400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引用列表x中下标为i的列表成员， i从0    </a:t>
                      </a:r>
                      <a:r>
                        <a:rPr sz="1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开始计数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210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print</a:t>
                      </a:r>
                      <a:r>
                        <a:rPr sz="1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(x[2])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292100" algn="l" rtl="0" eaLnBrk="0">
                        <a:lnSpc>
                          <a:spcPts val="2601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&gt;&gt;&gt;[3]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4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9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734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x[i:j]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9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181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引用列表x中下标从i到j-1的</a:t>
                      </a:r>
                      <a:r>
                        <a:rPr sz="1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子列表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2100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print</a:t>
                      </a:r>
                      <a:r>
                        <a:rPr sz="1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(x[1:3])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292100" algn="l" rtl="0" eaLnBrk="0">
                        <a:lnSpc>
                          <a:spcPts val="2222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&gt;&gt;&gt;[2,3]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7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3039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x[i:j:k]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4379" indent="-1644014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引用列表x中下标从i到j-1、间隔为</a:t>
                      </a:r>
                      <a:r>
                        <a:rPr sz="1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k的</a:t>
                      </a: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子列表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210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print</a:t>
                      </a:r>
                      <a:r>
                        <a:rPr sz="1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(x[1:5:2])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&gt;&gt;&gt;[2,4]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4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7975" algn="l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sum(x)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9514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列表中所有数据项的和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210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print</a:t>
                      </a:r>
                      <a:r>
                        <a:rPr sz="1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sum</a:t>
                      </a:r>
                      <a:r>
                        <a:rPr sz="1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(x))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292100" algn="l" rtl="0" eaLnBrk="0">
                        <a:lnSpc>
                          <a:spcPts val="2736"/>
                        </a:lnSpc>
                        <a:tabLst/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&gt;&gt;&gt;21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4" name="rect 44"/>
          <p:cNvSpPr/>
          <p:nvPr/>
        </p:nvSpPr>
        <p:spPr>
          <a:xfrm>
            <a:off x="69860" y="6377"/>
            <a:ext cx="12096780" cy="838185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" name="textbox 46"/>
          <p:cNvSpPr/>
          <p:nvPr/>
        </p:nvSpPr>
        <p:spPr>
          <a:xfrm>
            <a:off x="4571979" y="843309"/>
            <a:ext cx="2313304" cy="6642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30"/>
              </a:lnSpc>
              <a:tabLst/>
            </a:pP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&gt;&gt;&gt;x=[1,2,3,4,5,6]</a:t>
            </a:r>
            <a:endParaRPr sz="2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100000"/>
              </a:lnSpc>
              <a:spcBef>
                <a:spcPts val="59"/>
              </a:spcBef>
              <a:tabLst/>
            </a:pPr>
            <a:r>
              <a:rPr sz="17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下</a:t>
            </a:r>
            <a:r>
              <a:rPr sz="1700" kern="0" spc="3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7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标</a:t>
            </a:r>
            <a:r>
              <a:rPr sz="1700" kern="0" spc="3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7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</a:t>
            </a:r>
            <a:r>
              <a:rPr sz="1700" kern="0" spc="4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7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1700" kern="0" spc="3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7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</a:t>
            </a:r>
            <a:r>
              <a:rPr sz="1700" kern="0" spc="3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7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</a:t>
            </a:r>
            <a:r>
              <a:rPr sz="1700" kern="0" spc="2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7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</a:t>
            </a:r>
            <a:r>
              <a:rPr sz="1700" kern="0" spc="3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7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</a:t>
            </a:r>
            <a:endParaRPr sz="1700" dirty="0">
              <a:latin typeface="SimSun"/>
              <a:ea typeface="SimSun"/>
              <a:cs typeface="SimSun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615027" y="1005613"/>
            <a:ext cx="2708910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0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列表的基本操作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4" name="textbox 54"/>
          <p:cNvSpPr/>
          <p:nvPr/>
        </p:nvSpPr>
        <p:spPr>
          <a:xfrm>
            <a:off x="425480" y="1157998"/>
            <a:ext cx="6963409" cy="292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7830" algn="l" rtl="0" eaLnBrk="0">
              <a:lnSpc>
                <a:spcPct val="96000"/>
              </a:lnSpc>
              <a:tabLst/>
            </a:pPr>
            <a:r>
              <a:rPr sz="30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(1)计算日平均气温</a:t>
            </a:r>
            <a:endParaRPr sz="3000" dirty="0">
              <a:latin typeface="SimHei"/>
              <a:ea typeface="SimHei"/>
              <a:cs typeface="SimHei"/>
            </a:endParaRPr>
          </a:p>
          <a:p>
            <a:pPr marL="387350" algn="l" rtl="0" eaLnBrk="0">
              <a:lnSpc>
                <a:spcPct val="99000"/>
              </a:lnSpc>
              <a:spcBef>
                <a:spcPts val="1572"/>
              </a:spcBef>
              <a:tabLst/>
            </a:pP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问题：已知气象台某日观测得</a:t>
            </a:r>
            <a:r>
              <a:rPr sz="2400" kern="0" spc="-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到的4次气温为：</a:t>
            </a:r>
            <a:endParaRPr sz="2400" dirty="0">
              <a:latin typeface="KaiTi"/>
              <a:ea typeface="KaiTi"/>
              <a:cs typeface="KaiTi"/>
            </a:endParaRPr>
          </a:p>
          <a:p>
            <a:pPr marL="354965" algn="l" rtl="0" eaLnBrk="0">
              <a:lnSpc>
                <a:spcPct val="98000"/>
              </a:lnSpc>
              <a:spcBef>
                <a:spcPts val="1471"/>
              </a:spcBef>
              <a:tabLst/>
            </a:pP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10℃、13℃、18℃、12℃,求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该日的日平均气温。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8415" indent="-5714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2800" kern="0" spc="-10" dirty="0">
                <a:solidFill>
                  <a:srgbClr val="206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请同学们打开学案，比较两种不同</a:t>
            </a:r>
            <a:r>
              <a:rPr sz="2800" kern="0" spc="-20" dirty="0">
                <a:solidFill>
                  <a:srgbClr val="206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的算法</a:t>
            </a:r>
            <a:r>
              <a:rPr sz="2800" kern="0" spc="0" dirty="0">
                <a:solidFill>
                  <a:srgbClr val="206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</a:t>
            </a:r>
            <a:r>
              <a:rPr sz="2800" kern="0" spc="-10" dirty="0">
                <a:solidFill>
                  <a:srgbClr val="206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</a:t>
            </a:r>
            <a:r>
              <a:rPr sz="2800" kern="0" spc="-10" dirty="0">
                <a:solidFill>
                  <a:srgbClr val="2060B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Python</a:t>
            </a:r>
            <a:r>
              <a:rPr sz="2800" kern="0" spc="-10" dirty="0">
                <a:solidFill>
                  <a:srgbClr val="206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程序</a:t>
            </a:r>
            <a:r>
              <a:rPr sz="2800" kern="0" spc="-20" dirty="0">
                <a:solidFill>
                  <a:srgbClr val="206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计算平均气温，有何异同点?</a:t>
            </a:r>
            <a:endParaRPr sz="2800" dirty="0">
              <a:latin typeface="KaiTi"/>
              <a:ea typeface="KaiTi"/>
              <a:cs typeface="KaiTi"/>
            </a:endParaRPr>
          </a:p>
        </p:txBody>
      </p:sp>
      <p:sp>
        <p:nvSpPr>
          <p:cNvPr id="56" name="rect 56"/>
          <p:cNvSpPr/>
          <p:nvPr/>
        </p:nvSpPr>
        <p:spPr>
          <a:xfrm>
            <a:off x="57180" y="0"/>
            <a:ext cx="12109459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457179" y="1416789"/>
            <a:ext cx="6080759" cy="4396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2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3050" algn="l" rtl="0" eaLnBrk="0">
              <a:lnSpc>
                <a:spcPct val="99000"/>
              </a:lnSpc>
              <a:tabLst/>
            </a:pP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方法1:使用算术表达式计算</a:t>
            </a:r>
            <a:endParaRPr sz="2400" dirty="0">
              <a:latin typeface="KaiTi"/>
              <a:ea typeface="KaiTi"/>
              <a:cs typeface="KaiTi"/>
            </a:endParaRPr>
          </a:p>
          <a:p>
            <a:pPr marL="228600" algn="l" rtl="0" eaLnBrk="0">
              <a:lnSpc>
                <a:spcPct val="77000"/>
              </a:lnSpc>
              <a:spcBef>
                <a:spcPts val="392"/>
              </a:spcBef>
              <a:tabLst/>
            </a:pP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t_Day=[10,13,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18,12]</a:t>
            </a:r>
            <a:endParaRPr sz="2400" dirty="0">
              <a:latin typeface="Times New Roman"/>
              <a:ea typeface="Times New Roman"/>
              <a:cs typeface="Times New Roman"/>
            </a:endParaRPr>
          </a:p>
          <a:p>
            <a:pPr marL="228600" algn="l" rtl="0" eaLnBrk="0">
              <a:lnSpc>
                <a:spcPct val="92000"/>
              </a:lnSpc>
              <a:spcBef>
                <a:spcPts val="451"/>
              </a:spcBef>
              <a:tabLst/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avg=(</a:t>
            </a:r>
            <a:r>
              <a:rPr sz="2400" kern="0" spc="-4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t_Day[0]+t_</a:t>
            </a:r>
            <a:r>
              <a:rPr sz="2400" kern="0" spc="-5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Day[1]+t_Day[2]+t_Day[3]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)/4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print(avg)</a:t>
            </a:r>
            <a:endParaRPr sz="2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3050" algn="l" rtl="0" eaLnBrk="0">
              <a:lnSpc>
                <a:spcPct val="87000"/>
              </a:lnSpc>
              <a:spcBef>
                <a:spcPts val="728"/>
              </a:spcBef>
              <a:tabLst/>
            </a:pP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方法2:使用内置函数</a:t>
            </a: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计算</a:t>
            </a:r>
            <a:endParaRPr sz="2400" dirty="0">
              <a:latin typeface="KaiTi"/>
              <a:ea typeface="KaiTi"/>
              <a:cs typeface="KaiTi"/>
            </a:endParaRPr>
          </a:p>
          <a:p>
            <a:pPr marL="228600" algn="l" rtl="0" eaLnBrk="0">
              <a:lnSpc>
                <a:spcPts val="2979"/>
              </a:lnSpc>
              <a:tabLst/>
            </a:pP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t_Day=[10,13,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18,12]</a:t>
            </a:r>
            <a:endParaRPr sz="2400" dirty="0">
              <a:latin typeface="Times New Roman"/>
              <a:ea typeface="Times New Roman"/>
              <a:cs typeface="Times New Roman"/>
            </a:endParaRPr>
          </a:p>
          <a:p>
            <a:pPr marL="228600" algn="l" rtl="0" eaLnBrk="0">
              <a:lnSpc>
                <a:spcPct val="77000"/>
              </a:lnSpc>
              <a:spcBef>
                <a:spcPts val="1068"/>
              </a:spcBef>
              <a:tabLst/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avg= </a:t>
            </a:r>
            <a:r>
              <a:rPr sz="2200" kern="0" spc="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(t_Day)/</a:t>
            </a:r>
            <a:r>
              <a:rPr sz="2200" kern="0" spc="4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200" kern="0" spc="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len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(t_Day)</a:t>
            </a:r>
            <a:endParaRPr sz="2200" dirty="0">
              <a:latin typeface="Times New Roman"/>
              <a:ea typeface="Times New Roman"/>
              <a:cs typeface="Times New Roman"/>
            </a:endParaRPr>
          </a:p>
          <a:p>
            <a:pPr marL="228600" algn="l" rtl="0" eaLnBrk="0">
              <a:lnSpc>
                <a:spcPts val="2702"/>
              </a:lnSpc>
              <a:tabLst/>
            </a:pP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print(avg)</a:t>
            </a:r>
            <a:endParaRPr sz="22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4"/>
              </a:spcBef>
              <a:tabLst/>
            </a:pPr>
            <a:r>
              <a:rPr sz="2900" kern="0" spc="-1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思考：批量数据比单变量的优势</a:t>
            </a:r>
            <a:r>
              <a:rPr sz="2900" kern="0" spc="-12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在于?</a:t>
            </a:r>
            <a:endParaRPr sz="2900" dirty="0">
              <a:latin typeface="KaiTi"/>
              <a:ea typeface="KaiTi"/>
              <a:cs typeface="KaiTi"/>
            </a:endParaRPr>
          </a:p>
        </p:txBody>
      </p:sp>
      <p:sp>
        <p:nvSpPr>
          <p:cNvPr id="64" name="rect 64"/>
          <p:cNvSpPr/>
          <p:nvPr/>
        </p:nvSpPr>
        <p:spPr>
          <a:xfrm>
            <a:off x="38160" y="6377"/>
            <a:ext cx="12128479" cy="838185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" name="textbox 66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520700" y="1018301"/>
            <a:ext cx="6889115" cy="4462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7329" algn="l" rtl="0" eaLnBrk="0">
              <a:lnSpc>
                <a:spcPct val="96000"/>
              </a:lnSpc>
              <a:tabLst/>
            </a:pPr>
            <a:r>
              <a:rPr sz="30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(2)计算周平均气温</a:t>
            </a:r>
            <a:endParaRPr sz="3000" dirty="0">
              <a:latin typeface="SimHei"/>
              <a:ea typeface="SimHei"/>
              <a:cs typeface="SimHei"/>
            </a:endParaRPr>
          </a:p>
          <a:p>
            <a:pPr marL="177164" indent="25400" algn="l" rtl="0" eaLnBrk="0">
              <a:lnSpc>
                <a:spcPct val="149000"/>
              </a:lnSpc>
              <a:spcBef>
                <a:spcPts val="166"/>
              </a:spcBef>
              <a:tabLst/>
            </a:pPr>
            <a:r>
              <a:rPr sz="2500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问题：已知福州市2</a:t>
            </a:r>
            <a:r>
              <a:rPr sz="25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024年7月1日—7月7日平均气温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200" kern="0" spc="-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数据为：30.7,31.4,</a:t>
            </a:r>
            <a:r>
              <a:rPr sz="2200" kern="0" spc="-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32.3,32.5,32.9,32.6,32.3,求这周的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500" kern="0" spc="-1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周平均气温。</a:t>
            </a:r>
            <a:endParaRPr sz="2500" dirty="0">
              <a:latin typeface="KaiTi"/>
              <a:ea typeface="KaiTi"/>
              <a:cs typeface="KaiTi"/>
            </a:endParaRPr>
          </a:p>
          <a:p>
            <a:pPr marL="564515" algn="l" rtl="0" eaLnBrk="0">
              <a:lnSpc>
                <a:spcPct val="77000"/>
              </a:lnSpc>
              <a:spcBef>
                <a:spcPts val="1536"/>
              </a:spcBef>
              <a:tabLst/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&gt;&gt;&gt;t_Day=[30.7,31.4,32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.3,32.5,32.9,32.6,32.3]</a:t>
            </a:r>
            <a:endParaRPr sz="2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0800" algn="l" rtl="0" eaLnBrk="0">
              <a:lnSpc>
                <a:spcPct val="98000"/>
              </a:lnSpc>
              <a:spcBef>
                <a:spcPts val="726"/>
              </a:spcBef>
              <a:tabLst/>
            </a:pPr>
            <a:r>
              <a:rPr sz="2400" kern="0" spc="-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方法一：下标访问法</a:t>
            </a:r>
            <a:r>
              <a:rPr sz="2400" kern="0" spc="28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</a:t>
            </a:r>
            <a:r>
              <a:rPr sz="2400" kern="0" spc="-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方法二：序列迭代访问法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79000"/>
              </a:lnSpc>
              <a:spcBef>
                <a:spcPts val="1689"/>
              </a:spcBef>
              <a:tabLst/>
            </a:pPr>
            <a:r>
              <a:rPr sz="2400" kern="0" spc="-10" dirty="0">
                <a:solidFill>
                  <a:srgbClr val="305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 i in range(0,l</a:t>
            </a:r>
            <a:r>
              <a:rPr sz="2400" kern="0" spc="-20" dirty="0">
                <a:solidFill>
                  <a:srgbClr val="305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en(L):            </a:t>
            </a:r>
            <a:r>
              <a:rPr sz="2400" kern="0" spc="-20" dirty="0">
                <a:solidFill>
                  <a:srgbClr val="205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 x</a:t>
            </a:r>
            <a:r>
              <a:rPr sz="2400" kern="0" spc="60" dirty="0">
                <a:solidFill>
                  <a:srgbClr val="205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-20" dirty="0">
                <a:solidFill>
                  <a:srgbClr val="205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2400" kern="0" spc="40" dirty="0">
                <a:solidFill>
                  <a:srgbClr val="205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-20" dirty="0">
                <a:solidFill>
                  <a:srgbClr val="205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L:</a:t>
            </a:r>
            <a:endParaRPr sz="2400" dirty="0">
              <a:latin typeface="Times New Roman"/>
              <a:ea typeface="Times New Roman"/>
              <a:cs typeface="Times New Roman"/>
            </a:endParaRPr>
          </a:p>
          <a:p>
            <a:pPr marL="494665" algn="l" rtl="0" eaLnBrk="0">
              <a:lnSpc>
                <a:spcPct val="92000"/>
              </a:lnSpc>
              <a:spcBef>
                <a:spcPts val="342"/>
              </a:spcBef>
              <a:tabLst/>
            </a:pPr>
            <a:r>
              <a:rPr sz="2400" kern="0" spc="-70" dirty="0">
                <a:solidFill>
                  <a:srgbClr val="20503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访问</a:t>
            </a:r>
            <a:r>
              <a:rPr sz="2400" kern="0" spc="-70" dirty="0">
                <a:solidFill>
                  <a:srgbClr val="305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L[i]</a:t>
            </a:r>
            <a:r>
              <a:rPr sz="2400" kern="0" spc="0" dirty="0">
                <a:solidFill>
                  <a:srgbClr val="305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</a:t>
            </a:r>
            <a:r>
              <a:rPr sz="2400" kern="0" spc="-70" dirty="0">
                <a:solidFill>
                  <a:srgbClr val="20503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访问</a:t>
            </a:r>
            <a:r>
              <a:rPr sz="2400" kern="0" spc="-70" dirty="0">
                <a:solidFill>
                  <a:srgbClr val="205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x</a:t>
            </a:r>
            <a:endParaRPr sz="2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2" name="rect 72"/>
          <p:cNvSpPr/>
          <p:nvPr/>
        </p:nvSpPr>
        <p:spPr>
          <a:xfrm>
            <a:off x="57180" y="0"/>
            <a:ext cx="12109459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" name="textbox 74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78" name="textbox 78"/>
          <p:cNvSpPr/>
          <p:nvPr/>
        </p:nvSpPr>
        <p:spPr>
          <a:xfrm>
            <a:off x="6229360" y="1966594"/>
            <a:ext cx="4989195" cy="29298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5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t_Day=[30.7,31.4,32.3,32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.5,32.9,32.6,32.3]</a:t>
            </a:r>
            <a:endParaRPr sz="24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ts val="2000"/>
              </a:lnSpc>
              <a:tabLst/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s=0</a:t>
            </a:r>
            <a:endParaRPr sz="16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9000"/>
              </a:lnSpc>
              <a:spcBef>
                <a:spcPts val="1449"/>
              </a:spcBef>
              <a:tabLst/>
            </a:pP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n=0</a:t>
            </a:r>
            <a:endParaRPr sz="16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9000"/>
              </a:lnSpc>
              <a:spcBef>
                <a:spcPts val="1330"/>
              </a:spcBef>
              <a:tabLst/>
            </a:pPr>
            <a:r>
              <a:rPr sz="1900" kern="0" spc="-10" dirty="0">
                <a:solidFill>
                  <a:srgbClr val="FF6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1900" kern="0" spc="30" dirty="0">
                <a:solidFill>
                  <a:srgbClr val="FF6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900" kern="0" spc="-10" dirty="0">
                <a:solidFill>
                  <a:srgbClr val="FF2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x   </a:t>
            </a:r>
            <a:r>
              <a:rPr sz="1900" kern="0" spc="-10" dirty="0">
                <a:solidFill>
                  <a:srgbClr val="FF4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900" kern="0" spc="60" dirty="0">
                <a:solidFill>
                  <a:srgbClr val="FF4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t_Day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1900" dirty="0">
              <a:latin typeface="Times New Roman"/>
              <a:ea typeface="Times New Roman"/>
              <a:cs typeface="Times New Roman"/>
            </a:endParaRPr>
          </a:p>
          <a:p>
            <a:pPr marL="932814" algn="l" rtl="0" eaLnBrk="0">
              <a:lnSpc>
                <a:spcPct val="77000"/>
              </a:lnSpc>
              <a:spcBef>
                <a:spcPts val="726"/>
              </a:spcBef>
              <a:tabLst/>
            </a:pPr>
            <a:r>
              <a:rPr sz="1900" kern="0" spc="-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S=s</a:t>
            </a:r>
            <a:r>
              <a:rPr sz="19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 </a:t>
            </a:r>
            <a:r>
              <a:rPr sz="1900" kern="0" spc="-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x</a:t>
            </a:r>
            <a:endParaRPr sz="1900" dirty="0">
              <a:latin typeface="Arial"/>
              <a:ea typeface="Arial"/>
              <a:cs typeface="Arial"/>
            </a:endParaRPr>
          </a:p>
          <a:p>
            <a:pPr marL="926464" algn="l" rtl="0" eaLnBrk="0">
              <a:lnSpc>
                <a:spcPct val="81000"/>
              </a:lnSpc>
              <a:spcBef>
                <a:spcPts val="482"/>
              </a:spcBef>
              <a:tabLst/>
            </a:pP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n=n+1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939"/>
              </a:spcBef>
              <a:tabLst/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avg=s/n</a:t>
            </a:r>
            <a:endParaRPr sz="19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9000"/>
              </a:lnSpc>
              <a:spcBef>
                <a:spcPts val="1049"/>
              </a:spcBef>
              <a:tabLst/>
            </a:pPr>
            <a:r>
              <a:rPr sz="1900" kern="0" spc="-10" dirty="0">
                <a:solidFill>
                  <a:srgbClr val="A020A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print  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(avg)</a:t>
            </a:r>
            <a:endParaRPr sz="19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7000"/>
              </a:lnSpc>
              <a:spcBef>
                <a:spcPts val="359"/>
              </a:spcBef>
              <a:tabLst/>
            </a:pPr>
            <a:r>
              <a:rPr sz="2000" kern="0" spc="-20" dirty="0">
                <a:solidFill>
                  <a:srgbClr val="2080C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32.1</a:t>
            </a:r>
            <a:endParaRPr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514360" y="1966594"/>
            <a:ext cx="4989195" cy="29171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11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t_Day=[30.7,31.4,32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.3,32.5,32.9,32.6,32.3]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s=0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9000"/>
              </a:lnSpc>
              <a:spcBef>
                <a:spcPts val="992"/>
              </a:spcBef>
              <a:tabLst/>
            </a:pP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n=0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88900" algn="l" rtl="0" eaLnBrk="0">
              <a:lnSpc>
                <a:spcPct val="80000"/>
              </a:lnSpc>
              <a:spcBef>
                <a:spcPts val="1097"/>
              </a:spcBef>
              <a:tabLst/>
            </a:pPr>
            <a:r>
              <a:rPr sz="2100" kern="0" spc="0" dirty="0">
                <a:solidFill>
                  <a:srgbClr val="FF6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2100" kern="0" spc="20" dirty="0">
                <a:solidFill>
                  <a:srgbClr val="FF6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2100" kern="0" spc="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100" kern="0" spc="2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100" kern="0" spc="0" dirty="0">
                <a:solidFill>
                  <a:srgbClr val="FF6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2100" kern="0" spc="140" dirty="0">
                <a:solidFill>
                  <a:srgbClr val="FF6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kern="0" spc="0" dirty="0">
                <a:solidFill>
                  <a:srgbClr val="A020A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range</a:t>
            </a:r>
            <a:r>
              <a:rPr sz="2100" kern="0" spc="20" dirty="0">
                <a:solidFill>
                  <a:srgbClr val="A020A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len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(t_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Day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)):</a:t>
            </a:r>
            <a:endParaRPr sz="2100" dirty="0">
              <a:latin typeface="Times New Roman"/>
              <a:ea typeface="Times New Roman"/>
              <a:cs typeface="Times New Roman"/>
            </a:endParaRPr>
          </a:p>
          <a:p>
            <a:pPr marL="927100" algn="l" rtl="0" eaLnBrk="0">
              <a:lnSpc>
                <a:spcPct val="81000"/>
              </a:lnSpc>
              <a:spcBef>
                <a:spcPts val="609"/>
              </a:spcBef>
              <a:tabLst/>
            </a:pP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s=s+</a:t>
            </a:r>
            <a:r>
              <a:rPr sz="2100" kern="0" spc="5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 kern="0" spc="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t_</a:t>
            </a:r>
            <a:r>
              <a:rPr sz="2100" kern="0" spc="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Day</a:t>
            </a:r>
            <a:r>
              <a:rPr sz="2100" kern="0" spc="2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[i]</a:t>
            </a:r>
            <a:endParaRPr sz="2100" dirty="0">
              <a:latin typeface="Times New Roman"/>
              <a:ea typeface="Times New Roman"/>
              <a:cs typeface="Times New Roman"/>
            </a:endParaRPr>
          </a:p>
          <a:p>
            <a:pPr marL="932814" algn="l" rtl="0" eaLnBrk="0">
              <a:lnSpc>
                <a:spcPct val="82000"/>
              </a:lnSpc>
              <a:spcBef>
                <a:spcPts val="137"/>
              </a:spcBef>
              <a:tabLst/>
            </a:pP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n=n+1</a:t>
            </a:r>
            <a:endParaRPr sz="2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spcBef>
                <a:spcPts val="631"/>
              </a:spcBef>
              <a:tabLst/>
            </a:pP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avg</a:t>
            </a: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=s/n</a:t>
            </a:r>
            <a:endParaRPr sz="21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80000"/>
              </a:lnSpc>
              <a:spcBef>
                <a:spcPts val="884"/>
              </a:spcBef>
              <a:tabLst/>
            </a:pPr>
            <a:r>
              <a:rPr sz="2100" kern="0" spc="0" dirty="0">
                <a:solidFill>
                  <a:srgbClr val="A020A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print</a:t>
            </a:r>
            <a:r>
              <a:rPr sz="2100" kern="0" spc="40" dirty="0">
                <a:solidFill>
                  <a:srgbClr val="A020A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avg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21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7000"/>
              </a:lnSpc>
              <a:spcBef>
                <a:spcPts val="254"/>
              </a:spcBef>
              <a:tabLst/>
            </a:pPr>
            <a:r>
              <a:rPr sz="2000" kern="0" spc="0" dirty="0">
                <a:solidFill>
                  <a:srgbClr val="2090B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32.</a:t>
            </a:r>
            <a:r>
              <a:rPr sz="2000" kern="0" spc="0" dirty="0">
                <a:solidFill>
                  <a:srgbClr val="2080C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2" name="rect 82"/>
          <p:cNvSpPr/>
          <p:nvPr/>
        </p:nvSpPr>
        <p:spPr>
          <a:xfrm>
            <a:off x="57180" y="0"/>
            <a:ext cx="12103120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" name="textbox 84"/>
          <p:cNvSpPr/>
          <p:nvPr/>
        </p:nvSpPr>
        <p:spPr>
          <a:xfrm>
            <a:off x="1320861" y="5254924"/>
            <a:ext cx="9393555" cy="4616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7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2900" kern="0" spc="5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方法一：下标访问法</a:t>
            </a:r>
            <a:r>
              <a:rPr sz="2900" kern="0" spc="5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      </a:t>
            </a:r>
            <a:r>
              <a:rPr sz="2900" kern="0" spc="4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600" b="1" kern="0" spc="4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方法二：序列迭代访问法</a:t>
            </a:r>
            <a:endParaRPr sz="2600" dirty="0">
              <a:latin typeface="KaiTi"/>
              <a:ea typeface="KaiTi"/>
              <a:cs typeface="KaiTi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660420" y="1111600"/>
            <a:ext cx="8719819" cy="445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2900" kern="0" spc="-100" dirty="0">
                <a:solidFill>
                  <a:srgbClr val="1060C0">
                    <a:alpha val="100000"/>
                  </a:srgbClr>
                </a:solidFill>
                <a:latin typeface="KaiTi"/>
                <a:ea typeface="KaiTi"/>
                <a:cs typeface="KaiTi"/>
              </a:rPr>
              <a:t>请同学们打开学案，比较两个程序计算平均值</a:t>
            </a:r>
            <a:r>
              <a:rPr sz="2900" kern="0" spc="-110" dirty="0">
                <a:solidFill>
                  <a:srgbClr val="1060C0">
                    <a:alpha val="100000"/>
                  </a:srgbClr>
                </a:solidFill>
                <a:latin typeface="KaiTi"/>
                <a:ea typeface="KaiTi"/>
                <a:cs typeface="KaiTi"/>
              </a:rPr>
              <a:t>有何异同?</a:t>
            </a:r>
            <a:endParaRPr sz="2900" dirty="0">
              <a:latin typeface="KaiTi"/>
              <a:ea typeface="KaiTi"/>
              <a:cs typeface="KaiTi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9607520" y="371811"/>
            <a:ext cx="216852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652916" y="1634925"/>
            <a:ext cx="6957694" cy="3321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1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800" b="1" kern="0" spc="-10" dirty="0">
                <a:solidFill>
                  <a:srgbClr val="20504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思考与讨论</a:t>
            </a:r>
            <a:endParaRPr sz="2800" dirty="0">
              <a:latin typeface="SimSun"/>
              <a:ea typeface="SimSun"/>
              <a:cs typeface="SimSun"/>
            </a:endParaRPr>
          </a:p>
          <a:p>
            <a:pPr marL="629284" algn="l" rtl="0" eaLnBrk="0">
              <a:lnSpc>
                <a:spcPct val="99000"/>
              </a:lnSpc>
              <a:spcBef>
                <a:spcPts val="1480"/>
              </a:spcBef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如何使用电子表格软件计算平均气温?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7485" algn="l" rtl="0" eaLnBrk="0">
              <a:lnSpc>
                <a:spcPct val="95000"/>
              </a:lnSpc>
              <a:spcBef>
                <a:spcPts val="699"/>
              </a:spcBef>
              <a:tabLst/>
            </a:pPr>
            <a:r>
              <a:rPr sz="2300" kern="0" spc="-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</a:t>
            </a:r>
            <a:r>
              <a:rPr sz="2300" kern="0" spc="-1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AVERAGE</a:t>
            </a:r>
            <a:r>
              <a:rPr sz="2300" kern="0" spc="-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函数</a:t>
            </a:r>
            <a:r>
              <a:rPr sz="2300" kern="0" spc="-1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计算</a:t>
            </a:r>
            <a:endParaRPr sz="2300" dirty="0">
              <a:latin typeface="SimSun"/>
              <a:ea typeface="SimSun"/>
              <a:cs typeface="SimSun"/>
            </a:endParaRPr>
          </a:p>
          <a:p>
            <a:pPr marL="629284" algn="l" rtl="0" eaLnBrk="0">
              <a:lnSpc>
                <a:spcPct val="95000"/>
              </a:lnSpc>
              <a:spcBef>
                <a:spcPts val="1775"/>
              </a:spcBef>
              <a:tabLst/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2.从数据准备和求解方法等方面谈谈自己对</a:t>
            </a:r>
            <a:endParaRPr sz="2400" dirty="0">
              <a:latin typeface="KaiTi"/>
              <a:ea typeface="KaiTi"/>
              <a:cs typeface="KaiTi"/>
            </a:endParaRPr>
          </a:p>
          <a:p>
            <a:pPr marL="629284" algn="l" rtl="0" eaLnBrk="0">
              <a:lnSpc>
                <a:spcPct val="93000"/>
              </a:lnSpc>
              <a:spcBef>
                <a:spcPts val="11"/>
              </a:spcBef>
              <a:tabLst/>
            </a:pP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Python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语言和电子表格软件这两种工具的认识。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130935" algn="l" rtl="0" eaLnBrk="0">
              <a:lnSpc>
                <a:spcPts val="3203"/>
              </a:lnSpc>
              <a:spcBef>
                <a:spcPts val="2"/>
              </a:spcBef>
              <a:tabLst/>
            </a:pPr>
            <a:r>
              <a:rPr sz="2300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Python</a:t>
            </a:r>
            <a:r>
              <a:rPr sz="2300" kern="0" spc="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需自定义函数进行求平均</a:t>
            </a:r>
            <a:r>
              <a:rPr sz="2300" kern="0" spc="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值</a:t>
            </a:r>
            <a:endParaRPr sz="2300" dirty="0">
              <a:latin typeface="SimSun"/>
              <a:ea typeface="SimSun"/>
              <a:cs typeface="SimSun"/>
            </a:endParaRPr>
          </a:p>
        </p:txBody>
      </p:sp>
      <p:sp>
        <p:nvSpPr>
          <p:cNvPr id="94" name="rect 94"/>
          <p:cNvSpPr/>
          <p:nvPr/>
        </p:nvSpPr>
        <p:spPr>
          <a:xfrm>
            <a:off x="50840" y="0"/>
            <a:ext cx="12122139" cy="844563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" name="textbox 96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279420" y="1037366"/>
            <a:ext cx="9207500" cy="4918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8630" algn="l" rtl="0" eaLnBrk="0">
              <a:lnSpc>
                <a:spcPct val="96000"/>
              </a:lnSpc>
              <a:tabLst/>
            </a:pPr>
            <a:r>
              <a:rPr sz="30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(3)使用用户自定义函数计算平均值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757"/>
              </a:spcBef>
              <a:tabLst/>
            </a:pPr>
            <a:r>
              <a:rPr sz="2500" kern="0" spc="-8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用户自定义函数：</a:t>
            </a:r>
            <a:r>
              <a:rPr sz="2500" kern="0" spc="-8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500" kern="0" spc="-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由用户自</a:t>
            </a:r>
            <a:r>
              <a:rPr sz="2500" kern="0" spc="-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己编写、能够实现独立功能的语句块。</a:t>
            </a:r>
            <a:endParaRPr sz="2500" dirty="0">
              <a:latin typeface="KaiTi"/>
              <a:ea typeface="KaiTi"/>
              <a:cs typeface="KaiTi"/>
            </a:endParaRPr>
          </a:p>
          <a:p>
            <a:pPr marL="463550" algn="l" rtl="0" eaLnBrk="0">
              <a:lnSpc>
                <a:spcPts val="4496"/>
              </a:lnSpc>
              <a:tabLst/>
            </a:pPr>
            <a:r>
              <a:rPr sz="2800" kern="0" spc="-1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函数定义的一般形式：</a:t>
            </a:r>
            <a:endParaRPr sz="2800" dirty="0">
              <a:latin typeface="KaiTi"/>
              <a:ea typeface="KaiTi"/>
              <a:cs typeface="KaiTi"/>
            </a:endParaRPr>
          </a:p>
          <a:p>
            <a:pPr marL="685800" algn="l" rtl="0" eaLnBrk="0">
              <a:lnSpc>
                <a:spcPct val="91000"/>
              </a:lnSpc>
              <a:spcBef>
                <a:spcPts val="739"/>
              </a:spcBef>
              <a:tabLst/>
            </a:pPr>
            <a:r>
              <a:rPr sz="2800" kern="0" spc="0" dirty="0">
                <a:solidFill>
                  <a:srgbClr val="50902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def</a:t>
            </a:r>
            <a:r>
              <a:rPr sz="2800" kern="0" spc="660" dirty="0">
                <a:solidFill>
                  <a:srgbClr val="50902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1" kern="0" spc="50" dirty="0">
                <a:solidFill>
                  <a:srgbClr val="509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函数名(&lt;参数&gt;):</a:t>
            </a:r>
            <a:endParaRPr sz="2800" dirty="0">
              <a:latin typeface="KaiTi"/>
              <a:ea typeface="KaiTi"/>
              <a:cs typeface="KaiTi"/>
            </a:endParaRPr>
          </a:p>
          <a:p>
            <a:pPr marL="1624330" algn="l" rtl="0" eaLnBrk="0">
              <a:lnSpc>
                <a:spcPts val="3411"/>
              </a:lnSpc>
              <a:tabLst/>
            </a:pPr>
            <a:r>
              <a:rPr sz="2800" b="1" kern="0" spc="-50" dirty="0">
                <a:solidFill>
                  <a:srgbClr val="509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函数体</a:t>
            </a:r>
            <a:endParaRPr sz="2800" dirty="0">
              <a:latin typeface="KaiTi"/>
              <a:ea typeface="KaiTi"/>
              <a:cs typeface="KaiTi"/>
            </a:endParaRPr>
          </a:p>
          <a:p>
            <a:pPr marL="412115" algn="l" rtl="0" eaLnBrk="0">
              <a:lnSpc>
                <a:spcPct val="79000"/>
              </a:lnSpc>
              <a:spcBef>
                <a:spcPts val="1691"/>
              </a:spcBef>
              <a:tabLst/>
            </a:pPr>
            <a:r>
              <a:rPr sz="2400" kern="0" spc="-50" dirty="0">
                <a:solidFill>
                  <a:srgbClr val="FF7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def</a:t>
            </a:r>
            <a:r>
              <a:rPr sz="2400" kern="0" spc="470" dirty="0">
                <a:solidFill>
                  <a:srgbClr val="FF7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-50" dirty="0">
                <a:solidFill>
                  <a:srgbClr val="000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getAvg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(L):</a:t>
            </a:r>
            <a:endParaRPr sz="2400" dirty="0">
              <a:latin typeface="Times New Roman"/>
              <a:ea typeface="Times New Roman"/>
              <a:cs typeface="Times New Roman"/>
            </a:endParaRPr>
          </a:p>
          <a:p>
            <a:pPr marL="862964" algn="l" rtl="0" eaLnBrk="0">
              <a:lnSpc>
                <a:spcPct val="80000"/>
              </a:lnSpc>
              <a:spcBef>
                <a:spcPts val="787"/>
              </a:spcBef>
              <a:tabLst/>
            </a:pPr>
            <a:r>
              <a:rPr sz="2200" kern="0" spc="0" dirty="0">
                <a:solidFill>
                  <a:srgbClr val="FF7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return</a:t>
            </a:r>
            <a:r>
              <a:rPr sz="2200" kern="0" spc="40" dirty="0">
                <a:solidFill>
                  <a:srgbClr val="FF7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200" kern="0" spc="0" dirty="0">
                <a:solidFill>
                  <a:srgbClr val="901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</a:t>
            </a:r>
            <a:r>
              <a:rPr sz="22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(L)/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200" kern="0" spc="0" dirty="0">
                <a:solidFill>
                  <a:srgbClr val="901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len</a:t>
            </a:r>
            <a:r>
              <a:rPr sz="22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(L)</a:t>
            </a:r>
            <a:endParaRPr sz="2200" dirty="0">
              <a:latin typeface="Times New Roman"/>
              <a:ea typeface="Times New Roman"/>
              <a:cs typeface="Times New Roman"/>
            </a:endParaRPr>
          </a:p>
          <a:p>
            <a:pPr marL="412115" algn="l" rtl="0" eaLnBrk="0">
              <a:lnSpc>
                <a:spcPct val="75000"/>
              </a:lnSpc>
              <a:spcBef>
                <a:spcPts val="423"/>
              </a:spcBef>
              <a:tabLst/>
            </a:pP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t_Day=[30.7,31.4,32.3,32.5,32.9</a:t>
            </a: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,32.6,32.3]</a:t>
            </a:r>
            <a:endParaRPr sz="2300" dirty="0">
              <a:latin typeface="Times New Roman"/>
              <a:ea typeface="Times New Roman"/>
              <a:cs typeface="Times New Roman"/>
            </a:endParaRPr>
          </a:p>
          <a:p>
            <a:pPr marL="412115" algn="l" rtl="0" eaLnBrk="0">
              <a:lnSpc>
                <a:spcPts val="2950"/>
              </a:lnSpc>
              <a:tabLst/>
            </a:pP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avg=getAvg(t_Day)</a:t>
            </a:r>
            <a:endParaRPr sz="2300" dirty="0">
              <a:latin typeface="Times New Roman"/>
              <a:ea typeface="Times New Roman"/>
              <a:cs typeface="Times New Roman"/>
            </a:endParaRPr>
          </a:p>
          <a:p>
            <a:pPr marL="412115" algn="l" rtl="0" eaLnBrk="0">
              <a:lnSpc>
                <a:spcPct val="79000"/>
              </a:lnSpc>
              <a:spcBef>
                <a:spcPts val="976"/>
              </a:spcBef>
              <a:tabLst/>
            </a:pPr>
            <a:r>
              <a:rPr sz="2300" kern="0" spc="-10" dirty="0">
                <a:solidFill>
                  <a:srgbClr val="901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print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(avg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2300" dirty="0">
              <a:latin typeface="Times New Roman"/>
              <a:ea typeface="Times New Roman"/>
              <a:cs typeface="Times New Roman"/>
            </a:endParaRPr>
          </a:p>
          <a:p>
            <a:pPr marL="412115" algn="l" rtl="0" eaLnBrk="0">
              <a:lnSpc>
                <a:spcPct val="77000"/>
              </a:lnSpc>
              <a:spcBef>
                <a:spcPts val="510"/>
              </a:spcBef>
              <a:tabLst/>
            </a:pPr>
            <a:r>
              <a:rPr sz="2200" kern="0" spc="-20" dirty="0">
                <a:solidFill>
                  <a:srgbClr val="000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32.1</a:t>
            </a:r>
            <a:endParaRPr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2" name="rect 102"/>
          <p:cNvSpPr/>
          <p:nvPr/>
        </p:nvSpPr>
        <p:spPr>
          <a:xfrm>
            <a:off x="50840" y="6377"/>
            <a:ext cx="12122139" cy="838185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" name="textbox 104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08" name="textbox 108"/>
          <p:cNvSpPr/>
          <p:nvPr/>
        </p:nvSpPr>
        <p:spPr>
          <a:xfrm>
            <a:off x="501680" y="1077730"/>
            <a:ext cx="7002144" cy="4555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7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9000"/>
              </a:lnSpc>
              <a:tabLst/>
            </a:pPr>
            <a:r>
              <a:rPr sz="2900" b="1" kern="0" spc="-1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函数的调用</a:t>
            </a:r>
            <a:endParaRPr sz="29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4464" algn="l" rtl="0" eaLnBrk="0">
              <a:lnSpc>
                <a:spcPct val="98000"/>
              </a:lnSpc>
              <a:spcBef>
                <a:spcPts val="879"/>
              </a:spcBef>
              <a:tabLst/>
            </a:pPr>
            <a:r>
              <a:rPr sz="2900" kern="0" spc="-2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函数调用的一般形式如下：</a:t>
            </a:r>
            <a:endParaRPr sz="2900" dirty="0">
              <a:latin typeface="KaiTi"/>
              <a:ea typeface="KaiTi"/>
              <a:cs typeface="KaiTi"/>
            </a:endParaRPr>
          </a:p>
          <a:p>
            <a:pPr marL="874394" algn="l" rtl="0" eaLnBrk="0">
              <a:lnSpc>
                <a:spcPct val="100000"/>
              </a:lnSpc>
              <a:spcBef>
                <a:spcPts val="462"/>
              </a:spcBef>
              <a:tabLst/>
            </a:pPr>
            <a:r>
              <a:rPr sz="2600" b="1" kern="0" spc="170" dirty="0">
                <a:solidFill>
                  <a:srgbClr val="609030">
                    <a:alpha val="100000"/>
                  </a:srgbClr>
                </a:solidFill>
                <a:latin typeface="KaiTi"/>
                <a:ea typeface="KaiTi"/>
                <a:cs typeface="KaiTi"/>
              </a:rPr>
              <a:t>函数名(&lt;参数值列表&gt;):</a:t>
            </a:r>
            <a:endParaRPr sz="26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100000"/>
              </a:lnSpc>
              <a:spcBef>
                <a:spcPts val="709"/>
              </a:spcBef>
              <a:tabLst/>
            </a:pPr>
            <a:r>
              <a:rPr sz="2400" kern="0" spc="-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思考：若计算平均值的方法为去掉最高分</a:t>
            </a:r>
            <a:r>
              <a:rPr sz="2400" kern="0" spc="-2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和最低分再</a:t>
            </a:r>
            <a:r>
              <a:rPr sz="2400" kern="0" spc="-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2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取平均值呢?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9565" algn="l" rtl="0" eaLnBrk="0">
              <a:lnSpc>
                <a:spcPct val="79000"/>
              </a:lnSpc>
              <a:spcBef>
                <a:spcPts val="728"/>
              </a:spcBef>
              <a:tabLst/>
            </a:pPr>
            <a:r>
              <a:rPr sz="2400" kern="0" spc="0" dirty="0">
                <a:solidFill>
                  <a:srgbClr val="FF7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def </a:t>
            </a:r>
            <a:r>
              <a:rPr sz="2400" kern="0" spc="0" dirty="0">
                <a:solidFill>
                  <a:srgbClr val="000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getAvg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(L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):</a:t>
            </a:r>
            <a:endParaRPr sz="2400" dirty="0">
              <a:latin typeface="Times New Roman"/>
              <a:ea typeface="Times New Roman"/>
              <a:cs typeface="Times New Roman"/>
            </a:endParaRPr>
          </a:p>
          <a:p>
            <a:pPr marL="1180464" algn="l" rtl="0" eaLnBrk="0">
              <a:lnSpc>
                <a:spcPct val="78000"/>
              </a:lnSpc>
              <a:spcBef>
                <a:spcPts val="283"/>
              </a:spcBef>
              <a:tabLst/>
            </a:pPr>
            <a:r>
              <a:rPr sz="2200" kern="0" spc="0" dirty="0">
                <a:solidFill>
                  <a:srgbClr val="FF7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return</a:t>
            </a:r>
            <a:r>
              <a:rPr sz="2200" kern="0" spc="20" dirty="0">
                <a:solidFill>
                  <a:srgbClr val="FF7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2200" kern="0" spc="20" dirty="0">
                <a:solidFill>
                  <a:srgbClr val="903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2200" kern="0" spc="0" dirty="0">
                <a:solidFill>
                  <a:srgbClr val="903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sum</a:t>
            </a:r>
            <a:r>
              <a:rPr sz="2200" kern="0" spc="300" dirty="0">
                <a:solidFill>
                  <a:srgbClr val="903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(L)-</a:t>
            </a:r>
            <a:r>
              <a:rPr sz="2200" kern="0" spc="0" dirty="0">
                <a:solidFill>
                  <a:srgbClr val="A010A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max</a:t>
            </a:r>
            <a:r>
              <a:rPr sz="2200" kern="0" spc="-100" dirty="0">
                <a:solidFill>
                  <a:srgbClr val="A010A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(L)-</a:t>
            </a:r>
            <a:r>
              <a:rPr sz="2200" kern="0" spc="0" dirty="0">
                <a:solidFill>
                  <a:srgbClr val="A010A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min</a:t>
            </a:r>
            <a:r>
              <a:rPr sz="2200" kern="0" spc="70" dirty="0">
                <a:solidFill>
                  <a:srgbClr val="A010A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(L))/</a:t>
            </a:r>
            <a:r>
              <a:rPr sz="2200" kern="0" spc="2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200" kern="0" spc="20" dirty="0">
                <a:solidFill>
                  <a:srgbClr val="A010A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2200" kern="0" spc="0" dirty="0">
                <a:solidFill>
                  <a:srgbClr val="A010A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len</a:t>
            </a:r>
            <a:r>
              <a:rPr sz="2200" kern="0" spc="-200" dirty="0">
                <a:solidFill>
                  <a:srgbClr val="A010A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(L)-2)</a:t>
            </a:r>
            <a:endParaRPr sz="2200" dirty="0">
              <a:latin typeface="Times New Roman"/>
              <a:ea typeface="Times New Roman"/>
              <a:cs typeface="Times New Roman"/>
            </a:endParaRPr>
          </a:p>
          <a:p>
            <a:pPr marL="253365" algn="l" rtl="0" eaLnBrk="0">
              <a:lnSpc>
                <a:spcPts val="3049"/>
              </a:lnSpc>
              <a:tabLst/>
            </a:pP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t_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Day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=[30.7,31.4,32.3,32.5,32.9,32.6,32.3]</a:t>
            </a:r>
            <a:endParaRPr sz="2200" dirty="0">
              <a:latin typeface="Times New Roman"/>
              <a:ea typeface="Times New Roman"/>
              <a:cs typeface="Times New Roman"/>
            </a:endParaRPr>
          </a:p>
          <a:p>
            <a:pPr marL="253365" algn="l" rtl="0" eaLnBrk="0">
              <a:lnSpc>
                <a:spcPct val="80000"/>
              </a:lnSpc>
              <a:spcBef>
                <a:spcPts val="891"/>
              </a:spcBef>
              <a:tabLst/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avg</a:t>
            </a:r>
            <a:r>
              <a:rPr sz="22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getAvg</a:t>
            </a:r>
            <a:r>
              <a:rPr sz="22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(t_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Day</a:t>
            </a:r>
            <a:r>
              <a:rPr sz="22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22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6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3365" algn="l" rtl="0" eaLnBrk="0">
              <a:lnSpc>
                <a:spcPct val="80000"/>
              </a:lnSpc>
              <a:tabLst/>
            </a:pPr>
            <a:r>
              <a:rPr sz="2200" kern="0" spc="-10" dirty="0">
                <a:solidFill>
                  <a:srgbClr val="901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print</a:t>
            </a:r>
            <a:r>
              <a:rPr sz="2200" kern="0" spc="-210" dirty="0">
                <a:solidFill>
                  <a:srgbClr val="901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(avg)</a:t>
            </a:r>
            <a:endParaRPr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0" name="rect 110"/>
          <p:cNvSpPr/>
          <p:nvPr/>
        </p:nvSpPr>
        <p:spPr>
          <a:xfrm>
            <a:off x="44500" y="6377"/>
            <a:ext cx="12128479" cy="838185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" name="textbox 112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695284" y="1073904"/>
            <a:ext cx="5762625" cy="3336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7804" algn="l" rtl="0" eaLnBrk="0">
              <a:lnSpc>
                <a:spcPct val="95000"/>
              </a:lnSpc>
              <a:tabLst/>
            </a:pPr>
            <a:r>
              <a:rPr sz="30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(4)读取文件中的数据到列表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1275" algn="l" rtl="0" eaLnBrk="0">
              <a:lnSpc>
                <a:spcPct val="98000"/>
              </a:lnSpc>
              <a:spcBef>
                <a:spcPts val="728"/>
              </a:spcBef>
              <a:tabLst/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某地一个月的日平均气温都存放在文件</a:t>
            </a:r>
            <a:endParaRPr sz="2400" dirty="0">
              <a:latin typeface="KaiTi"/>
              <a:ea typeface="KaiTi"/>
              <a:cs typeface="KaiTi"/>
            </a:endParaRPr>
          </a:p>
          <a:p>
            <a:pPr marL="21590" indent="146050" algn="l" rtl="0" eaLnBrk="0">
              <a:lnSpc>
                <a:spcPct val="98000"/>
              </a:lnSpc>
              <a:spcBef>
                <a:spcPts val="75"/>
              </a:spcBef>
              <a:tabLst/>
            </a:pP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“201308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tq.txt”  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中，如何计算存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储在其中的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平均气温数据的平均值呢?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71475" algn="l" rtl="0" eaLnBrk="0">
              <a:lnSpc>
                <a:spcPts val="3409"/>
              </a:lnSpc>
              <a:spcBef>
                <a:spcPts val="841"/>
              </a:spcBef>
              <a:tabLst/>
            </a:pPr>
            <a:r>
              <a:rPr sz="2800" kern="0" spc="-1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文件的快速访问方式：</a:t>
            </a:r>
            <a:endParaRPr sz="2800" dirty="0">
              <a:latin typeface="KaiTi"/>
              <a:ea typeface="KaiTi"/>
              <a:cs typeface="KaiTi"/>
            </a:endParaRPr>
          </a:p>
          <a:p>
            <a:pPr marL="1069975" algn="l" rtl="0" eaLnBrk="0">
              <a:lnSpc>
                <a:spcPct val="93000"/>
              </a:lnSpc>
              <a:spcBef>
                <a:spcPts val="323"/>
              </a:spcBef>
              <a:tabLst/>
            </a:pPr>
            <a:r>
              <a:rPr sz="2800" kern="0" spc="-40" dirty="0">
                <a:solidFill>
                  <a:srgbClr val="609030">
                    <a:alpha val="100000"/>
                  </a:srgbClr>
                </a:solidFill>
                <a:latin typeface="KaiTi"/>
                <a:ea typeface="KaiTi"/>
                <a:cs typeface="KaiTi"/>
              </a:rPr>
              <a:t>列表=</a:t>
            </a:r>
            <a:r>
              <a:rPr sz="2800" kern="0" spc="-40" dirty="0">
                <a:solidFill>
                  <a:srgbClr val="609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list(open(</a:t>
            </a:r>
            <a:r>
              <a:rPr sz="2800" kern="0" spc="-40" dirty="0">
                <a:solidFill>
                  <a:srgbClr val="609030">
                    <a:alpha val="100000"/>
                  </a:srgbClr>
                </a:solidFill>
                <a:latin typeface="KaiTi"/>
                <a:ea typeface="KaiTi"/>
                <a:cs typeface="KaiTi"/>
              </a:rPr>
              <a:t>文件名))</a:t>
            </a:r>
            <a:endParaRPr sz="2800" dirty="0">
              <a:latin typeface="KaiTi"/>
              <a:ea typeface="KaiTi"/>
              <a:cs typeface="KaiTi"/>
            </a:endParaRPr>
          </a:p>
        </p:txBody>
      </p:sp>
      <p:sp>
        <p:nvSpPr>
          <p:cNvPr id="118" name="rect 118"/>
          <p:cNvSpPr/>
          <p:nvPr/>
        </p:nvSpPr>
        <p:spPr>
          <a:xfrm>
            <a:off x="50840" y="0"/>
            <a:ext cx="12115800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0" name="textbox 120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1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24" name="textbox 124"/>
          <p:cNvSpPr/>
          <p:nvPr/>
        </p:nvSpPr>
        <p:spPr>
          <a:xfrm>
            <a:off x="374639" y="919641"/>
            <a:ext cx="6489700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5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indent="-5714" algn="l" rtl="0" eaLnBrk="0">
              <a:lnSpc>
                <a:spcPct val="97000"/>
              </a:lnSpc>
              <a:tabLst/>
            </a:pP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8.1</a:t>
            </a:r>
            <a:r>
              <a:rPr sz="2900" kern="0" spc="-6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编写程序，计算</a:t>
            </a:r>
            <a:r>
              <a:rPr sz="2900" kern="0" spc="-1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文件“201308</a:t>
            </a:r>
            <a:r>
              <a:rPr sz="2900" kern="0" spc="-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tq.txt”  </a:t>
            </a:r>
            <a:r>
              <a:rPr sz="2900" kern="0" spc="-1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中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存储的31个日的平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均气温数据的平均值。</a:t>
            </a:r>
            <a:endParaRPr sz="29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5900" algn="l" rtl="0" eaLnBrk="0">
              <a:lnSpc>
                <a:spcPct val="96000"/>
              </a:lnSpc>
              <a:spcBef>
                <a:spcPts val="819"/>
              </a:spcBef>
              <a:tabLst/>
            </a:pPr>
            <a:r>
              <a:rPr sz="2700" kern="0" spc="1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(1)编写并测试函数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readList</a:t>
            </a:r>
            <a:r>
              <a:rPr sz="27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2700" dirty="0">
              <a:latin typeface="Times New Roman"/>
              <a:ea typeface="Times New Roman"/>
              <a:cs typeface="Times New Roman"/>
            </a:endParaRPr>
          </a:p>
          <a:p>
            <a:pPr marL="1923414" algn="l" rtl="0" eaLnBrk="0">
              <a:lnSpc>
                <a:spcPct val="99000"/>
              </a:lnSpc>
              <a:spcBef>
                <a:spcPts val="661"/>
              </a:spcBef>
              <a:tabLst/>
            </a:pP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设计算法</a:t>
            </a:r>
            <a:endParaRPr sz="2700" dirty="0">
              <a:latin typeface="KaiTi"/>
              <a:ea typeface="KaiTi"/>
              <a:cs typeface="KaiTi"/>
            </a:endParaRPr>
          </a:p>
        </p:txBody>
      </p:sp>
      <p:sp>
        <p:nvSpPr>
          <p:cNvPr id="126" name="rect 126"/>
          <p:cNvSpPr/>
          <p:nvPr/>
        </p:nvSpPr>
        <p:spPr>
          <a:xfrm>
            <a:off x="69860" y="0"/>
            <a:ext cx="12096780" cy="844563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28" name="table 128"/>
          <p:cNvGraphicFramePr>
            <a:graphicFrameLocks noGrp="1"/>
          </p:cNvGraphicFramePr>
          <p:nvPr/>
        </p:nvGraphicFramePr>
        <p:xfrm>
          <a:off x="765164" y="3114677"/>
          <a:ext cx="4864100" cy="1416050"/>
        </p:xfrm>
        <a:graphic>
          <a:graphicData uri="http://schemas.openxmlformats.org/drawingml/2006/table">
            <a:tbl>
              <a:tblPr/>
              <a:tblGrid>
                <a:gridCol w="4864100"/>
              </a:tblGrid>
              <a:tr h="140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1.读入文件数据到列表L;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97789" algn="l" rtl="0" eaLnBrk="0">
                        <a:lnSpc>
                          <a:spcPct val="103000"/>
                        </a:lnSpc>
                        <a:spcBef>
                          <a:spcPts val="333"/>
                        </a:spcBef>
                        <a:tabLst/>
                      </a:pPr>
                      <a:r>
                        <a:rPr sz="2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2.将L中的数据项转</a:t>
                      </a: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化为整数   </a:t>
                      </a:r>
                      <a:r>
                        <a:rPr sz="2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3.返回  </a:t>
                      </a:r>
                      <a:r>
                        <a:rPr sz="2700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0" name="textbox 130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134" name="table 134"/>
          <p:cNvGraphicFramePr>
            <a:graphicFrameLocks noGrp="1"/>
          </p:cNvGraphicFramePr>
          <p:nvPr/>
        </p:nvGraphicFramePr>
        <p:xfrm>
          <a:off x="663605" y="1508122"/>
          <a:ext cx="8514715" cy="4591050"/>
        </p:xfrm>
        <a:graphic>
          <a:graphicData uri="http://schemas.openxmlformats.org/drawingml/2006/table">
            <a:tbl>
              <a:tblPr/>
              <a:tblGrid>
                <a:gridCol w="1368425"/>
                <a:gridCol w="4609465"/>
                <a:gridCol w="2536825"/>
              </a:tblGrid>
              <a:tr h="54292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850"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19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336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*访问文本数</a:t>
                      </a:r>
                      <a:r>
                        <a:rPr sz="700" kern="0" spc="70" dirty="0">
                          <a:solidFill>
                            <a:srgbClr val="606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据.</a:t>
                      </a:r>
                      <a:r>
                        <a:rPr sz="700" kern="0" spc="0" dirty="0">
                          <a:solidFill>
                            <a:srgbClr val="606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py</a:t>
                      </a:r>
                      <a:r>
                        <a:rPr sz="700" kern="0" spc="70" dirty="0">
                          <a:solidFill>
                            <a:srgbClr val="606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-C:\</a:t>
                      </a:r>
                      <a:r>
                        <a:rPr sz="700" kern="0" spc="0" dirty="0">
                          <a:solidFill>
                            <a:srgbClr val="606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Users</a:t>
                      </a:r>
                      <a:r>
                        <a:rPr sz="700" kern="0" spc="70" dirty="0">
                          <a:solidFill>
                            <a:srgbClr val="606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\</a:t>
                      </a:r>
                      <a:r>
                        <a:rPr sz="700" kern="0" spc="0" dirty="0">
                          <a:solidFill>
                            <a:srgbClr val="606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Administrator</a:t>
                      </a:r>
                      <a:r>
                        <a:rPr sz="700" kern="0" spc="70" dirty="0">
                          <a:solidFill>
                            <a:srgbClr val="606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\</a:t>
                      </a:r>
                      <a:r>
                        <a:rPr sz="700" kern="0" spc="0" dirty="0">
                          <a:solidFill>
                            <a:srgbClr val="606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Desktop</a:t>
                      </a:r>
                      <a:r>
                        <a:rPr sz="700" kern="0" spc="70" dirty="0">
                          <a:solidFill>
                            <a:srgbClr val="606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\访问文本数</a:t>
                      </a:r>
                      <a:r>
                        <a:rPr sz="700" kern="0" spc="60" dirty="0">
                          <a:solidFill>
                            <a:srgbClr val="606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据.</a:t>
                      </a:r>
                      <a:r>
                        <a:rPr sz="700" kern="0" spc="0" dirty="0">
                          <a:solidFill>
                            <a:srgbClr val="606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py</a:t>
                      </a:r>
                      <a:r>
                        <a:rPr sz="700" kern="0" spc="190" dirty="0">
                          <a:solidFill>
                            <a:srgbClr val="606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700" kern="0" spc="60" dirty="0">
                          <a:solidFill>
                            <a:srgbClr val="606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(3.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1115" algn="l" rtl="0" eaLnBrk="0">
                        <a:lnSpc>
                          <a:spcPct val="8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20" dirty="0">
                          <a:solidFill>
                            <a:srgbClr val="606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File   Edit</a:t>
                      </a:r>
                      <a:r>
                        <a:rPr sz="700" kern="0" spc="50" dirty="0">
                          <a:solidFill>
                            <a:srgbClr val="606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700" kern="0" spc="20" dirty="0">
                          <a:solidFill>
                            <a:srgbClr val="606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Forma</a:t>
                      </a:r>
                      <a:r>
                        <a:rPr sz="700" kern="0" spc="2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t</a:t>
                      </a:r>
                      <a:r>
                        <a:rPr sz="700" kern="0" spc="1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700" kern="0" spc="2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Ru</a:t>
                      </a:r>
                      <a:r>
                        <a:rPr sz="700" kern="0" spc="20" dirty="0">
                          <a:solidFill>
                            <a:srgbClr val="707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n</a:t>
                      </a:r>
                      <a:r>
                        <a:rPr sz="700" kern="0" spc="250" dirty="0">
                          <a:solidFill>
                            <a:srgbClr val="707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700" kern="0" spc="2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Options</a:t>
                      </a:r>
                      <a:r>
                        <a:rPr sz="700" kern="0" spc="3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700" kern="0" spc="2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Window</a:t>
                      </a:r>
                      <a:r>
                        <a:rPr sz="700" kern="0" spc="15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Help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6323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4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600" kern="0" spc="50" dirty="0">
                          <a:solidFill>
                            <a:srgbClr val="C01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#</a:t>
                      </a:r>
                      <a:r>
                        <a:rPr sz="600" kern="0" spc="50" dirty="0">
                          <a:solidFill>
                            <a:srgbClr val="E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完</a:t>
                      </a:r>
                      <a:r>
                        <a:rPr sz="600" kern="0" spc="-40" dirty="0">
                          <a:solidFill>
                            <a:srgbClr val="E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E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善</a:t>
                      </a:r>
                      <a:r>
                        <a:rPr sz="600" kern="0" spc="-50" dirty="0">
                          <a:solidFill>
                            <a:srgbClr val="E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E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程</a:t>
                      </a:r>
                      <a:r>
                        <a:rPr sz="600" kern="0" spc="-50" dirty="0">
                          <a:solidFill>
                            <a:srgbClr val="E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E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序 ， 实</a:t>
                      </a:r>
                      <a:r>
                        <a:rPr sz="600" kern="0" spc="-40" dirty="0">
                          <a:solidFill>
                            <a:srgbClr val="E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E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现 自 定</a:t>
                      </a:r>
                      <a:r>
                        <a:rPr sz="600" kern="0" spc="-40" dirty="0">
                          <a:solidFill>
                            <a:srgbClr val="E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E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义 函</a:t>
                      </a:r>
                      <a:r>
                        <a:rPr sz="600" kern="0" spc="50" dirty="0">
                          <a:solidFill>
                            <a:srgbClr val="C02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</a:t>
                      </a:r>
                      <a:r>
                        <a:rPr sz="600" kern="0" spc="0" dirty="0">
                          <a:solidFill>
                            <a:srgbClr val="C02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read</a:t>
                      </a:r>
                      <a:r>
                        <a:rPr sz="600" kern="0" spc="-140" dirty="0">
                          <a:solidFill>
                            <a:srgbClr val="C02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C02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Lis</a:t>
                      </a:r>
                      <a:r>
                        <a:rPr sz="600" kern="0" spc="0" dirty="0">
                          <a:solidFill>
                            <a:srgbClr val="D0201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t</a:t>
                      </a:r>
                      <a:r>
                        <a:rPr sz="600" kern="0" spc="130" dirty="0">
                          <a:solidFill>
                            <a:srgbClr val="D0201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D0201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的 功 能 </a:t>
                      </a:r>
                      <a:r>
                        <a:rPr sz="600" kern="0" spc="40" dirty="0">
                          <a:solidFill>
                            <a:srgbClr val="D0201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。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064" algn="l" rtl="0" eaLnBrk="0">
                        <a:lnSpc>
                          <a:spcPts val="739"/>
                        </a:lnSpc>
                        <a:tabLst/>
                      </a:pPr>
                      <a:r>
                        <a:rPr sz="600" kern="0" spc="20" dirty="0">
                          <a:solidFill>
                            <a:srgbClr val="E06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d</a:t>
                      </a:r>
                      <a:r>
                        <a:rPr sz="600" kern="0" spc="2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ef</a:t>
                      </a:r>
                      <a:r>
                        <a:rPr sz="600" kern="0" spc="4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600" kern="0" spc="2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readli</a:t>
                      </a: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st(filename)</a:t>
                      </a:r>
                      <a:r>
                        <a:rPr sz="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: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253365" algn="l" rtl="0" eaLnBrk="0">
                        <a:lnSpc>
                          <a:spcPts val="729"/>
                        </a:lnSpc>
                        <a:spcBef>
                          <a:spcPts val="48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E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#</a:t>
                      </a:r>
                      <a:r>
                        <a:rPr sz="600" kern="0" spc="60" dirty="0">
                          <a:solidFill>
                            <a:srgbClr val="E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E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访</a:t>
                      </a:r>
                      <a:r>
                        <a:rPr sz="600" kern="0" spc="130" dirty="0">
                          <a:solidFill>
                            <a:srgbClr val="E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E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问</a:t>
                      </a:r>
                      <a:r>
                        <a:rPr sz="600" kern="0" spc="60" dirty="0">
                          <a:solidFill>
                            <a:srgbClr val="E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E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</a:t>
                      </a:r>
                      <a:r>
                        <a:rPr sz="600" kern="0" spc="60" dirty="0">
                          <a:solidFill>
                            <a:srgbClr val="E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E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件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253365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E07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for</a:t>
                      </a:r>
                      <a:r>
                        <a:rPr sz="600" kern="0" spc="20" dirty="0">
                          <a:solidFill>
                            <a:srgbClr val="E07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600" kern="0" spc="0" dirty="0">
                          <a:solidFill>
                            <a:srgbClr val="305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</a:t>
                      </a:r>
                      <a:r>
                        <a:rPr sz="600" kern="0" spc="250" dirty="0">
                          <a:solidFill>
                            <a:srgbClr val="305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D0601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in</a:t>
                      </a:r>
                      <a:r>
                        <a:rPr sz="600" kern="0" spc="230" dirty="0">
                          <a:solidFill>
                            <a:srgbClr val="D0601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903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range</a:t>
                      </a:r>
                      <a:r>
                        <a:rPr sz="600" kern="0" spc="20" dirty="0">
                          <a:solidFill>
                            <a:srgbClr val="903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</a:t>
                      </a:r>
                      <a:r>
                        <a:rPr sz="600" kern="0" spc="0" dirty="0">
                          <a:solidFill>
                            <a:srgbClr val="903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len</a:t>
                      </a:r>
                      <a:r>
                        <a:rPr sz="600" kern="0" spc="20" dirty="0">
                          <a:solidFill>
                            <a:srgbClr val="903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(L)):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457200" algn="l" rtl="0" eaLnBrk="0">
                        <a:lnSpc>
                          <a:spcPts val="741"/>
                        </a:lnSpc>
                        <a:tabLst/>
                      </a:pPr>
                      <a:r>
                        <a:rPr sz="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L[i]=</a:t>
                      </a:r>
                      <a:r>
                        <a:rPr sz="600" kern="0" spc="0" dirty="0">
                          <a:solidFill>
                            <a:srgbClr val="8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int</a:t>
                      </a:r>
                      <a:r>
                        <a:rPr sz="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(L[i])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208915" algn="l" rtl="0" eaLnBrk="0">
                        <a:lnSpc>
                          <a:spcPts val="732"/>
                        </a:lnSpc>
                        <a:spcBef>
                          <a:spcPts val="148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A01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#</a:t>
                      </a:r>
                      <a:r>
                        <a:rPr sz="600" kern="0" spc="40" dirty="0">
                          <a:solidFill>
                            <a:srgbClr val="C02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返</a:t>
                      </a:r>
                      <a:r>
                        <a:rPr sz="600" kern="0" spc="40" dirty="0">
                          <a:solidFill>
                            <a:srgbClr val="E0101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回值</a:t>
                      </a:r>
                      <a:endParaRPr sz="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3135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在系统(C:)中搜索         </a:t>
                      </a:r>
                      <a:r>
                        <a:rPr sz="1300" kern="0" spc="30" baseline="-4006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</a:t>
                      </a:r>
                      <a:endParaRPr sz="1300" baseline="-4006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700" algn="l" rtl="0" eaLnBrk="0">
                        <a:lnSpc>
                          <a:spcPts val="1012"/>
                        </a:lnSpc>
                        <a:spcBef>
                          <a:spcPts val="791"/>
                        </a:spcBef>
                        <a:tabLst/>
                      </a:pPr>
                      <a:r>
                        <a:rPr sz="800" kern="0" spc="40" dirty="0">
                          <a:solidFill>
                            <a:srgbClr val="203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修改</a:t>
                      </a:r>
                      <a:r>
                        <a:rPr sz="800" kern="0" spc="40" dirty="0">
                          <a:solidFill>
                            <a:srgbClr val="204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日</a:t>
                      </a:r>
                      <a:r>
                        <a:rPr sz="800" kern="0" spc="40" dirty="0">
                          <a:solidFill>
                            <a:srgbClr val="103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期</a:t>
                      </a:r>
                      <a:r>
                        <a:rPr sz="800" kern="0" spc="10" dirty="0">
                          <a:solidFill>
                            <a:srgbClr val="103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   </a:t>
                      </a:r>
                      <a:r>
                        <a:rPr sz="800" kern="0" spc="0" dirty="0">
                          <a:solidFill>
                            <a:srgbClr val="103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800" kern="0" spc="40" dirty="0">
                          <a:solidFill>
                            <a:srgbClr val="305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类型</a:t>
                      </a:r>
                      <a:r>
                        <a:rPr sz="800" kern="0" spc="10" dirty="0">
                          <a:solidFill>
                            <a:srgbClr val="305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       </a:t>
                      </a:r>
                      <a:r>
                        <a:rPr sz="800" kern="0" spc="40" dirty="0">
                          <a:solidFill>
                            <a:srgbClr val="203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大小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700" algn="l" rtl="0" eaLnBrk="0">
                        <a:lnSpc>
                          <a:spcPts val="1089"/>
                        </a:lnSpc>
                        <a:spcBef>
                          <a:spcPts val="737"/>
                        </a:spcBef>
                        <a:tabLst/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2024/4/920:59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</a:t>
                      </a:r>
                      <a:r>
                        <a:rPr sz="1300" kern="0" spc="10" baseline="9878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文件夹</a:t>
                      </a:r>
                      <a:endParaRPr sz="1300" baseline="9878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700" algn="l" rtl="0" eaLnBrk="0">
                        <a:lnSpc>
                          <a:spcPts val="986"/>
                        </a:lnSpc>
                        <a:spcBef>
                          <a:spcPts val="34"/>
                        </a:spcBef>
                        <a:tabLst/>
                      </a:pPr>
                      <a:r>
                        <a:rPr sz="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2024/8/1921:29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文件夹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700" algn="l" rtl="0" eaLnBrk="0">
                        <a:lnSpc>
                          <a:spcPts val="1042"/>
                        </a:lnSpc>
                        <a:spcBef>
                          <a:spcPts val="164"/>
                        </a:spcBef>
                        <a:tabLst/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2024/4/920:32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</a:t>
                      </a:r>
                      <a:r>
                        <a:rPr sz="1300" kern="0" spc="10" baseline="-3286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文件夹</a:t>
                      </a:r>
                      <a:endParaRPr sz="1300" baseline="-3286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700" algn="l" rtl="0" eaLnBrk="0">
                        <a:lnSpc>
                          <a:spcPts val="986"/>
                        </a:lnSpc>
                        <a:spcBef>
                          <a:spcPts val="158"/>
                        </a:spcBef>
                        <a:tabLst/>
                      </a:pPr>
                      <a:r>
                        <a:rPr sz="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2019/12/</a:t>
                      </a:r>
                      <a:r>
                        <a:rPr sz="800" kern="0" spc="20" dirty="0">
                          <a:solidFill>
                            <a:srgbClr val="5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717:14</a:t>
                      </a:r>
                      <a:r>
                        <a:rPr sz="800" kern="0" spc="50" dirty="0">
                          <a:solidFill>
                            <a:srgbClr val="5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文件夹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700" algn="l" rtl="0" eaLnBrk="0">
                        <a:lnSpc>
                          <a:spcPts val="986"/>
                        </a:lnSpc>
                        <a:spcBef>
                          <a:spcPts val="214"/>
                        </a:spcBef>
                        <a:tabLst/>
                      </a:pPr>
                      <a:r>
                        <a:rPr sz="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2024/9/121:11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</a:t>
                      </a:r>
                      <a:r>
                        <a:rPr sz="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文件夹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700" algn="l" rtl="0" eaLnBrk="0">
                        <a:lnSpc>
                          <a:spcPts val="986"/>
                        </a:lnSpc>
                        <a:spcBef>
                          <a:spcPts val="114"/>
                        </a:spcBef>
                        <a:tabLst/>
                      </a:pPr>
                      <a:r>
                        <a:rPr sz="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2024/8/2710:18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文件夹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700" algn="l" rtl="0" eaLnBrk="0">
                        <a:lnSpc>
                          <a:spcPts val="1092"/>
                        </a:lnSpc>
                        <a:spcBef>
                          <a:spcPts val="164"/>
                        </a:spcBef>
                        <a:tabLst/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2024/9/320:29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</a:t>
                      </a:r>
                      <a:r>
                        <a:rPr sz="1300" kern="0" spc="10" baseline="-608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文件夹</a:t>
                      </a:r>
                      <a:endParaRPr sz="1300" baseline="-6085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700" algn="l" rtl="0" eaLnBrk="0">
                        <a:lnSpc>
                          <a:spcPts val="986"/>
                        </a:lnSpc>
                        <a:spcBef>
                          <a:spcPts val="107"/>
                        </a:spcBef>
                        <a:tabLst/>
                      </a:pPr>
                      <a:r>
                        <a:rPr sz="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2024/5/1914:00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文件夹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700" algn="l" rtl="0" eaLnBrk="0">
                        <a:lnSpc>
                          <a:spcPts val="1092"/>
                        </a:lnSpc>
                        <a:spcBef>
                          <a:spcPts val="164"/>
                        </a:spcBef>
                        <a:tabLst/>
                      </a:pPr>
                      <a:r>
                        <a:rPr sz="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2024/8/31</a:t>
                      </a: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13:23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300" kern="0" spc="10" baseline="-608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文件夹</a:t>
                      </a:r>
                      <a:endParaRPr sz="1300" baseline="-6085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700" algn="l" rtl="0" eaLnBrk="0">
                        <a:lnSpc>
                          <a:spcPts val="986"/>
                        </a:lnSpc>
                        <a:spcBef>
                          <a:spcPts val="107"/>
                        </a:spcBef>
                        <a:tabLst/>
                      </a:pPr>
                      <a:r>
                        <a:rPr sz="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2024/6/170:10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</a:t>
                      </a:r>
                      <a:r>
                        <a:rPr sz="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文件夹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700" algn="l" rtl="0" eaLnBrk="0">
                        <a:lnSpc>
                          <a:spcPct val="85000"/>
                        </a:lnSpc>
                        <a:spcBef>
                          <a:spcPts val="170"/>
                        </a:spcBef>
                        <a:tabLst/>
                      </a:pPr>
                      <a:r>
                        <a:rPr sz="1300" kern="0" spc="10" baseline="4006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2024/8/3117:20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本文档</a:t>
                      </a: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      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1800" kern="0" spc="0" baseline="-20256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1K</a:t>
                      </a:r>
                      <a:endParaRPr sz="1800" baseline="-20256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700" algn="l" rtl="0" eaLnBrk="0">
                        <a:lnSpc>
                          <a:spcPct val="87000"/>
                        </a:lnSpc>
                        <a:spcBef>
                          <a:spcPts val="9"/>
                        </a:spcBef>
                        <a:tabLst/>
                      </a:pPr>
                      <a:r>
                        <a:rPr sz="1300" kern="0" spc="10" baseline="4006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2024/7/1311:46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LOCALSTORAG</a:t>
                      </a: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.…</a:t>
                      </a: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  </a:t>
                      </a:r>
                      <a:r>
                        <a:rPr sz="1800" kern="0" spc="10" baseline="-1736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3k</a:t>
                      </a:r>
                      <a:endParaRPr sz="1800" baseline="-17362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700" algn="l" rtl="0" eaLnBrk="0">
                        <a:lnSpc>
                          <a:spcPct val="91000"/>
                        </a:lnSpc>
                        <a:spcBef>
                          <a:spcPts val="12"/>
                        </a:spcBef>
                        <a:tabLst/>
                      </a:pPr>
                      <a:r>
                        <a:rPr sz="1300" kern="0" spc="10" baseline="4006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2024/5/1914:00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本文档                </a:t>
                      </a:r>
                      <a:r>
                        <a:rPr sz="1800" kern="0" spc="0" baseline="-23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1K</a:t>
                      </a:r>
                      <a:endParaRPr sz="1800" baseline="-2315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-50" dirty="0">
                          <a:solidFill>
                            <a:srgbClr val="70C0D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旺</a:t>
                      </a:r>
                      <a:r>
                        <a:rPr sz="1400" kern="0" spc="-50" dirty="0">
                          <a:solidFill>
                            <a:srgbClr val="3090C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口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65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06215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Ln</a:t>
                      </a:r>
                      <a:r>
                        <a:rPr sz="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:3 </a:t>
                      </a:r>
                      <a:r>
                        <a:rPr sz="800" kern="0" spc="0" dirty="0">
                          <a:solidFill>
                            <a:srgbClr val="203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Col</a:t>
                      </a:r>
                      <a:r>
                        <a:rPr sz="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:4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6" name="rect 136"/>
          <p:cNvSpPr/>
          <p:nvPr/>
        </p:nvSpPr>
        <p:spPr>
          <a:xfrm>
            <a:off x="57180" y="0"/>
            <a:ext cx="12122139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8" name="textbox 138"/>
          <p:cNvSpPr/>
          <p:nvPr/>
        </p:nvSpPr>
        <p:spPr>
          <a:xfrm>
            <a:off x="1257340" y="1041300"/>
            <a:ext cx="2438400" cy="450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2800" kern="0" spc="-2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编程操作演示：</a:t>
            </a:r>
            <a:endParaRPr sz="2800" dirty="0">
              <a:latin typeface="KaiTi"/>
              <a:ea typeface="KaiTi"/>
              <a:cs typeface="KaiTi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pic>
        <p:nvPicPr>
          <p:cNvPr id="142" name="picture 1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036101" y="2120905"/>
            <a:ext cx="120578" cy="1523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1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46" name="textbox 146"/>
          <p:cNvSpPr/>
          <p:nvPr/>
        </p:nvSpPr>
        <p:spPr>
          <a:xfrm>
            <a:off x="234919" y="921085"/>
            <a:ext cx="8287384" cy="3806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32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71450" algn="l" rtl="0" eaLnBrk="0">
              <a:lnSpc>
                <a:spcPct val="94000"/>
              </a:lnSpc>
              <a:tabLst/>
            </a:pPr>
            <a:r>
              <a:rPr sz="2900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(2)编写程序，实现计算一组日平均数据的平</a:t>
            </a:r>
            <a:r>
              <a:rPr sz="2900" kern="0" spc="-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均值，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并使用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getAvg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函数和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readList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函数完成相关功能。</a:t>
            </a:r>
            <a:endParaRPr sz="29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2300" algn="l" rtl="0" eaLnBrk="0">
              <a:lnSpc>
                <a:spcPct val="94000"/>
              </a:lnSpc>
              <a:spcBef>
                <a:spcPts val="720"/>
              </a:spcBef>
              <a:tabLst/>
            </a:pP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①设计算法</a:t>
            </a:r>
            <a:endParaRPr sz="2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55650" algn="l" rtl="0" eaLnBrk="0">
              <a:lnSpc>
                <a:spcPct val="95000"/>
              </a:lnSpc>
              <a:spcBef>
                <a:spcPts val="729"/>
              </a:spcBef>
              <a:tabLst/>
            </a:pP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1.创建一组日平均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</a:t>
            </a:r>
            <a:endParaRPr sz="2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55650" algn="l" rtl="0" eaLnBrk="0">
              <a:lnSpc>
                <a:spcPct val="93000"/>
              </a:lnSpc>
              <a:spcBef>
                <a:spcPts val="700"/>
              </a:spcBef>
              <a:tabLst/>
            </a:pP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2.定义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getAvg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函数和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readList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函数</a:t>
            </a:r>
            <a:endParaRPr sz="2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755650" algn="l" rtl="0" eaLnBrk="0">
              <a:lnSpc>
                <a:spcPct val="95000"/>
              </a:lnSpc>
              <a:spcBef>
                <a:spcPts val="6"/>
              </a:spcBef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3.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输出日平均值数据结果</a:t>
            </a:r>
            <a:endParaRPr sz="2400" dirty="0">
              <a:latin typeface="SimSun"/>
              <a:ea typeface="SimSun"/>
              <a:cs typeface="SimSun"/>
            </a:endParaRPr>
          </a:p>
        </p:txBody>
      </p:sp>
      <p:sp>
        <p:nvSpPr>
          <p:cNvPr id="148" name="rect 148"/>
          <p:cNvSpPr/>
          <p:nvPr/>
        </p:nvSpPr>
        <p:spPr>
          <a:xfrm>
            <a:off x="57180" y="0"/>
            <a:ext cx="12109459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" name="textbox 150"/>
          <p:cNvSpPr/>
          <p:nvPr/>
        </p:nvSpPr>
        <p:spPr>
          <a:xfrm>
            <a:off x="9607520" y="371811"/>
            <a:ext cx="216852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54" name="textbox 154"/>
          <p:cNvSpPr/>
          <p:nvPr/>
        </p:nvSpPr>
        <p:spPr>
          <a:xfrm>
            <a:off x="2971779" y="5352774"/>
            <a:ext cx="6880859" cy="8775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304"/>
              </a:lnSpc>
              <a:tabLst/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I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spcBef>
                <a:spcPts val="242"/>
              </a:spcBef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Ln:5</a:t>
            </a:r>
            <a:r>
              <a:rPr sz="800" kern="0" spc="3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Col:4</a:t>
            </a:r>
            <a:endParaRPr sz="800" dirty="0">
              <a:latin typeface="SimSun"/>
              <a:ea typeface="SimSun"/>
              <a:cs typeface="SimSun"/>
            </a:endParaRPr>
          </a:p>
          <a:p>
            <a:pPr marL="3651250" algn="l" rtl="0" eaLnBrk="0">
              <a:lnSpc>
                <a:spcPts val="994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Ln:9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Col:0</a:t>
            </a:r>
            <a:endParaRPr sz="800" dirty="0">
              <a:latin typeface="SimSun"/>
              <a:ea typeface="SimSun"/>
              <a:cs typeface="SimSun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2324140" y="1989178"/>
            <a:ext cx="4782820" cy="800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indent="177164" algn="l" rtl="0" eaLnBrk="0">
              <a:lnSpc>
                <a:spcPct val="121000"/>
              </a:lnSpc>
              <a:tabLst/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*访问文本数据.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py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-C:\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Users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\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Administrator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\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Desktop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\访问文本数据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py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3.….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□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×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File   Edit   Format   Run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Options   Window   H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elp</a:t>
            </a:r>
            <a:endParaRPr sz="8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83000"/>
              </a:lnSpc>
              <a:spcBef>
                <a:spcPts val="6"/>
              </a:spcBef>
              <a:tabLst/>
            </a:pP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#计算</a:t>
            </a:r>
            <a:r>
              <a:rPr sz="800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</a:t>
            </a:r>
            <a:r>
              <a:rPr sz="800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组日平均气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温数据的平均值，并使用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getAvg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函数和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readList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函数并完成相关功能。</a:t>
            </a:r>
            <a:endParaRPr sz="8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80000"/>
              </a:lnSpc>
              <a:spcBef>
                <a:spcPts val="9"/>
              </a:spcBef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def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readList(f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ilename):</a:t>
            </a:r>
            <a:endParaRPr sz="800" dirty="0">
              <a:latin typeface="SimSun"/>
              <a:ea typeface="SimSun"/>
              <a:cs typeface="SimSun"/>
            </a:endParaRPr>
          </a:p>
          <a:p>
            <a:pPr marL="247015" algn="l" rtl="0" eaLnBrk="0">
              <a:lnSpc>
                <a:spcPct val="76000"/>
              </a:lnSpc>
              <a:spcBef>
                <a:spcPts val="1"/>
              </a:spcBef>
              <a:tabLst/>
            </a:pP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L=list(op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en("c:201308t</a:t>
            </a:r>
            <a:r>
              <a:rPr sz="800" kern="0" spc="-2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q</a:t>
            </a:r>
            <a:r>
              <a:rPr sz="800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.</a:t>
            </a:r>
            <a:r>
              <a:rPr sz="8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txt"))#访问文件</a:t>
            </a:r>
            <a:endParaRPr sz="800" dirty="0">
              <a:latin typeface="SimSun"/>
              <a:ea typeface="SimSun"/>
              <a:cs typeface="SimSun"/>
            </a:endParaRPr>
          </a:p>
          <a:p>
            <a:pPr marL="247015" algn="l" rtl="0" eaLnBrk="0">
              <a:lnSpc>
                <a:spcPct val="72000"/>
              </a:lnSpc>
              <a:spcBef>
                <a:spcPts val="1"/>
              </a:spcBef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for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i</a:t>
            </a:r>
            <a:r>
              <a:rPr sz="800" kern="0" spc="1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in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range(len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(L)):</a:t>
            </a:r>
            <a:endParaRPr sz="800" dirty="0">
              <a:latin typeface="SimSun"/>
              <a:ea typeface="SimSun"/>
              <a:cs typeface="SimSun"/>
            </a:endParaRPr>
          </a:p>
          <a:p>
            <a:pPr marL="475615" algn="l" rtl="0" eaLnBrk="0">
              <a:lnSpc>
                <a:spcPct val="90000"/>
              </a:lnSpc>
              <a:spcBef>
                <a:spcPts val="3"/>
              </a:spcBef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L[i]=int(L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[i])</a:t>
            </a:r>
            <a:endParaRPr sz="800" dirty="0">
              <a:latin typeface="SimSun"/>
              <a:ea typeface="SimSun"/>
              <a:cs typeface="SimSun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7226300" y="1868546"/>
            <a:ext cx="2592070" cy="865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51050" algn="l" rtl="0" eaLnBrk="0">
              <a:lnSpc>
                <a:spcPts val="1098"/>
              </a:lnSpc>
              <a:tabLst/>
            </a:pPr>
            <a:r>
              <a:rPr sz="1200" kern="0" spc="-60" baseline="-4528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□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</a:t>
            </a:r>
            <a:r>
              <a:rPr sz="1200" kern="0" spc="-60" baseline="12834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×</a:t>
            </a:r>
            <a:endParaRPr sz="1200" baseline="12834" dirty="0">
              <a:latin typeface="SimSun"/>
              <a:ea typeface="SimSun"/>
              <a:cs typeface="SimSun"/>
            </a:endParaRPr>
          </a:p>
          <a:p>
            <a:pPr marL="170814" algn="l" rtl="0" eaLnBrk="0">
              <a:lnSpc>
                <a:spcPct val="90000"/>
              </a:lnSpc>
              <a:spcBef>
                <a:spcPts val="594"/>
              </a:spcBef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Help</a:t>
            </a:r>
            <a:endParaRPr sz="800" dirty="0">
              <a:latin typeface="SimSun"/>
              <a:ea typeface="SimSun"/>
              <a:cs typeface="SimSun"/>
            </a:endParaRPr>
          </a:p>
          <a:p>
            <a:pPr marL="12700" indent="31115" algn="l" rtl="0" eaLnBrk="0">
              <a:lnSpc>
                <a:spcPct val="124000"/>
              </a:lnSpc>
              <a:spcBef>
                <a:spcPts val="14"/>
              </a:spcBef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017,17:54:52)[MSC       v.190032       bit(I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ntel)]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e()”for more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informa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tion.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7000"/>
              </a:lnSpc>
              <a:spcBef>
                <a:spcPts val="198"/>
              </a:spcBef>
              <a:tabLst/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strator\Desktop\访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问文本数据.py ----------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920719" y="1158197"/>
            <a:ext cx="2150110" cy="368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9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②课堂练习演示</a:t>
            </a:r>
            <a:endParaRPr sz="2400" dirty="0">
              <a:latin typeface="SimSun"/>
              <a:ea typeface="SimSun"/>
              <a:cs typeface="SimSun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2324140" y="2935405"/>
            <a:ext cx="1158239" cy="173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print(rea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dList(x))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2590779" y="2772660"/>
            <a:ext cx="925194" cy="140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return</a:t>
            </a:r>
            <a:r>
              <a:rPr sz="800" kern="0" spc="2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L#返回值</a:t>
            </a:r>
            <a:endParaRPr sz="800" dirty="0">
              <a:latin typeface="SimSun"/>
              <a:ea typeface="SimSun"/>
              <a:cs typeface="SimSun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2324140" y="2839011"/>
            <a:ext cx="225425" cy="144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x=[]</a:t>
            </a:r>
            <a:endParaRPr sz="8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picture 1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72" name="textbox 172"/>
          <p:cNvSpPr/>
          <p:nvPr/>
        </p:nvSpPr>
        <p:spPr>
          <a:xfrm>
            <a:off x="577880" y="1181848"/>
            <a:ext cx="6927850" cy="3188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5000"/>
              </a:lnSpc>
              <a:tabLst/>
            </a:pPr>
            <a:r>
              <a:rPr sz="30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课堂小结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3815" algn="l" rtl="0" eaLnBrk="0">
              <a:lnSpc>
                <a:spcPct val="96000"/>
              </a:lnSpc>
              <a:spcBef>
                <a:spcPts val="872"/>
              </a:spcBef>
              <a:tabLst/>
            </a:pPr>
            <a:r>
              <a:rPr sz="2900" kern="0" spc="-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1、列表的定义和基本操作方法</a:t>
            </a:r>
            <a:endParaRPr sz="29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873"/>
              </a:spcBef>
              <a:tabLst/>
            </a:pP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900" kern="0" spc="-4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函数的定义和使用方法</a:t>
            </a:r>
            <a:endParaRPr sz="29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2900" kern="0" spc="-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900" kern="0" spc="-1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2900" kern="0" spc="-1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程序模块化的设计，自</a:t>
            </a:r>
            <a:r>
              <a:rPr sz="2900" kern="0" spc="-1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定义函数的应用。</a:t>
            </a:r>
            <a:endParaRPr sz="2900" dirty="0">
              <a:latin typeface="KaiTi"/>
              <a:ea typeface="KaiTi"/>
              <a:cs typeface="KaiTi"/>
            </a:endParaRPr>
          </a:p>
        </p:txBody>
      </p:sp>
      <p:sp>
        <p:nvSpPr>
          <p:cNvPr id="174" name="rect 174"/>
          <p:cNvSpPr/>
          <p:nvPr/>
        </p:nvSpPr>
        <p:spPr>
          <a:xfrm>
            <a:off x="38160" y="6377"/>
            <a:ext cx="12128479" cy="838185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6" name="textbox 176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1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80" name="rect 180"/>
          <p:cNvSpPr/>
          <p:nvPr/>
        </p:nvSpPr>
        <p:spPr>
          <a:xfrm>
            <a:off x="50840" y="0"/>
            <a:ext cx="12122139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2" name="textbox 182"/>
          <p:cNvSpPr/>
          <p:nvPr/>
        </p:nvSpPr>
        <p:spPr>
          <a:xfrm>
            <a:off x="3289319" y="3936254"/>
            <a:ext cx="3990340" cy="364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2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再</a:t>
            </a: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           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见</a:t>
            </a:r>
            <a:endParaRPr sz="2300" dirty="0">
              <a:latin typeface="SimSun"/>
              <a:ea typeface="SimSun"/>
              <a:cs typeface="SimSun"/>
            </a:endParaRPr>
          </a:p>
        </p:txBody>
      </p:sp>
      <p:sp>
        <p:nvSpPr>
          <p:cNvPr id="184" name="textbox 184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2026-06-06T21:57:08Z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2026-06-06T21:57:17</vt:filetime>
  </property>
  <property fmtid="{D5CDD505-2E9C-101B-9397-08002B2CF9AE}" pid="4" name="UsrData">
    <vt:lpwstr>6a242732979cf9001fa22e28wl</vt:lpwstr>
  </property>
</Properties>
</file>