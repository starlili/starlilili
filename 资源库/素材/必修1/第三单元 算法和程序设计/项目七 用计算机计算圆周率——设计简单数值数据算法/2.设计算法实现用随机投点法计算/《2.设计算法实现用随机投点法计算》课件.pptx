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8" Type="http://schemas.openxmlformats.org/officeDocument/2006/relationships/slide" Target="slides/slide7.xml"/><Relationship Id="rId7" Type="http://schemas.openxmlformats.org/officeDocument/2006/relationships/slide" Target="slides/slide6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4" Type="http://schemas.openxmlformats.org/officeDocument/2006/relationships/viewProps" Target="viewProps.xml"/><Relationship Id="rId23" Type="http://schemas.openxmlformats.org/officeDocument/2006/relationships/tableStyles" Target="tableStyles.xml"/><Relationship Id="rId22" Type="http://schemas.openxmlformats.org/officeDocument/2006/relationships/presProps" Target="presProps.xml"/><Relationship Id="rId21" Type="http://schemas.openxmlformats.org/officeDocument/2006/relationships/slide" Target="slides/slide20.xml"/><Relationship Id="rId20" Type="http://schemas.openxmlformats.org/officeDocument/2006/relationships/slide" Target="slides/slide19.xml"/><Relationship Id="rId2" Type="http://schemas.openxmlformats.org/officeDocument/2006/relationships/slide" Target="slides/slide1.xml"/><Relationship Id="rId19" Type="http://schemas.openxmlformats.org/officeDocument/2006/relationships/slide" Target="slides/slide18.xml"/><Relationship Id="rId18" Type="http://schemas.openxmlformats.org/officeDocument/2006/relationships/slide" Target="slides/slide17.xml"/><Relationship Id="rId17" Type="http://schemas.openxmlformats.org/officeDocument/2006/relationships/slide" Target="slides/slide16.xml"/><Relationship Id="rId16" Type="http://schemas.openxmlformats.org/officeDocument/2006/relationships/slide" Target="slides/slide15.xml"/><Relationship Id="rId15" Type="http://schemas.openxmlformats.org/officeDocument/2006/relationships/slide" Target="slides/slide14.xml"/><Relationship Id="rId14" Type="http://schemas.openxmlformats.org/officeDocument/2006/relationships/slide" Target="slides/slide13.xml"/><Relationship Id="rId13" Type="http://schemas.openxmlformats.org/officeDocument/2006/relationships/slide" Target="slides/slide12.xml"/><Relationship Id="rId12" Type="http://schemas.openxmlformats.org/officeDocument/2006/relationships/slide" Target="slides/slide11.xml"/><Relationship Id="rId11" Type="http://schemas.openxmlformats.org/officeDocument/2006/relationships/slide" Target="slides/slide10.xml"/><Relationship Id="rId10" Type="http://schemas.openxmlformats.org/officeDocument/2006/relationships/slide" Target="slides/slide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jpeg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1225055" y="928942"/>
            <a:ext cx="8262619" cy="1943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8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3400" b="1" kern="0" spc="-18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3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2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4700" b="1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用随机投点法计算圆周率</a:t>
            </a:r>
            <a:endParaRPr sz="4700" dirty="0">
              <a:latin typeface="SimHei"/>
              <a:ea typeface="SimHei"/>
              <a:cs typeface="Sim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5586865" y="3826620"/>
            <a:ext cx="4871720" cy="21805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5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900" b="1" kern="0" spc="2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学</a:t>
            </a:r>
            <a:r>
              <a:rPr sz="2900" kern="0" spc="143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900" b="1" kern="0" spc="2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科：信息技术(沪科教版)</a:t>
            </a:r>
            <a:endParaRPr sz="2900" dirty="0">
              <a:latin typeface="KaiTi"/>
              <a:ea typeface="KaiTi"/>
              <a:cs typeface="KaiTi"/>
            </a:endParaRPr>
          </a:p>
          <a:p>
            <a:pPr marL="19050" algn="l" rtl="0" eaLnBrk="0">
              <a:lnSpc>
                <a:spcPct val="97000"/>
              </a:lnSpc>
              <a:spcBef>
                <a:spcPts val="575"/>
              </a:spcBef>
              <a:tabLst/>
            </a:pPr>
            <a:r>
              <a:rPr sz="2900" b="1" kern="0" spc="-10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学</a:t>
            </a:r>
            <a:r>
              <a:rPr sz="2900" kern="0" spc="-10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  </a:t>
            </a:r>
            <a:r>
              <a:rPr sz="2900" b="1" kern="0" spc="-10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校：福建省连江华侨中学</a:t>
            </a:r>
            <a:endParaRPr sz="29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216534" algn="l" rtl="0" eaLnBrk="0">
              <a:lnSpc>
                <a:spcPts val="1569"/>
              </a:lnSpc>
              <a:spcBef>
                <a:spcPts val="3"/>
              </a:spcBef>
              <a:tabLst/>
            </a:pPr>
            <a:r>
              <a:rPr sz="25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---</a:t>
            </a:r>
            <a:endParaRPr sz="2500" dirty="0">
              <a:latin typeface="SimSun"/>
              <a:ea typeface="SimSun"/>
              <a:cs typeface="SimSun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1484413" y="3859376"/>
            <a:ext cx="2244725" cy="914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1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2600" b="1" kern="0" spc="12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年</a:t>
            </a:r>
            <a:r>
              <a:rPr sz="2600" kern="0" spc="32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  </a:t>
            </a:r>
            <a:r>
              <a:rPr sz="2600" b="1" kern="0" spc="12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级：高</a:t>
            </a:r>
            <a:r>
              <a:rPr sz="2600" kern="0" spc="-72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600" b="1" kern="0" spc="12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一</a:t>
            </a:r>
            <a:endParaRPr sz="26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ct val="97000"/>
              </a:lnSpc>
              <a:spcBef>
                <a:spcPts val="531"/>
              </a:spcBef>
              <a:tabLst/>
            </a:pPr>
            <a:r>
              <a:rPr sz="2900" b="1" kern="0" spc="-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主讲人：任芳</a:t>
            </a:r>
            <a:endParaRPr sz="2900" dirty="0">
              <a:latin typeface="KaiTi"/>
              <a:ea typeface="KaiTi"/>
              <a:cs typeface="KaiTi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60" y="5035555"/>
            <a:ext cx="1524000" cy="1028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915620" y="5149877"/>
            <a:ext cx="1276379" cy="10794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extbox 16"/>
          <p:cNvSpPr/>
          <p:nvPr/>
        </p:nvSpPr>
        <p:spPr>
          <a:xfrm>
            <a:off x="577880" y="1265014"/>
            <a:ext cx="6664325" cy="2984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3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13914" algn="l" rtl="0" eaLnBrk="0">
              <a:lnSpc>
                <a:spcPct val="96000"/>
              </a:lnSpc>
              <a:tabLst/>
            </a:pPr>
            <a:r>
              <a:rPr sz="30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神奇的圆周率</a:t>
            </a:r>
            <a:endParaRPr sz="3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indent="634365" algn="l" rtl="0" eaLnBrk="0">
              <a:lnSpc>
                <a:spcPct val="99000"/>
              </a:lnSpc>
              <a:spcBef>
                <a:spcPts val="725"/>
              </a:spcBef>
              <a:tabLst/>
            </a:pPr>
            <a:r>
              <a:rPr sz="2400" kern="0" spc="-8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圆周率π是一个在数学和物理学中常用的数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学常量，它是圆的周长与直径的比值。古今中外，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一代代数学家为探求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圆周率的值贡献出了自己的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</a:t>
            </a:r>
            <a:r>
              <a:rPr sz="2400" kern="0" spc="-6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智慧和辛劳。</a:t>
            </a:r>
            <a:endParaRPr sz="2400" dirty="0">
              <a:latin typeface="KaiTi"/>
              <a:ea typeface="KaiTi"/>
              <a:cs typeface="KaiTi"/>
            </a:endParaRPr>
          </a:p>
          <a:p>
            <a:pPr marL="628015" algn="l" rtl="0" eaLnBrk="0">
              <a:lnSpc>
                <a:spcPct val="99000"/>
              </a:lnSpc>
              <a:spcBef>
                <a:spcPts val="118"/>
              </a:spcBef>
              <a:tabLst/>
            </a:pP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下面就让我们一起来领略圆周率的魅力吧!</a:t>
            </a:r>
            <a:endParaRPr sz="2400" dirty="0">
              <a:latin typeface="KaiTi"/>
              <a:ea typeface="KaiTi"/>
              <a:cs typeface="KaiTi"/>
            </a:endParaRPr>
          </a:p>
        </p:txBody>
      </p:sp>
      <p:sp>
        <p:nvSpPr>
          <p:cNvPr id="18" name="textbox 18"/>
          <p:cNvSpPr/>
          <p:nvPr/>
        </p:nvSpPr>
        <p:spPr>
          <a:xfrm>
            <a:off x="38160" y="0"/>
            <a:ext cx="12128500" cy="845185"/>
          </a:xfrm>
          <a:prstGeom prst="rect">
            <a:avLst/>
          </a:prstGeom>
          <a:solidFill>
            <a:srgbClr val="38554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9568815" algn="l" rtl="0" eaLnBrk="0">
              <a:lnSpc>
                <a:spcPct val="97000"/>
              </a:lnSpc>
              <a:spcBef>
                <a:spcPts val="5"/>
              </a:spcBef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extbox 22"/>
          <p:cNvSpPr/>
          <p:nvPr/>
        </p:nvSpPr>
        <p:spPr>
          <a:xfrm>
            <a:off x="9607520" y="384499"/>
            <a:ext cx="215582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  <p:sp>
        <p:nvSpPr>
          <p:cNvPr id="24" name="textbox 24"/>
          <p:cNvSpPr/>
          <p:nvPr/>
        </p:nvSpPr>
        <p:spPr>
          <a:xfrm>
            <a:off x="4305340" y="3197087"/>
            <a:ext cx="941069" cy="4425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281"/>
              </a:lnSpc>
              <a:tabLst/>
            </a:pPr>
            <a:r>
              <a:rPr sz="2600" kern="0" spc="-16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π≈3.</a:t>
            </a:r>
            <a:endParaRPr sz="2600" dirty="0">
              <a:latin typeface="SimSun"/>
              <a:ea typeface="SimSun"/>
              <a:cs typeface="SimSu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574840" y="2336794"/>
            <a:ext cx="3822679" cy="3898910"/>
          </a:xfrm>
          <a:prstGeom prst="rect">
            <a:avLst/>
          </a:prstGeom>
        </p:spPr>
      </p:pic>
      <p:sp>
        <p:nvSpPr>
          <p:cNvPr id="30" name="rect 30"/>
          <p:cNvSpPr/>
          <p:nvPr/>
        </p:nvSpPr>
        <p:spPr>
          <a:xfrm>
            <a:off x="63520" y="0"/>
            <a:ext cx="12109459" cy="844563"/>
          </a:xfrm>
          <a:prstGeom prst="rect">
            <a:avLst/>
          </a:prstGeom>
          <a:solidFill>
            <a:srgbClr val="37544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2" name="textbox 32"/>
          <p:cNvSpPr/>
          <p:nvPr/>
        </p:nvSpPr>
        <p:spPr>
          <a:xfrm>
            <a:off x="1479600" y="1265014"/>
            <a:ext cx="4221479" cy="10820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3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30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用随机投点法计算圆周率</a:t>
            </a:r>
            <a:endParaRPr sz="3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39064" algn="l" rtl="0" eaLnBrk="0">
              <a:lnSpc>
                <a:spcPct val="99000"/>
              </a:lnSpc>
              <a:spcBef>
                <a:spcPts val="2"/>
              </a:spcBef>
              <a:tabLst/>
            </a:pPr>
            <a:r>
              <a:rPr sz="2400" kern="0" spc="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在正方形中随机撒一把豆子</a:t>
            </a:r>
            <a:endParaRPr sz="2400" dirty="0">
              <a:latin typeface="KaiTi"/>
              <a:ea typeface="KaiTi"/>
              <a:cs typeface="KaiTi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38" name="textbox 38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42" name="rect 42"/>
          <p:cNvSpPr/>
          <p:nvPr/>
        </p:nvSpPr>
        <p:spPr>
          <a:xfrm>
            <a:off x="63520" y="0"/>
            <a:ext cx="12103119" cy="844563"/>
          </a:xfrm>
          <a:prstGeom prst="rect">
            <a:avLst/>
          </a:prstGeom>
          <a:solidFill>
            <a:srgbClr val="37544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4" name="textbox 44"/>
          <p:cNvSpPr/>
          <p:nvPr/>
        </p:nvSpPr>
        <p:spPr>
          <a:xfrm>
            <a:off x="4013220" y="3946049"/>
            <a:ext cx="3983990" cy="760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tabLst/>
            </a:pP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只要数出落在扇形区域内豆子</a:t>
            </a:r>
            <a:r>
              <a:rPr sz="2400" kern="0" spc="8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的数量就可以计算出</a:t>
            </a:r>
            <a:r>
              <a:rPr sz="2400" kern="0" spc="4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的值了</a:t>
            </a:r>
            <a:endParaRPr sz="2400" dirty="0">
              <a:latin typeface="KaiTi"/>
              <a:ea typeface="KaiTi"/>
              <a:cs typeface="KaiTi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4013219" y="1132965"/>
            <a:ext cx="3856990" cy="7505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7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24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</a:t>
            </a:r>
            <a:r>
              <a:rPr sz="2400" kern="0" spc="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表示落在扇形中豆子的数量</a:t>
            </a:r>
            <a:r>
              <a:rPr sz="2400" kern="0" spc="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4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</a:t>
            </a:r>
            <a:r>
              <a:rPr sz="2400" kern="0" spc="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表示所有豆子的数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量</a:t>
            </a:r>
            <a:endParaRPr sz="2400" dirty="0">
              <a:latin typeface="KaiTi"/>
              <a:ea typeface="KaiTi"/>
              <a:cs typeface="KaiTi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4871350" y="2229020"/>
            <a:ext cx="278129" cy="634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743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扇</a:t>
            </a:r>
            <a:r>
              <a:rPr sz="1900" kern="0" spc="1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正</a:t>
            </a:r>
            <a:endParaRPr sz="1700" dirty="0">
              <a:latin typeface="SimSun"/>
              <a:ea typeface="SimSun"/>
              <a:cs typeface="SimSu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54" name="textbox 54"/>
          <p:cNvSpPr/>
          <p:nvPr/>
        </p:nvSpPr>
        <p:spPr>
          <a:xfrm>
            <a:off x="336600" y="1265014"/>
            <a:ext cx="6256020" cy="3924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3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88514" algn="l" rtl="0" eaLnBrk="0">
              <a:lnSpc>
                <a:spcPct val="96000"/>
              </a:lnSpc>
              <a:tabLst/>
            </a:pPr>
            <a:r>
              <a:rPr sz="30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用投点法计算圆周率</a:t>
            </a:r>
            <a:endParaRPr sz="3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96265" algn="l" rtl="0" eaLnBrk="0">
              <a:lnSpc>
                <a:spcPct val="100000"/>
              </a:lnSpc>
              <a:spcBef>
                <a:spcPts val="729"/>
              </a:spcBef>
              <a:tabLst/>
            </a:pPr>
            <a:r>
              <a:rPr sz="2400" b="1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1.</a:t>
            </a:r>
            <a:r>
              <a:rPr sz="2400" b="1" kern="0" spc="-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分析问题</a:t>
            </a:r>
            <a:endParaRPr sz="2400" dirty="0">
              <a:latin typeface="KaiTi"/>
              <a:ea typeface="KaiTi"/>
              <a:cs typeface="KaiTi"/>
            </a:endParaRPr>
          </a:p>
          <a:p>
            <a:pPr marL="628015" algn="l" rtl="0" eaLnBrk="0">
              <a:lnSpc>
                <a:spcPct val="92000"/>
              </a:lnSpc>
              <a:spcBef>
                <a:spcPts val="1602"/>
              </a:spcBef>
              <a:tabLst/>
            </a:pP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首先，确定总的投点数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m,m=int(input   (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2400" dirty="0">
              <a:latin typeface="SimSun"/>
              <a:ea typeface="SimSun"/>
              <a:cs typeface="SimSun"/>
            </a:endParaRPr>
          </a:p>
          <a:p>
            <a:pPr marL="12700" indent="615315" algn="l" rtl="0" eaLnBrk="0">
              <a:lnSpc>
                <a:spcPct val="100000"/>
              </a:lnSpc>
              <a:spcBef>
                <a:spcPts val="138"/>
              </a:spcBef>
              <a:tabLst/>
            </a:pP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然后，在边长为1的正方形中投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点，并判断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这个点是否落在扇形区域内，如果是，则变量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</a:t>
            </a: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kern="0" spc="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的值增加1。</a:t>
            </a:r>
            <a:endParaRPr sz="2400" dirty="0">
              <a:latin typeface="KaiTi"/>
              <a:ea typeface="KaiTi"/>
              <a:cs typeface="KaiTi"/>
            </a:endParaRPr>
          </a:p>
          <a:p>
            <a:pPr marL="628015" algn="l" rtl="0" eaLnBrk="0">
              <a:lnSpc>
                <a:spcPct val="89000"/>
              </a:lnSpc>
              <a:spcBef>
                <a:spcPts val="2"/>
              </a:spcBef>
              <a:tabLst/>
            </a:pP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最后，在所有点投完后，计算圆周率的</a:t>
            </a:r>
            <a:endParaRPr sz="24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ts val="3404"/>
              </a:lnSpc>
              <a:tabLst/>
            </a:pP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近似值</a:t>
            </a:r>
            <a:endParaRPr sz="2400" dirty="0">
              <a:latin typeface="KaiTi"/>
              <a:ea typeface="KaiTi"/>
              <a:cs typeface="KaiTi"/>
            </a:endParaRPr>
          </a:p>
        </p:txBody>
      </p:sp>
      <p:sp>
        <p:nvSpPr>
          <p:cNvPr id="56" name="rect 56"/>
          <p:cNvSpPr/>
          <p:nvPr/>
        </p:nvSpPr>
        <p:spPr>
          <a:xfrm>
            <a:off x="38160" y="0"/>
            <a:ext cx="12128479" cy="844563"/>
          </a:xfrm>
          <a:prstGeom prst="rect">
            <a:avLst/>
          </a:prstGeom>
          <a:solidFill>
            <a:srgbClr val="38554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8" name="textbox 58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62" name="textbox 62"/>
          <p:cNvSpPr/>
          <p:nvPr/>
        </p:nvSpPr>
        <p:spPr>
          <a:xfrm>
            <a:off x="209560" y="1265014"/>
            <a:ext cx="6697344" cy="24409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3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82164" algn="l" rtl="0" eaLnBrk="0">
              <a:lnSpc>
                <a:spcPct val="96000"/>
              </a:lnSpc>
              <a:tabLst/>
            </a:pPr>
            <a:r>
              <a:rPr sz="30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用投点法计算圆周率</a:t>
            </a:r>
            <a:endParaRPr sz="3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58165" algn="l" rtl="0" eaLnBrk="0">
              <a:lnSpc>
                <a:spcPts val="2894"/>
              </a:lnSpc>
              <a:spcBef>
                <a:spcPts val="727"/>
              </a:spcBef>
              <a:tabLst/>
            </a:pPr>
            <a:r>
              <a:rPr sz="2400" kern="0" spc="-6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2.突破难点</a:t>
            </a:r>
            <a:endParaRPr sz="24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9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603250" algn="l" rtl="0" eaLnBrk="0">
              <a:lnSpc>
                <a:spcPct val="100000"/>
              </a:lnSpc>
              <a:tabLst/>
            </a:pP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思考1:正方形中每个投点的</a:t>
            </a:r>
            <a:r>
              <a:rPr sz="2400" kern="0" spc="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坐标有什么特点?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落在扇形区域内的点的坐标又有什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么特点?</a:t>
            </a:r>
            <a:endParaRPr sz="2400" dirty="0">
              <a:latin typeface="KaiTi"/>
              <a:ea typeface="KaiTi"/>
              <a:cs typeface="KaiTi"/>
            </a:endParaRPr>
          </a:p>
        </p:txBody>
      </p:sp>
      <p:sp>
        <p:nvSpPr>
          <p:cNvPr id="64" name="rect 64"/>
          <p:cNvSpPr/>
          <p:nvPr/>
        </p:nvSpPr>
        <p:spPr>
          <a:xfrm>
            <a:off x="50840" y="0"/>
            <a:ext cx="12115800" cy="844563"/>
          </a:xfrm>
          <a:prstGeom prst="rect">
            <a:avLst/>
          </a:prstGeom>
          <a:solidFill>
            <a:srgbClr val="37544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6" name="textbox 66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70" name="rect 70"/>
          <p:cNvSpPr/>
          <p:nvPr/>
        </p:nvSpPr>
        <p:spPr>
          <a:xfrm>
            <a:off x="50840" y="0"/>
            <a:ext cx="12122139" cy="844563"/>
          </a:xfrm>
          <a:prstGeom prst="rect">
            <a:avLst/>
          </a:prstGeom>
          <a:solidFill>
            <a:srgbClr val="38554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2" name="textbox 72"/>
          <p:cNvSpPr/>
          <p:nvPr/>
        </p:nvSpPr>
        <p:spPr>
          <a:xfrm>
            <a:off x="3594058" y="1894662"/>
            <a:ext cx="4095115" cy="22612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628650" algn="l" rtl="0" eaLnBrk="0">
              <a:lnSpc>
                <a:spcPct val="97000"/>
              </a:lnSpc>
              <a:spcBef>
                <a:spcPts val="1"/>
              </a:spcBef>
              <a:tabLst/>
            </a:pP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每个投点的</a:t>
            </a: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x</a:t>
            </a: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坐标和</a:t>
            </a: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y</a:t>
            </a: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坐标</a:t>
            </a:r>
            <a:r>
              <a:rPr sz="2400" kern="0" spc="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</a:t>
            </a:r>
            <a:r>
              <a:rPr sz="2300" kern="0" spc="-8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都是[0,1]中的随机数</a:t>
            </a:r>
            <a:r>
              <a:rPr sz="2300" kern="0" spc="-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sz="2300" kern="0" spc="-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andom()</a:t>
            </a:r>
            <a:r>
              <a:rPr sz="2300" kern="0" spc="-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23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indent="615315" algn="l" rtl="0" eaLnBrk="0">
              <a:lnSpc>
                <a:spcPct val="104000"/>
              </a:lnSpc>
              <a:tabLst/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根据正方形和内接扇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形的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几何关系，落在扇形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区域中的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点的坐标</a:t>
            </a:r>
            <a:endParaRPr sz="2400" dirty="0">
              <a:latin typeface="KaiTi"/>
              <a:ea typeface="KaiTi"/>
              <a:cs typeface="KaiTi"/>
            </a:endParaRPr>
          </a:p>
        </p:txBody>
      </p:sp>
      <p:sp>
        <p:nvSpPr>
          <p:cNvPr id="74" name="textbox 74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78" name="textbox 78"/>
          <p:cNvSpPr/>
          <p:nvPr/>
        </p:nvSpPr>
        <p:spPr>
          <a:xfrm>
            <a:off x="279420" y="1265014"/>
            <a:ext cx="7356475" cy="42398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3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36700" algn="l" rtl="0" eaLnBrk="0">
              <a:lnSpc>
                <a:spcPct val="96000"/>
              </a:lnSpc>
              <a:tabLst/>
            </a:pPr>
            <a:r>
              <a:rPr sz="30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用投点法计算圆周率</a:t>
            </a:r>
            <a:endParaRPr sz="3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894"/>
              </a:lnSpc>
              <a:spcBef>
                <a:spcPts val="727"/>
              </a:spcBef>
              <a:tabLst/>
            </a:pPr>
            <a:r>
              <a:rPr sz="2400" kern="0" spc="-6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2.突破难点</a:t>
            </a:r>
            <a:endParaRPr sz="24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ct val="87000"/>
              </a:lnSpc>
              <a:spcBef>
                <a:spcPts val="1486"/>
              </a:spcBef>
              <a:tabLst/>
            </a:pPr>
            <a:r>
              <a:rPr sz="2500" kern="0" spc="-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思考2:在投点过程中有哪些事情是需要重复做的?</a:t>
            </a:r>
            <a:endParaRPr sz="2500" dirty="0">
              <a:latin typeface="KaiTi"/>
              <a:ea typeface="KaiTi"/>
              <a:cs typeface="KaiTi"/>
            </a:endParaRPr>
          </a:p>
          <a:p>
            <a:pPr marL="469900" algn="l" rtl="0" eaLnBrk="0">
              <a:lnSpc>
                <a:spcPts val="4752"/>
              </a:lnSpc>
              <a:tabLst/>
            </a:pPr>
            <a:r>
              <a:rPr sz="2500" kern="0" spc="-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投出每一个点</a:t>
            </a:r>
            <a:r>
              <a:rPr sz="2500" kern="0" spc="-4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5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x,y</a:t>
            </a:r>
            <a:r>
              <a:rPr sz="25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∈</a:t>
            </a:r>
            <a:r>
              <a:rPr sz="25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(0,1),ran</a:t>
            </a:r>
            <a:r>
              <a:rPr sz="25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dom()</a:t>
            </a:r>
            <a:endParaRPr sz="25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4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5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75615" algn="l" rtl="0" eaLnBrk="0">
              <a:lnSpc>
                <a:spcPct val="99000"/>
              </a:lnSpc>
              <a:spcBef>
                <a:spcPts val="720"/>
              </a:spcBef>
              <a:tabLst/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判断每个点是否落在扇形区域</a:t>
            </a:r>
            <a:endParaRPr sz="24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6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63500" algn="l" rtl="0" eaLnBrk="0">
              <a:lnSpc>
                <a:spcPct val="97000"/>
              </a:lnSpc>
              <a:spcBef>
                <a:spcPts val="6"/>
              </a:spcBef>
              <a:tabLst/>
            </a:pPr>
            <a:r>
              <a:rPr sz="2400" kern="0" spc="-6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对于重复做的这两件事情，我们可以通过循环来实现</a:t>
            </a:r>
            <a:r>
              <a:rPr sz="2400" kern="0" spc="-7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。</a:t>
            </a:r>
            <a:endParaRPr sz="2400" dirty="0">
              <a:latin typeface="KaiTi"/>
              <a:ea typeface="KaiTi"/>
              <a:cs typeface="KaiTi"/>
            </a:endParaRPr>
          </a:p>
        </p:txBody>
      </p:sp>
      <p:sp>
        <p:nvSpPr>
          <p:cNvPr id="80" name="rect 80"/>
          <p:cNvSpPr/>
          <p:nvPr/>
        </p:nvSpPr>
        <p:spPr>
          <a:xfrm>
            <a:off x="57180" y="0"/>
            <a:ext cx="12109459" cy="850872"/>
          </a:xfrm>
          <a:prstGeom prst="rect">
            <a:avLst/>
          </a:prstGeom>
          <a:solidFill>
            <a:srgbClr val="38554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2" name="textbox 82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86" name="textbox 86"/>
          <p:cNvSpPr/>
          <p:nvPr/>
        </p:nvSpPr>
        <p:spPr>
          <a:xfrm>
            <a:off x="380979" y="1265014"/>
            <a:ext cx="6036309" cy="31470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3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30350" algn="l" rtl="0" eaLnBrk="0">
              <a:lnSpc>
                <a:spcPct val="96000"/>
              </a:lnSpc>
              <a:tabLst/>
            </a:pPr>
            <a:r>
              <a:rPr sz="30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用投点法计算圆周率</a:t>
            </a:r>
            <a:endParaRPr sz="3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894"/>
              </a:lnSpc>
              <a:spcBef>
                <a:spcPts val="727"/>
              </a:spcBef>
              <a:tabLst/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2.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突破难点</a:t>
            </a:r>
            <a:endParaRPr sz="2400" dirty="0">
              <a:latin typeface="KaiTi"/>
              <a:ea typeface="KaiTi"/>
              <a:cs typeface="KaiTi"/>
            </a:endParaRPr>
          </a:p>
          <a:p>
            <a:pPr marL="82550" algn="l" rtl="0" eaLnBrk="0">
              <a:lnSpc>
                <a:spcPct val="100000"/>
              </a:lnSpc>
              <a:spcBef>
                <a:spcPts val="1601"/>
              </a:spcBef>
              <a:tabLst/>
            </a:pPr>
            <a:r>
              <a:rPr sz="2400" kern="0" spc="7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思考3:如何控制循环次数?</a:t>
            </a:r>
            <a:endParaRPr sz="24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6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0800" algn="l" rtl="0" eaLnBrk="0">
              <a:lnSpc>
                <a:spcPct val="97000"/>
              </a:lnSpc>
              <a:spcBef>
                <a:spcPts val="724"/>
              </a:spcBef>
              <a:tabLst/>
            </a:pPr>
            <a:r>
              <a:rPr sz="2400" kern="0" spc="-8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把所有的点投完，循环就可以结束</a:t>
            </a:r>
            <a:r>
              <a:rPr sz="2400" kern="0" spc="-9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了。</a:t>
            </a:r>
            <a:endParaRPr sz="2400" dirty="0">
              <a:latin typeface="KaiTi"/>
              <a:ea typeface="KaiTi"/>
              <a:cs typeface="KaiTi"/>
            </a:endParaRPr>
          </a:p>
          <a:p>
            <a:pPr marL="69850" algn="l" rtl="0" eaLnBrk="0">
              <a:lnSpc>
                <a:spcPct val="99000"/>
              </a:lnSpc>
              <a:spcBef>
                <a:spcPts val="145"/>
              </a:spcBef>
              <a:tabLst/>
            </a:pPr>
            <a:r>
              <a:rPr sz="2400" kern="0" spc="-8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所以所有的点数</a:t>
            </a:r>
            <a:r>
              <a:rPr sz="2400" kern="0" spc="-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</a:t>
            </a:r>
            <a:r>
              <a:rPr sz="2400" kern="0" spc="-8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就是循环</a:t>
            </a:r>
            <a:r>
              <a:rPr sz="2400" kern="0" spc="-9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需要执行的次数。</a:t>
            </a:r>
            <a:endParaRPr sz="2400" dirty="0">
              <a:latin typeface="KaiTi"/>
              <a:ea typeface="KaiTi"/>
              <a:cs typeface="KaiTi"/>
            </a:endParaRPr>
          </a:p>
        </p:txBody>
      </p:sp>
      <p:sp>
        <p:nvSpPr>
          <p:cNvPr id="88" name="rect 88"/>
          <p:cNvSpPr/>
          <p:nvPr/>
        </p:nvSpPr>
        <p:spPr>
          <a:xfrm>
            <a:off x="50840" y="0"/>
            <a:ext cx="12115800" cy="844563"/>
          </a:xfrm>
          <a:prstGeom prst="rect">
            <a:avLst/>
          </a:prstGeom>
          <a:solidFill>
            <a:srgbClr val="37544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0" name="textbox 90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picture 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94" name="textbox 94"/>
          <p:cNvSpPr/>
          <p:nvPr/>
        </p:nvSpPr>
        <p:spPr>
          <a:xfrm>
            <a:off x="304779" y="1190310"/>
            <a:ext cx="5974079" cy="4848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894"/>
              </a:lnSpc>
              <a:tabLst/>
            </a:pPr>
            <a:r>
              <a:rPr sz="2400" b="1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3.</a:t>
            </a:r>
            <a:r>
              <a:rPr sz="2400" b="1" kern="0" spc="-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设计算法</a:t>
            </a:r>
            <a:endParaRPr sz="2400" dirty="0">
              <a:latin typeface="KaiTi"/>
              <a:ea typeface="KaiTi"/>
              <a:cs typeface="KaiTi"/>
            </a:endParaRPr>
          </a:p>
          <a:p>
            <a:pPr marL="4394200" algn="l" rtl="0" eaLnBrk="0">
              <a:lnSpc>
                <a:spcPct val="79000"/>
              </a:lnSpc>
              <a:spcBef>
                <a:spcPts val="113"/>
              </a:spcBef>
              <a:tabLst/>
            </a:pPr>
            <a:r>
              <a:rPr sz="1300" kern="0" spc="-2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i&lt;m</a:t>
            </a:r>
            <a:endParaRPr sz="1300" dirty="0">
              <a:latin typeface="Times New Roman"/>
              <a:ea typeface="Times New Roman"/>
              <a:cs typeface="Times New Roman"/>
            </a:endParaRPr>
          </a:p>
          <a:p>
            <a:pPr marL="4178300" algn="l" rtl="0" eaLnBrk="0">
              <a:lnSpc>
                <a:spcPct val="99000"/>
              </a:lnSpc>
              <a:spcBef>
                <a:spcPts val="740"/>
              </a:spcBef>
              <a:tabLst/>
            </a:pPr>
            <a:r>
              <a:rPr sz="17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是</a:t>
            </a:r>
            <a:endParaRPr sz="1700" dirty="0">
              <a:latin typeface="SimSun"/>
              <a:ea typeface="SimSun"/>
              <a:cs typeface="SimSun"/>
            </a:endParaRPr>
          </a:p>
          <a:p>
            <a:pPr marL="3479800" algn="l" rtl="0" eaLnBrk="0">
              <a:lnSpc>
                <a:spcPct val="92000"/>
              </a:lnSpc>
              <a:spcBef>
                <a:spcPts val="1235"/>
              </a:spcBef>
              <a:tabLst/>
            </a:pPr>
            <a:r>
              <a:rPr sz="1800" kern="0" spc="-2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获取坐标</a:t>
            </a:r>
            <a:r>
              <a:rPr sz="1800" kern="0" spc="-2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x,y</a:t>
            </a:r>
            <a:r>
              <a:rPr sz="1800" kern="0" spc="22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800" kern="0" spc="-2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的随机值</a:t>
            </a:r>
            <a:endParaRPr sz="18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386"/>
              </a:lnSpc>
              <a:spcBef>
                <a:spcPts val="533"/>
              </a:spcBef>
              <a:tabLst/>
            </a:pPr>
            <a:r>
              <a:rPr sz="2700" kern="0" spc="0" baseline="100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是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                  </a:t>
            </a:r>
            <a:r>
              <a:rPr sz="2700" kern="0" spc="0" baseline="8208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否</a:t>
            </a:r>
            <a:endParaRPr sz="2700" baseline="8208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755900" algn="l" rtl="0" eaLnBrk="0">
              <a:lnSpc>
                <a:spcPct val="81000"/>
              </a:lnSpc>
              <a:spcBef>
                <a:spcPts val="546"/>
              </a:spcBef>
              <a:tabLst/>
            </a:pP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n=n+1</a:t>
            </a:r>
            <a:endParaRPr sz="1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381500" algn="l" rtl="0" eaLnBrk="0">
              <a:lnSpc>
                <a:spcPct val="81000"/>
              </a:lnSpc>
              <a:spcBef>
                <a:spcPts val="420"/>
              </a:spcBef>
              <a:tabLst/>
            </a:pP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i=i+1</a:t>
            </a:r>
            <a:endParaRPr sz="1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3632200" algn="l" rtl="0" eaLnBrk="0">
              <a:lnSpc>
                <a:spcPts val="2657"/>
              </a:lnSpc>
              <a:spcBef>
                <a:spcPts val="4"/>
              </a:spcBef>
              <a:tabLst/>
            </a:pPr>
            <a:r>
              <a:rPr sz="1900" kern="0" spc="-9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计算圆周率近似值</a:t>
            </a:r>
            <a:r>
              <a:rPr sz="1900" kern="0" spc="-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pi</a:t>
            </a:r>
            <a:endParaRPr sz="1900" dirty="0">
              <a:latin typeface="Arial"/>
              <a:ea typeface="Arial"/>
              <a:cs typeface="Arial"/>
            </a:endParaRPr>
          </a:p>
        </p:txBody>
      </p:sp>
      <p:sp>
        <p:nvSpPr>
          <p:cNvPr id="96" name="textbox 96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00" name="textbox 100"/>
          <p:cNvSpPr/>
          <p:nvPr/>
        </p:nvSpPr>
        <p:spPr>
          <a:xfrm>
            <a:off x="692119" y="884052"/>
            <a:ext cx="5373370" cy="50996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3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143000" algn="l" rtl="0" eaLnBrk="0">
              <a:lnSpc>
                <a:spcPct val="96000"/>
              </a:lnSpc>
              <a:tabLst/>
            </a:pPr>
            <a:r>
              <a:rPr sz="30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用投点法计算圆周率</a:t>
            </a:r>
            <a:endParaRPr sz="3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spcBef>
                <a:spcPts val="721"/>
              </a:spcBef>
              <a:tabLst/>
            </a:pPr>
            <a:r>
              <a:rPr sz="2400" b="1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4.</a:t>
            </a:r>
            <a:r>
              <a:rPr sz="2400" b="1" kern="0" spc="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编写代码调试运行</a:t>
            </a:r>
            <a:endParaRPr sz="24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6850" algn="l" rtl="0" eaLnBrk="0">
              <a:lnSpc>
                <a:spcPct val="79000"/>
              </a:lnSpc>
              <a:spcBef>
                <a:spcPts val="664"/>
              </a:spcBef>
              <a:tabLst/>
            </a:pP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from  random</a:t>
            </a:r>
            <a:r>
              <a:rPr sz="22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import</a:t>
            </a:r>
            <a:r>
              <a:rPr sz="22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sz="2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andom</a:t>
            </a:r>
            <a:endParaRPr sz="2200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ct val="89000"/>
              </a:lnSpc>
              <a:spcBef>
                <a:spcPts val="230"/>
              </a:spcBef>
              <a:tabLst/>
            </a:pP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m=int(input</a:t>
            </a: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(</a:t>
            </a:r>
            <a:r>
              <a:rPr sz="2400" kern="0" spc="-9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400" kern="0" spc="-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“请输入总的投点数：”))</a:t>
            </a:r>
            <a:endParaRPr sz="2400" dirty="0">
              <a:latin typeface="KaiTi"/>
              <a:ea typeface="KaiTi"/>
              <a:cs typeface="KaiTi"/>
            </a:endParaRPr>
          </a:p>
          <a:p>
            <a:pPr marL="196850" algn="l" rtl="0" eaLnBrk="0">
              <a:lnSpc>
                <a:spcPts val="2577"/>
              </a:lnSpc>
              <a:tabLst/>
            </a:pPr>
            <a:r>
              <a:rPr sz="17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</a:t>
            </a:r>
            <a:r>
              <a:rPr sz="17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=0</a:t>
            </a:r>
            <a:endParaRPr sz="1700" dirty="0">
              <a:latin typeface="SimSun"/>
              <a:ea typeface="SimSun"/>
              <a:cs typeface="SimSun"/>
            </a:endParaRPr>
          </a:p>
          <a:p>
            <a:pPr marL="196850" algn="l" rtl="0" eaLnBrk="0">
              <a:lnSpc>
                <a:spcPct val="79000"/>
              </a:lnSpc>
              <a:spcBef>
                <a:spcPts val="1241"/>
              </a:spcBef>
              <a:tabLst/>
            </a:pP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for</a:t>
            </a:r>
            <a:r>
              <a:rPr sz="2200" kern="0" spc="3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2200" kern="0" spc="3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</a:t>
            </a:r>
            <a:r>
              <a:rPr sz="2200" kern="0" spc="2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range(m):</a:t>
            </a:r>
            <a:endParaRPr sz="2200" dirty="0">
              <a:latin typeface="Times New Roman"/>
              <a:ea typeface="Times New Roman"/>
              <a:cs typeface="Times New Roman"/>
            </a:endParaRPr>
          </a:p>
          <a:p>
            <a:pPr marL="590550" algn="l" rtl="0" eaLnBrk="0">
              <a:lnSpc>
                <a:spcPct val="79000"/>
              </a:lnSpc>
              <a:spcBef>
                <a:spcPts val="853"/>
              </a:spcBef>
              <a:tabLst/>
            </a:pP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x=random(</a:t>
            </a:r>
            <a:endParaRPr sz="2000" dirty="0">
              <a:latin typeface="Times New Roman"/>
              <a:ea typeface="Times New Roman"/>
              <a:cs typeface="Times New Roman"/>
            </a:endParaRPr>
          </a:p>
          <a:p>
            <a:pPr marL="590550" algn="l" rtl="0" eaLnBrk="0">
              <a:lnSpc>
                <a:spcPct val="79000"/>
              </a:lnSpc>
              <a:spcBef>
                <a:spcPts val="916"/>
              </a:spcBef>
              <a:tabLst/>
            </a:pPr>
            <a:r>
              <a:rPr sz="2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y=random(</a:t>
            </a:r>
            <a:endParaRPr sz="2200" dirty="0">
              <a:latin typeface="Times New Roman"/>
              <a:ea typeface="Times New Roman"/>
              <a:cs typeface="Times New Roman"/>
            </a:endParaRPr>
          </a:p>
          <a:p>
            <a:pPr marL="590550" algn="l" rtl="0" eaLnBrk="0">
              <a:lnSpc>
                <a:spcPct val="119000"/>
              </a:lnSpc>
              <a:spcBef>
                <a:spcPts val="214"/>
              </a:spcBef>
              <a:tabLst/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if</a:t>
            </a:r>
            <a:r>
              <a:rPr sz="19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</a:t>
            </a:r>
            <a:r>
              <a:rPr sz="1900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x</a:t>
            </a:r>
            <a:r>
              <a:rPr sz="1900" kern="0" spc="3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*x+y*y&lt;1</a:t>
            </a:r>
            <a:r>
              <a:rPr sz="1900" kern="0" spc="1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</a:t>
            </a:r>
            <a:r>
              <a:rPr sz="1900" u="dotted" kern="0" spc="2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900" kern="0" spc="-36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3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</a:t>
            </a:r>
            <a:endParaRPr sz="1900" dirty="0">
              <a:latin typeface="Arial"/>
              <a:ea typeface="Arial"/>
              <a:cs typeface="Arial"/>
            </a:endParaRPr>
          </a:p>
          <a:p>
            <a:pPr marL="1308100" algn="l" rtl="0" eaLnBrk="0">
              <a:lnSpc>
                <a:spcPct val="79000"/>
              </a:lnSpc>
              <a:spcBef>
                <a:spcPts val="1095"/>
              </a:spcBef>
              <a:tabLst/>
            </a:pPr>
            <a:r>
              <a:rPr sz="1800" kern="0" spc="2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n=n+1</a:t>
            </a:r>
            <a:endParaRPr sz="1800" dirty="0">
              <a:latin typeface="Times New Roman"/>
              <a:ea typeface="Times New Roman"/>
              <a:cs typeface="Times New Roman"/>
            </a:endParaRPr>
          </a:p>
          <a:p>
            <a:pPr marL="196850" algn="l" rtl="0" eaLnBrk="0">
              <a:lnSpc>
                <a:spcPct val="77000"/>
              </a:lnSpc>
              <a:spcBef>
                <a:spcPts val="1007"/>
              </a:spcBef>
              <a:tabLst/>
            </a:pP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pi</a:t>
            </a:r>
            <a:r>
              <a:rPr sz="23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=</a:t>
            </a:r>
            <a:r>
              <a:rPr sz="23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2300" kern="0" spc="2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4*n/m</a:t>
            </a:r>
            <a:endParaRPr sz="2300" dirty="0">
              <a:latin typeface="Times New Roman"/>
              <a:ea typeface="Times New Roman"/>
              <a:cs typeface="Times New Roman"/>
            </a:endParaRPr>
          </a:p>
          <a:p>
            <a:pPr marL="196850" algn="l" rtl="0" eaLnBrk="0">
              <a:lnSpc>
                <a:spcPct val="90000"/>
              </a:lnSpc>
              <a:spcBef>
                <a:spcPts val="7"/>
              </a:spcBef>
              <a:tabLst/>
            </a:pPr>
            <a:r>
              <a:rPr sz="2400" kern="0" spc="-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print</a:t>
            </a:r>
            <a:r>
              <a:rPr sz="2400" kern="0" spc="-7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(“</a:t>
            </a:r>
            <a:r>
              <a:rPr sz="2400" kern="0" spc="-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pi</a:t>
            </a:r>
            <a:r>
              <a:rPr sz="2400" kern="0" spc="-7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的值是”,</a:t>
            </a:r>
            <a:r>
              <a:rPr sz="2400" kern="0" spc="-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pi)</a:t>
            </a:r>
            <a:endParaRPr sz="24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2" name="rect 102"/>
          <p:cNvSpPr/>
          <p:nvPr/>
        </p:nvSpPr>
        <p:spPr>
          <a:xfrm>
            <a:off x="50840" y="0"/>
            <a:ext cx="12122139" cy="844563"/>
          </a:xfrm>
          <a:prstGeom prst="rect">
            <a:avLst/>
          </a:prstGeom>
          <a:solidFill>
            <a:srgbClr val="38554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4" name="textbox 104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1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08" name="textbox 108"/>
          <p:cNvSpPr/>
          <p:nvPr/>
        </p:nvSpPr>
        <p:spPr>
          <a:xfrm>
            <a:off x="228579" y="946033"/>
            <a:ext cx="6751319" cy="26073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6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97865" algn="l" rtl="0" eaLnBrk="0">
              <a:lnSpc>
                <a:spcPct val="95000"/>
              </a:lnSpc>
              <a:tabLst/>
            </a:pPr>
            <a:r>
              <a:rPr sz="30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两种计算圆周率算法的对比</a:t>
            </a:r>
            <a:endParaRPr sz="3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indent="628015" algn="l" rtl="0" eaLnBrk="0">
              <a:lnSpc>
                <a:spcPct val="100000"/>
              </a:lnSpc>
              <a:spcBef>
                <a:spcPts val="3"/>
              </a:spcBef>
              <a:tabLst/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上次课我们学习了用欧拉公式计算圆周率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，现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400" kern="0" spc="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在我们对这两种算法进行对比，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我们在两个程序中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加入了计时函数，就可以计算出每种算法计算圆周</a:t>
            </a:r>
            <a:r>
              <a:rPr sz="2400" kern="0" spc="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400" kern="0" spc="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率时间。</a:t>
            </a:r>
            <a:endParaRPr sz="2400" dirty="0">
              <a:latin typeface="KaiTi"/>
              <a:ea typeface="KaiTi"/>
              <a:cs typeface="KaiTi"/>
            </a:endParaRPr>
          </a:p>
        </p:txBody>
      </p:sp>
      <p:sp>
        <p:nvSpPr>
          <p:cNvPr id="110" name="rect 110"/>
          <p:cNvSpPr/>
          <p:nvPr/>
        </p:nvSpPr>
        <p:spPr>
          <a:xfrm>
            <a:off x="50840" y="0"/>
            <a:ext cx="12115800" cy="850872"/>
          </a:xfrm>
          <a:prstGeom prst="rect">
            <a:avLst/>
          </a:prstGeom>
          <a:solidFill>
            <a:srgbClr val="38554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2" name="textbox 112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picture 1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16" name="textbox 116"/>
          <p:cNvSpPr/>
          <p:nvPr/>
        </p:nvSpPr>
        <p:spPr>
          <a:xfrm>
            <a:off x="717600" y="946033"/>
            <a:ext cx="5852795" cy="52330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6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8915" algn="l" rtl="0" eaLnBrk="0">
              <a:lnSpc>
                <a:spcPct val="95000"/>
              </a:lnSpc>
              <a:tabLst/>
            </a:pPr>
            <a:r>
              <a:rPr sz="30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两种计算圆周率算法的对比</a:t>
            </a:r>
            <a:endParaRPr sz="3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6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7465" algn="l" rtl="0" eaLnBrk="0">
              <a:lnSpc>
                <a:spcPct val="97000"/>
              </a:lnSpc>
              <a:spcBef>
                <a:spcPts val="575"/>
              </a:spcBef>
              <a:tabLst/>
            </a:pPr>
            <a:r>
              <a:rPr sz="1900" kern="0" spc="15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#用随机投点法计算圆周率</a:t>
            </a:r>
            <a:endParaRPr sz="19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7465" algn="l" rtl="0" eaLnBrk="0">
              <a:lnSpc>
                <a:spcPct val="78000"/>
              </a:lnSpc>
              <a:spcBef>
                <a:spcPts val="637"/>
              </a:spcBef>
              <a:tabLst/>
            </a:pPr>
            <a:r>
              <a:rPr sz="2100" kern="0" spc="0" dirty="0">
                <a:solidFill>
                  <a:srgbClr val="F0501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fro</a:t>
            </a:r>
            <a:r>
              <a:rPr sz="2100" kern="0" spc="200" dirty="0">
                <a:solidFill>
                  <a:srgbClr val="F0501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00" kern="0" spc="0" dirty="0">
                <a:solidFill>
                  <a:srgbClr val="FF2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</a:t>
            </a:r>
            <a:r>
              <a:rPr sz="2100" kern="0" spc="80" dirty="0">
                <a:solidFill>
                  <a:srgbClr val="FF2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00" kern="0" spc="0" dirty="0">
                <a:solidFill>
                  <a:srgbClr val="D01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random</a:t>
            </a:r>
            <a:r>
              <a:rPr sz="2100" kern="0" spc="220" dirty="0">
                <a:solidFill>
                  <a:srgbClr val="D01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00" kern="0" spc="0" dirty="0">
                <a:solidFill>
                  <a:srgbClr val="FF5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import</a:t>
            </a:r>
            <a:r>
              <a:rPr sz="2100" kern="0" spc="80" dirty="0">
                <a:solidFill>
                  <a:srgbClr val="FF5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random</a:t>
            </a:r>
            <a:endParaRPr sz="2100" dirty="0">
              <a:latin typeface="Times New Roman"/>
              <a:ea typeface="Times New Roman"/>
              <a:cs typeface="Times New Roman"/>
            </a:endParaRPr>
          </a:p>
          <a:p>
            <a:pPr marL="37465" algn="l" rtl="0" eaLnBrk="0">
              <a:lnSpc>
                <a:spcPct val="85000"/>
              </a:lnSpc>
              <a:spcBef>
                <a:spcPts val="13"/>
              </a:spcBef>
              <a:tabLst/>
            </a:pPr>
            <a:r>
              <a:rPr sz="2100" kern="0" spc="-10" dirty="0">
                <a:solidFill>
                  <a:srgbClr val="FF5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impor </a:t>
            </a:r>
            <a:r>
              <a:rPr sz="2100" kern="0" spc="-10" dirty="0">
                <a:solidFill>
                  <a:srgbClr val="FF2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sz="2100" kern="0" spc="530" dirty="0">
                <a:solidFill>
                  <a:srgbClr val="FF2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00" kern="0" spc="-10" dirty="0">
                <a:solidFill>
                  <a:srgbClr val="FF2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sz="2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ime</a:t>
            </a:r>
            <a:endParaRPr sz="21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89000"/>
              </a:lnSpc>
              <a:spcBef>
                <a:spcPts val="1602"/>
              </a:spcBef>
              <a:tabLst/>
            </a:pPr>
            <a:r>
              <a:rPr sz="2100" kern="0" spc="-10" dirty="0">
                <a:solidFill>
                  <a:srgbClr val="D0106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m=int(inpu</a:t>
            </a:r>
            <a:r>
              <a:rPr sz="2100" kern="0" spc="-20" dirty="0">
                <a:solidFill>
                  <a:srgbClr val="D0106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   </a:t>
            </a:r>
            <a:r>
              <a:rPr sz="2100" kern="0" spc="-20" dirty="0">
                <a:solidFill>
                  <a:srgbClr val="704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("请输入总的</a:t>
            </a:r>
            <a:r>
              <a:rPr sz="2100" kern="0" spc="-20" dirty="0">
                <a:solidFill>
                  <a:srgbClr val="10A01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投点数："</a:t>
            </a:r>
            <a:r>
              <a:rPr sz="2100" kern="0" spc="-20" dirty="0">
                <a:solidFill>
                  <a:srgbClr val="10502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))</a:t>
            </a:r>
            <a:endParaRPr sz="2100" dirty="0">
              <a:latin typeface="SimSun"/>
              <a:ea typeface="SimSun"/>
              <a:cs typeface="SimSun"/>
            </a:endParaRPr>
          </a:p>
          <a:p>
            <a:pPr marL="37465" algn="l" rtl="0" eaLnBrk="0">
              <a:lnSpc>
                <a:spcPct val="91000"/>
              </a:lnSpc>
              <a:spcBef>
                <a:spcPts val="8"/>
              </a:spcBef>
              <a:tabLst/>
            </a:pP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time_star</a:t>
            </a:r>
            <a:r>
              <a:rPr sz="21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t=time.time()</a:t>
            </a:r>
            <a:endParaRPr sz="2100" dirty="0">
              <a:latin typeface="Times New Roman"/>
              <a:ea typeface="Times New Roman"/>
              <a:cs typeface="Times New Roman"/>
            </a:endParaRPr>
          </a:p>
          <a:p>
            <a:pPr marL="37465" algn="l" rtl="0" eaLnBrk="0">
              <a:lnSpc>
                <a:spcPct val="79000"/>
              </a:lnSpc>
              <a:spcBef>
                <a:spcPts val="570"/>
              </a:spcBef>
              <a:tabLst/>
            </a:pP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n=0</a:t>
            </a:r>
            <a:endParaRPr sz="1500" dirty="0">
              <a:latin typeface="Times New Roman"/>
              <a:ea typeface="Times New Roman"/>
              <a:cs typeface="Times New Roman"/>
            </a:endParaRPr>
          </a:p>
          <a:p>
            <a:pPr marL="37465" algn="l" rtl="0" eaLnBrk="0">
              <a:lnSpc>
                <a:spcPct val="79000"/>
              </a:lnSpc>
              <a:spcBef>
                <a:spcPts val="295"/>
              </a:spcBef>
              <a:tabLst/>
            </a:pPr>
            <a:r>
              <a:rPr sz="1800" kern="0" spc="-10" dirty="0">
                <a:solidFill>
                  <a:srgbClr val="FF5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for      </a:t>
            </a:r>
            <a:r>
              <a:rPr sz="1800" kern="0" spc="-10" dirty="0">
                <a:solidFill>
                  <a:srgbClr val="C0501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1800" kern="0" spc="50" dirty="0">
                <a:solidFill>
                  <a:srgbClr val="C0501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1800" kern="0" spc="-10" dirty="0">
                <a:solidFill>
                  <a:srgbClr val="C0501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1800" kern="0" spc="-10" dirty="0">
                <a:solidFill>
                  <a:srgbClr val="FF5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</a:t>
            </a:r>
            <a:r>
              <a:rPr sz="1800" kern="0" spc="90" dirty="0">
                <a:solidFill>
                  <a:srgbClr val="FF5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800" kern="0" spc="-10" dirty="0">
                <a:solidFill>
                  <a:srgbClr val="A020B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range</a:t>
            </a:r>
            <a:r>
              <a:rPr sz="1800" kern="0" spc="30" dirty="0">
                <a:solidFill>
                  <a:srgbClr val="A020B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(m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):</a:t>
            </a:r>
            <a:endParaRPr sz="1800" dirty="0">
              <a:latin typeface="Times New Roman"/>
              <a:ea typeface="Times New Roman"/>
              <a:cs typeface="Times New Roman"/>
            </a:endParaRPr>
          </a:p>
          <a:p>
            <a:pPr marL="570865" algn="l" rtl="0" eaLnBrk="0">
              <a:lnSpc>
                <a:spcPct val="79000"/>
              </a:lnSpc>
              <a:spcBef>
                <a:spcPts val="297"/>
              </a:spcBef>
              <a:tabLst/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x=random()</a:t>
            </a:r>
            <a:endParaRPr sz="1800" dirty="0">
              <a:latin typeface="Times New Roman"/>
              <a:ea typeface="Times New Roman"/>
              <a:cs typeface="Times New Roman"/>
            </a:endParaRPr>
          </a:p>
          <a:p>
            <a:pPr marL="570865" algn="l" rtl="0" eaLnBrk="0">
              <a:lnSpc>
                <a:spcPct val="79000"/>
              </a:lnSpc>
              <a:spcBef>
                <a:spcPts val="390"/>
              </a:spcBef>
              <a:tabLst/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y=random()</a:t>
            </a:r>
            <a:endParaRPr sz="1800" dirty="0">
              <a:latin typeface="Times New Roman"/>
              <a:ea typeface="Times New Roman"/>
              <a:cs typeface="Times New Roman"/>
            </a:endParaRPr>
          </a:p>
          <a:p>
            <a:pPr marL="596265" algn="l" rtl="0" eaLnBrk="0">
              <a:lnSpc>
                <a:spcPct val="79000"/>
              </a:lnSpc>
              <a:spcBef>
                <a:spcPts val="293"/>
              </a:spcBef>
              <a:tabLst/>
            </a:pPr>
            <a:r>
              <a:rPr sz="1800" kern="0" spc="0" dirty="0">
                <a:solidFill>
                  <a:srgbClr val="FF5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if</a:t>
            </a:r>
            <a:r>
              <a:rPr sz="1800" kern="0" spc="120" dirty="0">
                <a:solidFill>
                  <a:srgbClr val="FF5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x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*x+y*y&lt;1:</a:t>
            </a:r>
            <a:endParaRPr sz="1800" dirty="0">
              <a:latin typeface="Times New Roman"/>
              <a:ea typeface="Times New Roman"/>
              <a:cs typeface="Times New Roman"/>
            </a:endParaRPr>
          </a:p>
          <a:p>
            <a:pPr marL="1104264" algn="l" rtl="0" eaLnBrk="0">
              <a:lnSpc>
                <a:spcPts val="1097"/>
              </a:lnSpc>
              <a:spcBef>
                <a:spcPts val="459"/>
              </a:spcBef>
              <a:tabLst/>
            </a:pPr>
            <a:r>
              <a:rPr sz="1600" kern="0" spc="-10" dirty="0">
                <a:solidFill>
                  <a:srgbClr val="60405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n=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n+1</a:t>
            </a:r>
            <a:endParaRPr sz="1600" dirty="0">
              <a:latin typeface="Times New Roman"/>
              <a:ea typeface="Times New Roman"/>
              <a:cs typeface="Times New Roman"/>
            </a:endParaRPr>
          </a:p>
          <a:p>
            <a:pPr marL="37465" algn="l" rtl="0" eaLnBrk="0">
              <a:lnSpc>
                <a:spcPts val="2300"/>
              </a:lnSpc>
              <a:tabLst/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pi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=4*(n/m)</a:t>
            </a:r>
            <a:endParaRPr sz="1700" dirty="0">
              <a:latin typeface="Times New Roman"/>
              <a:ea typeface="Times New Roman"/>
              <a:cs typeface="Times New Roman"/>
            </a:endParaRPr>
          </a:p>
          <a:p>
            <a:pPr marL="37465" algn="l" rtl="0" eaLnBrk="0">
              <a:lnSpc>
                <a:spcPct val="77000"/>
              </a:lnSpc>
              <a:spcBef>
                <a:spcPts val="302"/>
              </a:spcBef>
              <a:tabLst/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time_end=time.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time()</a:t>
            </a:r>
            <a:endParaRPr sz="2000" dirty="0">
              <a:latin typeface="Times New Roman"/>
              <a:ea typeface="Times New Roman"/>
              <a:cs typeface="Times New Roman"/>
            </a:endParaRPr>
          </a:p>
          <a:p>
            <a:pPr marL="37465" algn="l" rtl="0" eaLnBrk="0">
              <a:lnSpc>
                <a:spcPct val="94000"/>
              </a:lnSpc>
              <a:spcBef>
                <a:spcPts val="17"/>
              </a:spcBef>
              <a:tabLst/>
            </a:pPr>
            <a:r>
              <a:rPr sz="1800" kern="0" spc="0" dirty="0">
                <a:solidFill>
                  <a:srgbClr val="B0309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prin</a:t>
            </a:r>
            <a:r>
              <a:rPr sz="1800" kern="0" spc="190" dirty="0">
                <a:solidFill>
                  <a:srgbClr val="B0309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800" kern="0" spc="0" dirty="0">
                <a:solidFill>
                  <a:srgbClr val="90305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sz="1800" kern="0" spc="60" dirty="0">
                <a:solidFill>
                  <a:srgbClr val="90305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1800" kern="0" spc="110" dirty="0">
                <a:solidFill>
                  <a:srgbClr val="90305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1800" kern="0" spc="0" dirty="0">
                <a:solidFill>
                  <a:srgbClr val="20A03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pi</a:t>
            </a:r>
            <a:r>
              <a:rPr sz="1800" kern="0" spc="10" dirty="0">
                <a:solidFill>
                  <a:srgbClr val="20A03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800" kern="0" spc="60" dirty="0">
                <a:solidFill>
                  <a:srgbClr val="20A03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的值是”,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pi</a:t>
            </a:r>
            <a:endParaRPr sz="1800" dirty="0">
              <a:latin typeface="Times New Roman"/>
              <a:ea typeface="Times New Roman"/>
              <a:cs typeface="Times New Roman"/>
            </a:endParaRPr>
          </a:p>
          <a:p>
            <a:pPr marL="37465" algn="l" rtl="0" eaLnBrk="0">
              <a:lnSpc>
                <a:spcPct val="92000"/>
              </a:lnSpc>
              <a:spcBef>
                <a:spcPts val="28"/>
              </a:spcBef>
              <a:tabLst/>
            </a:pPr>
            <a:r>
              <a:rPr sz="2200" kern="0" spc="-90" dirty="0">
                <a:solidFill>
                  <a:srgbClr val="A020B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print  </a:t>
            </a:r>
            <a:r>
              <a:rPr sz="2200" kern="0" spc="-90" dirty="0">
                <a:solidFill>
                  <a:srgbClr val="20A03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(“运行时间是”,</a:t>
            </a:r>
            <a:r>
              <a:rPr sz="2200" kern="0" spc="-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time_end-time_star    </a:t>
            </a:r>
            <a:r>
              <a:rPr sz="2200" kern="0" spc="-90" dirty="0">
                <a:solidFill>
                  <a:srgbClr val="20A03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t"</a:t>
            </a:r>
            <a:r>
              <a:rPr sz="2200" kern="0" spc="180" dirty="0">
                <a:solidFill>
                  <a:srgbClr val="20A03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2200" kern="0" spc="-90" dirty="0">
                <a:solidFill>
                  <a:srgbClr val="20A03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秒</a:t>
            </a:r>
            <a:r>
              <a:rPr sz="2200" kern="0" spc="-100" dirty="0">
                <a:solidFill>
                  <a:srgbClr val="20A03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")</a:t>
            </a:r>
            <a:endParaRPr sz="2200" dirty="0">
              <a:latin typeface="SimSun"/>
              <a:ea typeface="SimSun"/>
              <a:cs typeface="SimSun"/>
            </a:endParaRPr>
          </a:p>
        </p:txBody>
      </p:sp>
      <p:sp>
        <p:nvSpPr>
          <p:cNvPr id="118" name="rect 118"/>
          <p:cNvSpPr/>
          <p:nvPr/>
        </p:nvSpPr>
        <p:spPr>
          <a:xfrm>
            <a:off x="44500" y="0"/>
            <a:ext cx="12122139" cy="844563"/>
          </a:xfrm>
          <a:prstGeom prst="rect">
            <a:avLst/>
          </a:prstGeom>
          <a:solidFill>
            <a:srgbClr val="38554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0" name="textbox 120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picture 1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24" name="textbox 124"/>
          <p:cNvSpPr/>
          <p:nvPr/>
        </p:nvSpPr>
        <p:spPr>
          <a:xfrm>
            <a:off x="241259" y="946033"/>
            <a:ext cx="7007859" cy="18599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6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85800" algn="l" rtl="0" eaLnBrk="0">
              <a:lnSpc>
                <a:spcPct val="95000"/>
              </a:lnSpc>
              <a:tabLst/>
            </a:pPr>
            <a:r>
              <a:rPr sz="30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两种计算圆周率算法的对比</a:t>
            </a:r>
            <a:endParaRPr sz="3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indent="628650" algn="l" rtl="0" eaLnBrk="0">
              <a:lnSpc>
                <a:spcPct val="98000"/>
              </a:lnSpc>
              <a:tabLst/>
            </a:pP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请同学们打开学案完成学习任务三，运行两个</a:t>
            </a:r>
            <a:r>
              <a:rPr sz="2400" kern="0" spc="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</a:t>
            </a:r>
            <a:r>
              <a:rPr sz="2400" kern="0" spc="-6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程序，并记录程序运行结果，完成</a:t>
            </a:r>
            <a:r>
              <a:rPr sz="2400" kern="0" spc="-7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两种算法的对比。</a:t>
            </a:r>
            <a:endParaRPr sz="2400" dirty="0">
              <a:latin typeface="KaiTi"/>
              <a:ea typeface="KaiTi"/>
              <a:cs typeface="KaiTi"/>
            </a:endParaRPr>
          </a:p>
        </p:txBody>
      </p:sp>
      <p:sp>
        <p:nvSpPr>
          <p:cNvPr id="126" name="rect 126"/>
          <p:cNvSpPr/>
          <p:nvPr/>
        </p:nvSpPr>
        <p:spPr>
          <a:xfrm>
            <a:off x="50840" y="0"/>
            <a:ext cx="12115800" cy="844563"/>
          </a:xfrm>
          <a:prstGeom prst="rect">
            <a:avLst/>
          </a:prstGeom>
          <a:solidFill>
            <a:srgbClr val="37544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8" name="textbox 128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picture 1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32" name="rect 132"/>
          <p:cNvSpPr/>
          <p:nvPr/>
        </p:nvSpPr>
        <p:spPr>
          <a:xfrm>
            <a:off x="57180" y="6377"/>
            <a:ext cx="12115800" cy="844494"/>
          </a:xfrm>
          <a:prstGeom prst="rect">
            <a:avLst/>
          </a:prstGeom>
          <a:solidFill>
            <a:srgbClr val="37544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34" name="table 134"/>
          <p:cNvGraphicFramePr>
            <a:graphicFrameLocks noGrp="1"/>
          </p:cNvGraphicFramePr>
          <p:nvPr/>
        </p:nvGraphicFramePr>
        <p:xfrm>
          <a:off x="352465" y="2365372"/>
          <a:ext cx="7212965" cy="1104900"/>
        </p:xfrm>
        <a:graphic>
          <a:graphicData uri="http://schemas.openxmlformats.org/drawingml/2006/table">
            <a:tbl>
              <a:tblPr/>
              <a:tblGrid>
                <a:gridCol w="1679575"/>
                <a:gridCol w="1415414"/>
                <a:gridCol w="1981200"/>
                <a:gridCol w="2136775"/>
              </a:tblGrid>
              <a:tr h="3524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0865" algn="l" rtl="0" eaLnBrk="0">
                        <a:lnSpc>
                          <a:spcPct val="9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limit</a:t>
                      </a:r>
                      <a:endParaRPr sz="1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1790" algn="l" rtl="0" eaLnBrk="0">
                        <a:lnSpc>
                          <a:spcPct val="9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Pi的值</a:t>
                      </a:r>
                      <a:endParaRPr sz="1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725" algn="l" rtl="0" eaLnBrk="0">
                        <a:lnSpc>
                          <a:spcPct val="9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准确的小数位数</a:t>
                      </a:r>
                      <a:endParaRPr sz="1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3525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运行时间(秒)</a:t>
                      </a:r>
                      <a:endParaRPr sz="1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914" algn="l" rtl="0" eaLnBrk="0">
                        <a:lnSpc>
                          <a:spcPts val="2078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7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0.0000001</a:t>
                      </a:r>
                      <a:endParaRPr sz="1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389" algn="l" rtl="0" eaLnBrk="0">
                        <a:lnSpc>
                          <a:spcPts val="2078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7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3.14129068</a:t>
                      </a:r>
                      <a:endParaRPr sz="1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725" algn="l" rtl="0" eaLnBrk="0">
                        <a:lnSpc>
                          <a:spcPts val="2071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</a:t>
                      </a:r>
                      <a:endParaRPr sz="1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2075" algn="l" rtl="0" eaLnBrk="0">
                        <a:lnSpc>
                          <a:spcPts val="2078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7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0.002923</a:t>
                      </a:r>
                      <a:endParaRPr sz="1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214" algn="l" rtl="0" eaLnBrk="0">
                        <a:lnSpc>
                          <a:spcPts val="20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0.0000000001</a:t>
                      </a:r>
                      <a:endParaRPr sz="1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389" algn="l" rtl="0" eaLnBrk="0">
                        <a:lnSpc>
                          <a:spcPts val="20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3.14158963</a:t>
                      </a:r>
                      <a:endParaRPr sz="1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725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7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</a:t>
                      </a:r>
                      <a:endParaRPr sz="1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2075" algn="l" rtl="0" eaLnBrk="0">
                        <a:lnSpc>
                          <a:spcPts val="20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0.1148426</a:t>
                      </a:r>
                      <a:endParaRPr sz="1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36" name="table 136"/>
          <p:cNvGraphicFramePr>
            <a:graphicFrameLocks noGrp="1"/>
          </p:cNvGraphicFramePr>
          <p:nvPr/>
        </p:nvGraphicFramePr>
        <p:xfrm>
          <a:off x="409524" y="4429150"/>
          <a:ext cx="6394450" cy="1110614"/>
        </p:xfrm>
        <a:graphic>
          <a:graphicData uri="http://schemas.openxmlformats.org/drawingml/2006/table">
            <a:tbl>
              <a:tblPr/>
              <a:tblGrid>
                <a:gridCol w="1114425"/>
                <a:gridCol w="1543050"/>
                <a:gridCol w="1949450"/>
                <a:gridCol w="1787525"/>
              </a:tblGrid>
              <a:tr h="3644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914" algn="l" rtl="0" eaLnBrk="0">
                        <a:lnSpc>
                          <a:spcPct val="9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600" b="1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投点数</a:t>
                      </a:r>
                      <a:endParaRPr sz="1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7990" algn="l" rtl="0" eaLnBrk="0">
                        <a:lnSpc>
                          <a:spcPct val="9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6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Pi</a:t>
                      </a:r>
                      <a:r>
                        <a:rPr sz="16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的值</a:t>
                      </a:r>
                      <a:endParaRPr sz="1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389" algn="l" rtl="0" eaLnBrk="0">
                        <a:lnSpc>
                          <a:spcPct val="9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6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准确的小数位数</a:t>
                      </a:r>
                      <a:endParaRPr sz="1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739" algn="l" rtl="0" eaLnBrk="0">
                        <a:lnSpc>
                          <a:spcPct val="9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600" b="1" kern="0" spc="-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运</a:t>
                      </a:r>
                      <a:r>
                        <a:rPr sz="1600" kern="0" spc="-3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600" b="1" kern="0" spc="-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行</a:t>
                      </a:r>
                      <a:r>
                        <a:rPr sz="1600" kern="0" spc="-2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600" b="1" kern="0" spc="-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时</a:t>
                      </a:r>
                      <a:r>
                        <a:rPr sz="1600" kern="0" spc="-2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600" b="1" kern="0" spc="-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间</a:t>
                      </a:r>
                      <a:r>
                        <a:rPr sz="1600" kern="0" spc="-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600" b="1" kern="0" spc="-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(</a:t>
                      </a:r>
                      <a:r>
                        <a:rPr sz="1600" kern="0" spc="-3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600" b="1" kern="0" spc="-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秒</a:t>
                      </a:r>
                      <a:r>
                        <a:rPr sz="1600" kern="0" spc="-3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600" b="1" kern="0" spc="-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)</a:t>
                      </a:r>
                      <a:endParaRPr sz="1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914" algn="l" rtl="0" eaLnBrk="0">
                        <a:lnSpc>
                          <a:spcPts val="2022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6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500000</a:t>
                      </a:r>
                      <a:endParaRPr sz="1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739" algn="l" rtl="0" eaLnBrk="0">
                        <a:lnSpc>
                          <a:spcPts val="2029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6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3.140976</a:t>
                      </a:r>
                      <a:endParaRPr sz="1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389" algn="l" rtl="0" eaLnBrk="0">
                        <a:lnSpc>
                          <a:spcPts val="2012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6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</a:t>
                      </a:r>
                      <a:endParaRPr sz="1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200" algn="l" rtl="0" eaLnBrk="0">
                        <a:lnSpc>
                          <a:spcPts val="2012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6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0.20458</a:t>
                      </a:r>
                      <a:endParaRPr sz="1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914" algn="l" rtl="0" eaLnBrk="0">
                        <a:lnSpc>
                          <a:spcPts val="2044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6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5000000</a:t>
                      </a:r>
                      <a:endParaRPr sz="1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739" algn="l" rtl="0" eaLnBrk="0">
                        <a:lnSpc>
                          <a:spcPts val="2038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6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3.142104</a:t>
                      </a:r>
                      <a:endParaRPr sz="1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660" algn="l" rtl="0" eaLnBrk="0">
                        <a:lnSpc>
                          <a:spcPct val="88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1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</a:t>
                      </a:r>
                      <a:endParaRPr sz="2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200" algn="l" rtl="0" eaLnBrk="0">
                        <a:lnSpc>
                          <a:spcPts val="2037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6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2.08951</a:t>
                      </a:r>
                      <a:endParaRPr sz="1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8" name="textbox 138"/>
          <p:cNvSpPr/>
          <p:nvPr/>
        </p:nvSpPr>
        <p:spPr>
          <a:xfrm>
            <a:off x="914379" y="946033"/>
            <a:ext cx="4588509" cy="12566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6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30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两种计算圆周率算法的对比</a:t>
            </a:r>
            <a:endParaRPr sz="3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977900" algn="l" rtl="0" eaLnBrk="0">
              <a:lnSpc>
                <a:spcPct val="97000"/>
              </a:lnSpc>
              <a:spcBef>
                <a:spcPts val="2"/>
              </a:spcBef>
              <a:tabLst/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欧拉公式计算圆周率结果记录表</a:t>
            </a:r>
            <a:endParaRPr sz="1800" dirty="0">
              <a:latin typeface="KaiTi"/>
              <a:ea typeface="KaiTi"/>
              <a:cs typeface="KaiTi"/>
            </a:endParaRPr>
          </a:p>
        </p:txBody>
      </p:sp>
      <p:sp>
        <p:nvSpPr>
          <p:cNvPr id="140" name="textbox 140"/>
          <p:cNvSpPr/>
          <p:nvPr/>
        </p:nvSpPr>
        <p:spPr>
          <a:xfrm>
            <a:off x="1638340" y="3987159"/>
            <a:ext cx="3432175" cy="292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69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随机投点法计算圆周率结果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记录表</a:t>
            </a:r>
            <a:endParaRPr sz="1800" dirty="0">
              <a:latin typeface="KaiTi"/>
              <a:ea typeface="KaiTi"/>
              <a:cs typeface="KaiTi"/>
            </a:endParaRPr>
          </a:p>
        </p:txBody>
      </p:sp>
      <p:sp>
        <p:nvSpPr>
          <p:cNvPr id="142" name="textbox 142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picture 1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146" name="table 146"/>
          <p:cNvGraphicFramePr>
            <a:graphicFrameLocks noGrp="1"/>
          </p:cNvGraphicFramePr>
          <p:nvPr/>
        </p:nvGraphicFramePr>
        <p:xfrm>
          <a:off x="244444" y="2428877"/>
          <a:ext cx="7105015" cy="2914014"/>
        </p:xfrm>
        <a:graphic>
          <a:graphicData uri="http://schemas.openxmlformats.org/drawingml/2006/table">
            <a:tbl>
              <a:tblPr/>
              <a:tblGrid>
                <a:gridCol w="1819275"/>
                <a:gridCol w="2800350"/>
                <a:gridCol w="2485389"/>
              </a:tblGrid>
              <a:tr h="7207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5025" algn="l" rtl="0" eaLnBrk="0">
                        <a:lnSpc>
                          <a:spcPct val="9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8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欧拉公式法</a:t>
                      </a:r>
                      <a:endParaRPr sz="1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6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9925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18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随机投点法</a:t>
                      </a:r>
                      <a:endParaRPr sz="1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3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900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18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计算结果精确度</a:t>
                      </a:r>
                      <a:endParaRPr sz="1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26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9400" algn="l" rtl="0" eaLnBrk="0">
                        <a:lnSpc>
                          <a:spcPct val="98000"/>
                        </a:lnSpc>
                        <a:tabLst/>
                      </a:pPr>
                      <a:r>
                        <a:rPr sz="1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☑</a:t>
                      </a:r>
                      <a:r>
                        <a:rPr sz="1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较高</a:t>
                      </a:r>
                      <a:r>
                        <a:rPr sz="18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</a:t>
                      </a:r>
                      <a:r>
                        <a:rPr sz="1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□较低</a:t>
                      </a:r>
                      <a:endParaRPr sz="1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26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0" algn="l" rtl="0" eaLnBrk="0">
                        <a:lnSpc>
                          <a:spcPct val="98000"/>
                        </a:lnSpc>
                        <a:tabLst/>
                      </a:pPr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□较高</a:t>
                      </a:r>
                      <a:r>
                        <a:rPr sz="18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</a:t>
                      </a:r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☑</a:t>
                      </a:r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较低</a:t>
                      </a:r>
                      <a:endParaRPr sz="1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900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8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程序运行时间</a:t>
                      </a:r>
                      <a:endParaRPr sz="1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9400" algn="l" rtl="0" eaLnBrk="0">
                        <a:lnSpc>
                          <a:spcPct val="96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□较长</a:t>
                      </a:r>
                      <a:r>
                        <a:rPr sz="18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</a:t>
                      </a:r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☑</a:t>
                      </a:r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较短</a:t>
                      </a:r>
                      <a:endParaRPr sz="1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2400" algn="l" rtl="0" eaLnBrk="0">
                        <a:lnSpc>
                          <a:spcPct val="96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☑</a:t>
                      </a:r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较长     □较短</a:t>
                      </a:r>
                      <a:endParaRPr sz="1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64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85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90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8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对算法的理解</a:t>
                      </a:r>
                      <a:endParaRPr sz="1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0964" algn="l" rtl="0" eaLnBrk="0">
                        <a:lnSpc>
                          <a:spcPts val="2297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700" kern="0" spc="50" baseline="625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☑</a:t>
                      </a:r>
                      <a:r>
                        <a:rPr sz="2700" kern="0" spc="50" baseline="625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易理解</a:t>
                      </a:r>
                      <a:r>
                        <a:rPr sz="1700" kern="0" spc="4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</a:t>
                      </a:r>
                      <a:r>
                        <a:rPr sz="2700" kern="0" spc="50" baseline="-1461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□不易理解</a:t>
                      </a:r>
                      <a:endParaRPr sz="2700" baseline="-1461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17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□易理解</a:t>
                      </a:r>
                      <a:r>
                        <a:rPr sz="1800" kern="0" spc="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☑</a:t>
                      </a:r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不易理解</a:t>
                      </a:r>
                      <a:endParaRPr sz="1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8" name="rect 148"/>
          <p:cNvSpPr/>
          <p:nvPr/>
        </p:nvSpPr>
        <p:spPr>
          <a:xfrm>
            <a:off x="57180" y="0"/>
            <a:ext cx="12115800" cy="850872"/>
          </a:xfrm>
          <a:prstGeom prst="rect">
            <a:avLst/>
          </a:prstGeom>
          <a:solidFill>
            <a:srgbClr val="38554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0" name="textbox 150"/>
          <p:cNvSpPr/>
          <p:nvPr/>
        </p:nvSpPr>
        <p:spPr>
          <a:xfrm>
            <a:off x="914379" y="946033"/>
            <a:ext cx="4588509" cy="12839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6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30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两种计算圆周率算法的对比</a:t>
            </a:r>
            <a:endParaRPr sz="3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025650" algn="l" rtl="0" eaLnBrk="0">
              <a:lnSpc>
                <a:spcPct val="99000"/>
              </a:lnSpc>
              <a:spcBef>
                <a:spcPts val="3"/>
              </a:spcBef>
              <a:tabLst/>
            </a:pP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两种算法的对比</a:t>
            </a:r>
            <a:endParaRPr sz="2000" dirty="0">
              <a:latin typeface="KaiTi"/>
              <a:ea typeface="KaiTi"/>
              <a:cs typeface="KaiTi"/>
            </a:endParaRPr>
          </a:p>
        </p:txBody>
      </p:sp>
      <p:sp>
        <p:nvSpPr>
          <p:cNvPr id="152" name="textbox 152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picture 1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56" name="textbox 156"/>
          <p:cNvSpPr/>
          <p:nvPr/>
        </p:nvSpPr>
        <p:spPr>
          <a:xfrm>
            <a:off x="387319" y="1269867"/>
            <a:ext cx="6054725" cy="32397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6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470150" algn="l" rtl="0" eaLnBrk="0">
              <a:lnSpc>
                <a:spcPct val="95000"/>
              </a:lnSpc>
              <a:tabLst/>
            </a:pPr>
            <a:r>
              <a:rPr sz="30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课堂小结</a:t>
            </a:r>
            <a:endParaRPr sz="3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indent="571500" algn="l" rtl="0" eaLnBrk="0">
              <a:lnSpc>
                <a:spcPct val="100000"/>
              </a:lnSpc>
              <a:spcBef>
                <a:spcPts val="721"/>
              </a:spcBef>
              <a:tabLst/>
            </a:pP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1.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同学们完整体验了用计算机程序解决计</a:t>
            </a: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400" kern="0" spc="-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算圆周率问题的过程。</a:t>
            </a:r>
            <a:endParaRPr sz="2400" dirty="0">
              <a:latin typeface="KaiTi"/>
              <a:ea typeface="KaiTi"/>
              <a:cs typeface="KaiTi"/>
            </a:endParaRPr>
          </a:p>
          <a:p>
            <a:pPr marL="12700" indent="571500" algn="l" rtl="0" eaLnBrk="0">
              <a:lnSpc>
                <a:spcPct val="100000"/>
              </a:lnSpc>
              <a:spcBef>
                <a:spcPts val="34"/>
              </a:spcBef>
              <a:tabLst/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2.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深入探究实践了程序的循环结构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和选择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400" kern="0" spc="-7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结构的构建。</a:t>
            </a:r>
            <a:endParaRPr sz="2400" dirty="0">
              <a:latin typeface="KaiTi"/>
              <a:ea typeface="KaiTi"/>
              <a:cs typeface="KaiTi"/>
            </a:endParaRPr>
          </a:p>
          <a:p>
            <a:pPr marL="12700" indent="571500" algn="l" rtl="0" eaLnBrk="0">
              <a:lnSpc>
                <a:spcPct val="98000"/>
              </a:lnSpc>
              <a:spcBef>
                <a:spcPts val="43"/>
              </a:spcBef>
              <a:tabLst/>
            </a:pP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3.求解问题的方法并不唯一，在设计算法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400" kern="0" spc="-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时要综合考虑时间效率和运算结果的精准度</a:t>
            </a:r>
            <a:r>
              <a:rPr sz="2400" kern="0" spc="-6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。</a:t>
            </a:r>
            <a:endParaRPr sz="2400" dirty="0">
              <a:latin typeface="KaiTi"/>
              <a:ea typeface="KaiTi"/>
              <a:cs typeface="KaiTi"/>
            </a:endParaRPr>
          </a:p>
        </p:txBody>
      </p:sp>
      <p:sp>
        <p:nvSpPr>
          <p:cNvPr id="158" name="rect 158"/>
          <p:cNvSpPr/>
          <p:nvPr/>
        </p:nvSpPr>
        <p:spPr>
          <a:xfrm>
            <a:off x="50840" y="0"/>
            <a:ext cx="12122139" cy="850872"/>
          </a:xfrm>
          <a:prstGeom prst="rect">
            <a:avLst/>
          </a:prstGeom>
          <a:solidFill>
            <a:srgbClr val="38554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0" name="textbox 160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picture 1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64" name="rect 164"/>
          <p:cNvSpPr/>
          <p:nvPr/>
        </p:nvSpPr>
        <p:spPr>
          <a:xfrm>
            <a:off x="57180" y="0"/>
            <a:ext cx="12115800" cy="844563"/>
          </a:xfrm>
          <a:prstGeom prst="rect">
            <a:avLst/>
          </a:prstGeom>
          <a:solidFill>
            <a:srgbClr val="37544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6" name="textbox 166"/>
          <p:cNvSpPr/>
          <p:nvPr/>
        </p:nvSpPr>
        <p:spPr>
          <a:xfrm>
            <a:off x="2616261" y="2509748"/>
            <a:ext cx="2616835" cy="13322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tabLst/>
            </a:pPr>
            <a:r>
              <a:rPr sz="9000" kern="0" spc="-4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再</a:t>
            </a:r>
            <a:r>
              <a:rPr sz="9000" kern="0" spc="-12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0" kern="0" spc="-4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见</a:t>
            </a:r>
            <a:endParaRPr sz="9000" dirty="0">
              <a:latin typeface="SimSun"/>
              <a:ea typeface="SimSun"/>
              <a:cs typeface="SimSun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2026-06-07T22:04:55Z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2026-06-07T22:05:03</vt:filetime>
  </property>
  <property fmtid="{D5CDD505-2E9C-101B-9397-08002B2CF9AE}" pid="4" name="UsrData">
    <vt:lpwstr>6a257a84307a9c001fc1f488wl</vt:lpwstr>
  </property>
</Properties>
</file>