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2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8" Type="http://schemas.openxmlformats.org/officeDocument/2006/relationships/slide" Target="slides/slide7.xml"/><Relationship Id="rId7" Type="http://schemas.openxmlformats.org/officeDocument/2006/relationships/slide" Target="slides/slide6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3" Type="http://schemas.openxmlformats.org/officeDocument/2006/relationships/slide" Target="slides/slide2.xml"/><Relationship Id="rId25" Type="http://schemas.openxmlformats.org/officeDocument/2006/relationships/viewProps" Target="viewProps.xml"/><Relationship Id="rId24" Type="http://schemas.openxmlformats.org/officeDocument/2006/relationships/tableStyles" Target="tableStyles.xml"/><Relationship Id="rId23" Type="http://schemas.openxmlformats.org/officeDocument/2006/relationships/presProps" Target="presProps.xml"/><Relationship Id="rId22" Type="http://schemas.openxmlformats.org/officeDocument/2006/relationships/slide" Target="slides/slide21.xml"/><Relationship Id="rId21" Type="http://schemas.openxmlformats.org/officeDocument/2006/relationships/slide" Target="slides/slide20.xml"/><Relationship Id="rId20" Type="http://schemas.openxmlformats.org/officeDocument/2006/relationships/slide" Target="slides/slide19.xml"/><Relationship Id="rId2" Type="http://schemas.openxmlformats.org/officeDocument/2006/relationships/slide" Target="slides/slide1.xml"/><Relationship Id="rId19" Type="http://schemas.openxmlformats.org/officeDocument/2006/relationships/slide" Target="slides/slide18.xml"/><Relationship Id="rId18" Type="http://schemas.openxmlformats.org/officeDocument/2006/relationships/slide" Target="slides/slide17.xml"/><Relationship Id="rId17" Type="http://schemas.openxmlformats.org/officeDocument/2006/relationships/slide" Target="slides/slide16.xml"/><Relationship Id="rId16" Type="http://schemas.openxmlformats.org/officeDocument/2006/relationships/slide" Target="slides/slide15.xml"/><Relationship Id="rId15" Type="http://schemas.openxmlformats.org/officeDocument/2006/relationships/slide" Target="slides/slide14.xml"/><Relationship Id="rId14" Type="http://schemas.openxmlformats.org/officeDocument/2006/relationships/slide" Target="slides/slide13.xml"/><Relationship Id="rId13" Type="http://schemas.openxmlformats.org/officeDocument/2006/relationships/slide" Target="slides/slide12.xml"/><Relationship Id="rId12" Type="http://schemas.openxmlformats.org/officeDocument/2006/relationships/slide" Target="slides/slide11.xml"/><Relationship Id="rId11" Type="http://schemas.openxmlformats.org/officeDocument/2006/relationships/slide" Target="slides/slide10.xml"/><Relationship Id="rId10" Type="http://schemas.openxmlformats.org/officeDocument/2006/relationships/slide" Target="slides/slide9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jpeg"/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eg"/><Relationship Id="rId7" Type="http://schemas.openxmlformats.org/officeDocument/2006/relationships/image" Target="../media/image9.jpeg"/><Relationship Id="rId6" Type="http://schemas.openxmlformats.org/officeDocument/2006/relationships/image" Target="../media/image8.jpeg"/><Relationship Id="rId5" Type="http://schemas.openxmlformats.org/officeDocument/2006/relationships/image" Target="../media/image7.jpeg"/><Relationship Id="rId4" Type="http://schemas.openxmlformats.org/officeDocument/2006/relationships/image" Target="../media/image6.jpeg"/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image" Target="../media/image16.jpeg"/><Relationship Id="rId4" Type="http://schemas.openxmlformats.org/officeDocument/2006/relationships/image" Target="../media/image15.jpeg"/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image" Target="../media/image33.png"/><Relationship Id="rId8" Type="http://schemas.openxmlformats.org/officeDocument/2006/relationships/image" Target="../media/image32.jpeg"/><Relationship Id="rId7" Type="http://schemas.openxmlformats.org/officeDocument/2006/relationships/image" Target="../media/image31.jpeg"/><Relationship Id="rId6" Type="http://schemas.openxmlformats.org/officeDocument/2006/relationships/image" Target="../media/image30.jpeg"/><Relationship Id="rId5" Type="http://schemas.openxmlformats.org/officeDocument/2006/relationships/image" Target="../media/image29.jpeg"/><Relationship Id="rId4" Type="http://schemas.openxmlformats.org/officeDocument/2006/relationships/image" Target="../media/image28.jpeg"/><Relationship Id="rId3" Type="http://schemas.openxmlformats.org/officeDocument/2006/relationships/image" Target="../media/image27.jpeg"/><Relationship Id="rId2" Type="http://schemas.openxmlformats.org/officeDocument/2006/relationships/image" Target="../media/image26.jpeg"/><Relationship Id="rId12" Type="http://schemas.openxmlformats.org/officeDocument/2006/relationships/image" Target="../media/image36.png"/><Relationship Id="rId11" Type="http://schemas.openxmlformats.org/officeDocument/2006/relationships/image" Target="../media/image35.png"/><Relationship Id="rId10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6" Type="http://schemas.openxmlformats.org/officeDocument/2006/relationships/image" Target="../media/image43.jpeg"/><Relationship Id="rId5" Type="http://schemas.openxmlformats.org/officeDocument/2006/relationships/image" Target="../media/image42.jpeg"/><Relationship Id="rId4" Type="http://schemas.openxmlformats.org/officeDocument/2006/relationships/image" Target="../media/image41.jpeg"/><Relationship Id="rId3" Type="http://schemas.openxmlformats.org/officeDocument/2006/relationships/image" Target="../media/image40.jpe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image" Target="../media/image46.jpeg"/><Relationship Id="rId3" Type="http://schemas.openxmlformats.org/officeDocument/2006/relationships/image" Target="../media/image45.jpe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eg"/><Relationship Id="rId2" Type="http://schemas.openxmlformats.org/officeDocument/2006/relationships/image" Target="../media/image48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jpe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image" Target="../media/image55.jpeg"/><Relationship Id="rId3" Type="http://schemas.openxmlformats.org/officeDocument/2006/relationships/image" Target="../media/image54.jpeg"/><Relationship Id="rId2" Type="http://schemas.openxmlformats.org/officeDocument/2006/relationships/image" Target="../media/image53.jpe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7" Type="http://schemas.openxmlformats.org/officeDocument/2006/relationships/image" Target="../media/image61.jpeg"/><Relationship Id="rId6" Type="http://schemas.openxmlformats.org/officeDocument/2006/relationships/image" Target="../media/image60.jpeg"/><Relationship Id="rId5" Type="http://schemas.openxmlformats.org/officeDocument/2006/relationships/image" Target="../media/image59.jpeg"/><Relationship Id="rId4" Type="http://schemas.openxmlformats.org/officeDocument/2006/relationships/image" Target="../media/image58.jpeg"/><Relationship Id="rId3" Type="http://schemas.openxmlformats.org/officeDocument/2006/relationships/image" Target="../media/image57.jpeg"/><Relationship Id="rId2" Type="http://schemas.openxmlformats.org/officeDocument/2006/relationships/image" Target="../media/image56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4"/>
          <p:cNvSpPr/>
          <p:nvPr/>
        </p:nvSpPr>
        <p:spPr>
          <a:xfrm>
            <a:off x="1225055" y="928942"/>
            <a:ext cx="8537575" cy="19431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381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tabLst/>
            </a:pPr>
            <a:r>
              <a:rPr sz="3400" b="1" kern="0" spc="-18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基础教育精品课</a:t>
            </a:r>
            <a:endParaRPr sz="34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1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1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726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7000"/>
              </a:lnSpc>
              <a:tabLst/>
            </a:pPr>
            <a:r>
              <a:rPr sz="4700" b="1" kern="0" spc="9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探究停车引导中的数据处理</a:t>
            </a:r>
            <a:endParaRPr sz="4700" dirty="0">
              <a:latin typeface="SimHei"/>
              <a:ea typeface="SimHei"/>
              <a:cs typeface="SimHei"/>
            </a:endParaRPr>
          </a:p>
        </p:txBody>
      </p:sp>
      <p:sp>
        <p:nvSpPr>
          <p:cNvPr id="6" name="textbox 6"/>
          <p:cNvSpPr/>
          <p:nvPr/>
        </p:nvSpPr>
        <p:spPr>
          <a:xfrm>
            <a:off x="5497986" y="3826620"/>
            <a:ext cx="4890770" cy="21564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5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8415" algn="l" rtl="0" eaLnBrk="0">
              <a:lnSpc>
                <a:spcPct val="97000"/>
              </a:lnSpc>
              <a:tabLst/>
            </a:pPr>
            <a:r>
              <a:rPr sz="2900" b="1" kern="0" spc="30" dirty="0">
                <a:solidFill>
                  <a:srgbClr val="FFFFFF">
                    <a:alpha val="100000"/>
                  </a:srgbClr>
                </a:solidFill>
                <a:latin typeface="KaiTi"/>
                <a:ea typeface="KaiTi"/>
                <a:cs typeface="KaiTi"/>
              </a:rPr>
              <a:t>学</a:t>
            </a:r>
            <a:r>
              <a:rPr sz="2900" kern="0" spc="1420" dirty="0">
                <a:solidFill>
                  <a:srgbClr val="FFFFFF">
                    <a:alpha val="100000"/>
                  </a:srgbClr>
                </a:solidFill>
                <a:latin typeface="KaiTi"/>
                <a:ea typeface="KaiTi"/>
                <a:cs typeface="KaiTi"/>
              </a:rPr>
              <a:t> </a:t>
            </a:r>
            <a:r>
              <a:rPr sz="2900" b="1" kern="0" spc="30" dirty="0">
                <a:solidFill>
                  <a:srgbClr val="FFFFFF">
                    <a:alpha val="100000"/>
                  </a:srgbClr>
                </a:solidFill>
                <a:latin typeface="KaiTi"/>
                <a:ea typeface="KaiTi"/>
                <a:cs typeface="KaiTi"/>
              </a:rPr>
              <a:t>科：信息技术(沪科教</a:t>
            </a:r>
            <a:r>
              <a:rPr sz="2900" b="1" kern="0" spc="20" dirty="0">
                <a:solidFill>
                  <a:srgbClr val="FFFFFF">
                    <a:alpha val="100000"/>
                  </a:srgbClr>
                </a:solidFill>
                <a:latin typeface="KaiTi"/>
                <a:ea typeface="KaiTi"/>
                <a:cs typeface="KaiTi"/>
              </a:rPr>
              <a:t>版)</a:t>
            </a:r>
            <a:endParaRPr sz="2900" dirty="0">
              <a:latin typeface="KaiTi"/>
              <a:ea typeface="KaiTi"/>
              <a:cs typeface="KaiTi"/>
            </a:endParaRPr>
          </a:p>
          <a:p>
            <a:pPr marL="12700" algn="l" rtl="0" eaLnBrk="0">
              <a:lnSpc>
                <a:spcPct val="97000"/>
              </a:lnSpc>
              <a:spcBef>
                <a:spcPts val="575"/>
              </a:spcBef>
              <a:tabLst/>
            </a:pPr>
            <a:r>
              <a:rPr sz="2900" b="1" kern="0" spc="-90" dirty="0">
                <a:solidFill>
                  <a:srgbClr val="FFFFFF">
                    <a:alpha val="100000"/>
                  </a:srgbClr>
                </a:solidFill>
                <a:latin typeface="KaiTi"/>
                <a:ea typeface="KaiTi"/>
                <a:cs typeface="KaiTi"/>
              </a:rPr>
              <a:t>学</a:t>
            </a:r>
            <a:r>
              <a:rPr sz="2900" kern="0" spc="-90" dirty="0">
                <a:solidFill>
                  <a:srgbClr val="FFFFFF">
                    <a:alpha val="100000"/>
                  </a:srgbClr>
                </a:solidFill>
                <a:latin typeface="KaiTi"/>
                <a:ea typeface="KaiTi"/>
                <a:cs typeface="KaiTi"/>
              </a:rPr>
              <a:t>  </a:t>
            </a:r>
            <a:r>
              <a:rPr sz="2900" b="1" kern="0" spc="-90" dirty="0">
                <a:solidFill>
                  <a:srgbClr val="FFFFFF">
                    <a:alpha val="100000"/>
                  </a:srgbClr>
                </a:solidFill>
                <a:latin typeface="KaiTi"/>
                <a:ea typeface="KaiTi"/>
                <a:cs typeface="KaiTi"/>
              </a:rPr>
              <a:t>校：柳州市民族高中</a:t>
            </a:r>
            <a:endParaRPr sz="2900" dirty="0">
              <a:latin typeface="KaiTi"/>
              <a:ea typeface="KaiTi"/>
              <a:cs typeface="KaiTi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0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299084" algn="l" rtl="0" eaLnBrk="0">
              <a:lnSpc>
                <a:spcPct val="96000"/>
              </a:lnSpc>
              <a:spcBef>
                <a:spcPts val="6"/>
              </a:spcBef>
              <a:tabLst/>
            </a:pPr>
            <a:r>
              <a:rPr sz="22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人</a:t>
            </a:r>
            <a:endParaRPr sz="2200" dirty="0">
              <a:latin typeface="SimSun"/>
              <a:ea typeface="SimSun"/>
              <a:cs typeface="SimSun"/>
            </a:endParaRPr>
          </a:p>
        </p:txBody>
      </p:sp>
      <p:sp>
        <p:nvSpPr>
          <p:cNvPr id="8" name="textbox 8"/>
          <p:cNvSpPr/>
          <p:nvPr/>
        </p:nvSpPr>
        <p:spPr>
          <a:xfrm>
            <a:off x="1484381" y="3834350"/>
            <a:ext cx="2156460" cy="9398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7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9000"/>
              </a:lnSpc>
              <a:tabLst/>
            </a:pPr>
            <a:r>
              <a:rPr sz="2800" b="1" kern="0" spc="-110" dirty="0">
                <a:solidFill>
                  <a:srgbClr val="FFFFFF">
                    <a:alpha val="100000"/>
                  </a:srgbClr>
                </a:solidFill>
                <a:latin typeface="KaiTi"/>
                <a:ea typeface="KaiTi"/>
                <a:cs typeface="KaiTi"/>
              </a:rPr>
              <a:t>年</a:t>
            </a:r>
            <a:r>
              <a:rPr sz="2800" kern="0" spc="210" dirty="0">
                <a:solidFill>
                  <a:srgbClr val="FFFFFF">
                    <a:alpha val="100000"/>
                  </a:srgbClr>
                </a:solidFill>
                <a:latin typeface="KaiTi"/>
                <a:ea typeface="KaiTi"/>
                <a:cs typeface="KaiTi"/>
              </a:rPr>
              <a:t>  </a:t>
            </a:r>
            <a:r>
              <a:rPr sz="2800" b="1" kern="0" spc="-110" dirty="0">
                <a:solidFill>
                  <a:srgbClr val="FFFFFF">
                    <a:alpha val="100000"/>
                  </a:srgbClr>
                </a:solidFill>
                <a:latin typeface="KaiTi"/>
                <a:ea typeface="KaiTi"/>
                <a:cs typeface="KaiTi"/>
              </a:rPr>
              <a:t>级：高一</a:t>
            </a:r>
            <a:endParaRPr sz="2800" dirty="0">
              <a:latin typeface="KaiTi"/>
              <a:ea typeface="KaiTi"/>
              <a:cs typeface="KaiTi"/>
            </a:endParaRPr>
          </a:p>
          <a:p>
            <a:pPr algn="l" rtl="0" eaLnBrk="0">
              <a:lnSpc>
                <a:spcPct val="113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8000"/>
              </a:lnSpc>
              <a:spcBef>
                <a:spcPts val="1"/>
              </a:spcBef>
              <a:tabLst/>
            </a:pPr>
            <a:r>
              <a:rPr sz="2600" b="1" kern="0" spc="160" dirty="0">
                <a:solidFill>
                  <a:srgbClr val="FFFFFF">
                    <a:alpha val="100000"/>
                  </a:srgbClr>
                </a:solidFill>
                <a:latin typeface="KaiTi"/>
                <a:ea typeface="KaiTi"/>
                <a:cs typeface="KaiTi"/>
              </a:rPr>
              <a:t>主讲人：陈宇</a:t>
            </a:r>
            <a:endParaRPr sz="2600" dirty="0">
              <a:latin typeface="KaiTi"/>
              <a:ea typeface="KaiTi"/>
              <a:cs typeface="KaiTi"/>
            </a:endParaR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14360" y="5029177"/>
            <a:ext cx="1517538" cy="1035077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0782361" y="5143500"/>
            <a:ext cx="1409638" cy="109220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16" name="table 16"/>
          <p:cNvGraphicFramePr>
            <a:graphicFrameLocks noGrp="1"/>
          </p:cNvGraphicFramePr>
          <p:nvPr/>
        </p:nvGraphicFramePr>
        <p:xfrm>
          <a:off x="1831964" y="2416190"/>
          <a:ext cx="2317114" cy="3549015"/>
        </p:xfrm>
        <a:graphic>
          <a:graphicData uri="http://schemas.openxmlformats.org/drawingml/2006/table">
            <a:tbl>
              <a:tblPr/>
              <a:tblGrid>
                <a:gridCol w="295275"/>
                <a:gridCol w="247650"/>
                <a:gridCol w="317500"/>
                <a:gridCol w="158750"/>
                <a:gridCol w="190500"/>
                <a:gridCol w="222250"/>
                <a:gridCol w="279400"/>
                <a:gridCol w="126364"/>
                <a:gridCol w="57150"/>
                <a:gridCol w="422275"/>
              </a:tblGrid>
              <a:tr h="135889">
                <a:tc gridSpan="10">
                  <a:txBody>
                    <a:bodyPr/>
                    <a:lstStyle/>
                    <a:p>
                      <a:pPr algn="l" rtl="0" eaLnBrk="0">
                        <a:lnSpc>
                          <a:spcPct val="123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74725" algn="l" rtl="0" eaLnBrk="0">
                        <a:lnSpc>
                          <a:spcPct val="94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课程基本借息</a:t>
                      </a:r>
                      <a:endParaRPr sz="5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06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9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5240" algn="l" rtl="0" eaLnBrk="0">
                        <a:lnSpc>
                          <a:spcPct val="95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5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学</a:t>
                      </a:r>
                      <a:r>
                        <a:rPr sz="500" kern="0" spc="-20" dirty="0">
                          <a:solidFill>
                            <a:srgbClr val="20207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料</a:t>
                      </a:r>
                      <a:endParaRPr sz="5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l" rtl="0" eaLnBrk="0">
                        <a:lnSpc>
                          <a:spcPct val="18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700" algn="l" rtl="0" eaLnBrk="0">
                        <a:lnSpc>
                          <a:spcPct val="95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信患技术</a:t>
                      </a:r>
                      <a:endParaRPr sz="5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700" algn="l" rtl="0" eaLnBrk="0">
                        <a:lnSpc>
                          <a:spcPct val="95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5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年级</a:t>
                      </a:r>
                      <a:endParaRPr sz="5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89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1115" algn="l" rtl="0" eaLnBrk="0">
                        <a:lnSpc>
                          <a:spcPct val="95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声一</a:t>
                      </a:r>
                      <a:endParaRPr sz="5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89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95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5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学</a:t>
                      </a:r>
                      <a:r>
                        <a:rPr sz="500" kern="0" spc="1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5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期</a:t>
                      </a:r>
                      <a:endParaRPr sz="5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9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3334" algn="l" rtl="0" eaLnBrk="0">
                        <a:lnSpc>
                          <a:spcPct val="95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5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秋平</a:t>
                      </a:r>
                      <a:endParaRPr sz="5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33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7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5240" algn="l" rtl="0" eaLnBrk="0">
                        <a:lnSpc>
                          <a:spcPct val="95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课题</a:t>
                      </a:r>
                      <a:endParaRPr sz="5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9"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350" algn="l" rtl="0" eaLnBrk="0">
                        <a:lnSpc>
                          <a:spcPct val="94000"/>
                        </a:lnSpc>
                        <a:tabLst/>
                      </a:pPr>
                      <a:r>
                        <a:rPr sz="5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探究停车引导中的数</a:t>
                      </a:r>
                      <a:r>
                        <a:rPr sz="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摇处理</a:t>
                      </a:r>
                      <a:endParaRPr sz="5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5240" algn="l" rtl="0" eaLnBrk="0">
                        <a:lnSpc>
                          <a:spcPct val="94000"/>
                        </a:lnSpc>
                        <a:tabLst/>
                      </a:pPr>
                      <a:r>
                        <a:rPr sz="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教料书</a:t>
                      </a:r>
                      <a:endParaRPr sz="5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9">
                  <a:txBody>
                    <a:bodyPr/>
                    <a:lstStyle/>
                    <a:p>
                      <a:pPr algn="l" rtl="0" eaLnBrk="0">
                        <a:lnSpc>
                          <a:spcPct val="18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350" algn="l" rtl="0" eaLnBrk="0">
                        <a:lnSpc>
                          <a:spcPct val="94000"/>
                        </a:lnSpc>
                        <a:tabLst/>
                      </a:pPr>
                      <a:r>
                        <a:rPr sz="5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书名：《僳患技术《必修1)数描与计</a:t>
                      </a:r>
                      <a:r>
                        <a:rPr sz="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算》敏材</a:t>
                      </a:r>
                      <a:endParaRPr sz="5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algn="l" rtl="0" eaLnBrk="0">
                        <a:lnSpc>
                          <a:spcPct val="119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350" algn="l" rtl="0" eaLnBrk="0">
                        <a:lnSpc>
                          <a:spcPct val="95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5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出妖社：上海科技救</a:t>
                      </a:r>
                      <a:r>
                        <a:rPr sz="5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育出峨社           出级日期：2022年6月</a:t>
                      </a:r>
                      <a:endParaRPr sz="5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7000">
                <a:tc gridSpan="10"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38225" algn="l" rtl="0" eaLnBrk="0">
                        <a:lnSpc>
                          <a:spcPct val="95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5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学</a:t>
                      </a:r>
                      <a:r>
                        <a:rPr sz="500" kern="0" spc="-40" dirty="0">
                          <a:solidFill>
                            <a:srgbClr val="20304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习</a:t>
                      </a:r>
                      <a:r>
                        <a:rPr sz="5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目</a:t>
                      </a:r>
                      <a:r>
                        <a:rPr sz="500" kern="0" spc="-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5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标</a:t>
                      </a:r>
                      <a:endParaRPr sz="5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3550">
                <a:tc gridSpan="10">
                  <a:txBody>
                    <a:bodyPr/>
                    <a:lstStyle/>
                    <a:p>
                      <a:pPr algn="l" rtl="0" eaLnBrk="0">
                        <a:lnSpc>
                          <a:spcPct val="131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889" algn="l" rtl="0" eaLnBrk="0">
                        <a:lnSpc>
                          <a:spcPct val="131000"/>
                        </a:lnSpc>
                        <a:tabLst/>
                      </a:pPr>
                      <a:r>
                        <a:rPr sz="5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1.了解采集数摇的常用方法和工具，                                         </a:t>
                      </a:r>
                      <a:r>
                        <a:rPr sz="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2.了解数据的迅织方式。</a:t>
                      </a:r>
                      <a:endParaRPr sz="5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algn="l" rtl="0" eaLnBrk="0">
                        <a:lnSpc>
                          <a:spcPct val="133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889" algn="l" rtl="0" eaLnBrk="0">
                        <a:lnSpc>
                          <a:spcPct val="95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500" kern="0" spc="-20" dirty="0">
                          <a:solidFill>
                            <a:srgbClr val="30304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3</a:t>
                      </a:r>
                      <a:r>
                        <a:rPr sz="5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.了解数据的存储方式。</a:t>
                      </a:r>
                      <a:endParaRPr sz="5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3350">
                <a:tc gridSpan="10"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74725" algn="l" rtl="0" eaLnBrk="0">
                        <a:lnSpc>
                          <a:spcPct val="95000"/>
                        </a:lnSpc>
                        <a:tabLst/>
                      </a:pPr>
                      <a:r>
                        <a:rPr sz="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课莉学习任务</a:t>
                      </a:r>
                      <a:endParaRPr sz="5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6550">
                <a:tc gridSpan="10">
                  <a:txBody>
                    <a:bodyPr/>
                    <a:lstStyle/>
                    <a:p>
                      <a:pPr algn="l" rtl="0" eaLnBrk="0">
                        <a:lnSpc>
                          <a:spcPct val="117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889" algn="l" rtl="0" eaLnBrk="0">
                        <a:lnSpc>
                          <a:spcPct val="95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1.复习数据处理的</a:t>
                      </a:r>
                      <a:r>
                        <a:rPr sz="5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一般过程，</a:t>
                      </a:r>
                      <a:endParaRPr sz="5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algn="l" rtl="0" eaLnBrk="0">
                        <a:lnSpc>
                          <a:spcPct val="132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889" algn="l" rtl="0" eaLnBrk="0">
                        <a:lnSpc>
                          <a:spcPct val="94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5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2.观麻身边，有国些数据自动采</a:t>
                      </a:r>
                      <a:r>
                        <a:rPr sz="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奥设备?</a:t>
                      </a:r>
                      <a:endParaRPr sz="5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3350">
                <a:tc gridSpan="10"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68375" algn="l" rtl="0" eaLnBrk="0">
                        <a:lnSpc>
                          <a:spcPct val="95000"/>
                        </a:lnSpc>
                        <a:tabLst/>
                      </a:pPr>
                      <a:r>
                        <a:rPr sz="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课上学习任务</a:t>
                      </a:r>
                      <a:endParaRPr sz="5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3550">
                <a:tc gridSpan="10">
                  <a:txBody>
                    <a:bodyPr/>
                    <a:lstStyle/>
                    <a:p>
                      <a:pPr algn="l" rtl="0" eaLnBrk="0">
                        <a:lnSpc>
                          <a:spcPct val="117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9844" algn="l" rtl="0" eaLnBrk="0">
                        <a:lnSpc>
                          <a:spcPct val="95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5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【学习任务</a:t>
                      </a:r>
                      <a:r>
                        <a:rPr sz="500" kern="0" spc="-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5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-】</a:t>
                      </a:r>
                      <a:endParaRPr sz="5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8889" indent="114300" algn="l" rtl="0" eaLnBrk="0">
                        <a:lnSpc>
                          <a:spcPct val="157000"/>
                        </a:lnSpc>
                        <a:spcBef>
                          <a:spcPts val="116"/>
                        </a:spcBef>
                        <a:tabLst/>
                      </a:pPr>
                      <a:r>
                        <a:rPr sz="5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思考与讨论：生活中，你还见过哪丝数据</a:t>
                      </a:r>
                      <a:r>
                        <a:rPr sz="5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自动采集设备?这监设备挖够获取哪益数据?</a:t>
                      </a:r>
                      <a:r>
                        <a:rPr sz="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500" kern="0" spc="-10" dirty="0">
                          <a:solidFill>
                            <a:srgbClr val="30205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并</a:t>
                      </a:r>
                      <a:r>
                        <a:rPr sz="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填写下表。</a:t>
                      </a:r>
                      <a:endParaRPr sz="5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7000"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94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数据自动采奥设条</a:t>
                      </a:r>
                      <a:endParaRPr sz="5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8100" algn="l" rtl="0" eaLnBrk="0">
                        <a:lnSpc>
                          <a:spcPct val="95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聚集方式</a:t>
                      </a:r>
                      <a:endParaRPr sz="5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0650" algn="l" rtl="0" eaLnBrk="0">
                        <a:lnSpc>
                          <a:spcPct val="95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获取的数推</a:t>
                      </a:r>
                      <a:endParaRPr sz="5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700" algn="l" rtl="0" eaLnBrk="0">
                        <a:lnSpc>
                          <a:spcPct val="95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是否运用得当</a:t>
                      </a:r>
                      <a:endParaRPr sz="5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2235" algn="l" rtl="0" eaLnBrk="0">
                        <a:lnSpc>
                          <a:spcPct val="95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改进速议</a:t>
                      </a:r>
                      <a:endParaRPr sz="5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7000"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ts val="95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ts val="95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l" rtl="0" eaLnBrk="0">
                        <a:lnSpc>
                          <a:spcPts val="95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ts val="95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ts val="95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7000"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ts val="95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ts val="95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l" rtl="0" eaLnBrk="0">
                        <a:lnSpc>
                          <a:spcPts val="95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ts val="95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ts val="95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3350"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ts val="1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ts val="1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l" rtl="0" eaLnBrk="0">
                        <a:lnSpc>
                          <a:spcPts val="1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ts val="1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ts val="1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7000"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ts val="95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ts val="95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l" rtl="0" eaLnBrk="0">
                        <a:lnSpc>
                          <a:spcPts val="95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ts val="95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ts val="95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7000"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ts val="95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ts val="95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l" rtl="0" eaLnBrk="0">
                        <a:lnSpc>
                          <a:spcPts val="95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ts val="95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ts val="95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6725">
                <a:tc gridSpan="10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6669" algn="l" rtl="0" eaLnBrk="0">
                        <a:lnSpc>
                          <a:spcPts val="504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【 </a:t>
                      </a:r>
                      <a:r>
                        <a:rPr sz="400" kern="0" spc="-10" dirty="0">
                          <a:solidFill>
                            <a:srgbClr val="00002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学</a:t>
                      </a:r>
                      <a:r>
                        <a:rPr sz="400" kern="0" spc="-10" dirty="0">
                          <a:solidFill>
                            <a:srgbClr val="20207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习</a:t>
                      </a:r>
                      <a:r>
                        <a:rPr sz="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任务二</a:t>
                      </a:r>
                      <a:r>
                        <a:rPr sz="400" kern="0" spc="-10" dirty="0">
                          <a:solidFill>
                            <a:srgbClr val="70301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】</a:t>
                      </a:r>
                      <a:endParaRPr sz="4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8889" algn="l" rtl="0" eaLnBrk="0">
                        <a:lnSpc>
                          <a:spcPct val="184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4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如下图所示的停车位使用实时数据表，该表的记录数是_      — _</a:t>
                      </a:r>
                      <a:r>
                        <a:rPr sz="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4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,</a:t>
                      </a:r>
                      <a:r>
                        <a:rPr sz="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4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字</a:t>
                      </a:r>
                      <a:r>
                        <a:rPr sz="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4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段</a:t>
                      </a:r>
                      <a:r>
                        <a:rPr sz="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4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效</a:t>
                      </a:r>
                      <a:r>
                        <a:rPr sz="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4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是</a:t>
                      </a:r>
                      <a:r>
                        <a:rPr sz="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          </a:t>
                      </a:r>
                      <a:r>
                        <a:rPr sz="4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字段表示的数据的_</a:t>
                      </a:r>
                      <a:endParaRPr sz="4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8" name="textbox 18"/>
          <p:cNvSpPr/>
          <p:nvPr/>
        </p:nvSpPr>
        <p:spPr>
          <a:xfrm>
            <a:off x="3981399" y="384499"/>
            <a:ext cx="7788275" cy="104266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58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7000"/>
              </a:lnSpc>
              <a:tabLst/>
            </a:pPr>
            <a:r>
              <a:rPr sz="2300" kern="0" spc="11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基础教育精品课</a:t>
            </a:r>
            <a:endParaRPr sz="23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5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10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tabLst/>
            </a:pPr>
            <a:r>
              <a:rPr sz="3000" kern="0" spc="-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课前准备</a:t>
            </a:r>
            <a:endParaRPr sz="3000" dirty="0">
              <a:latin typeface="SimHei"/>
              <a:ea typeface="SimHei"/>
              <a:cs typeface="SimHei"/>
            </a:endParaRPr>
          </a:p>
        </p:txBody>
      </p:sp>
      <p:sp>
        <p:nvSpPr>
          <p:cNvPr id="20" name="textbox 20"/>
          <p:cNvSpPr/>
          <p:nvPr/>
        </p:nvSpPr>
        <p:spPr>
          <a:xfrm>
            <a:off x="5473699" y="5352333"/>
            <a:ext cx="2137410" cy="6210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11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00000"/>
              </a:lnSpc>
              <a:tabLst/>
            </a:pPr>
            <a:r>
              <a:rPr sz="500" kern="0" spc="0" dirty="0">
                <a:solidFill>
                  <a:srgbClr val="205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4.学习任务二：结</a:t>
            </a:r>
            <a:r>
              <a:rPr sz="500" kern="0" spc="-10" dirty="0">
                <a:solidFill>
                  <a:srgbClr val="205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合课本60页知识造接的学习，认识关系表</a:t>
            </a:r>
            <a:endParaRPr sz="5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ts val="515"/>
              </a:lnSpc>
              <a:spcBef>
                <a:spcPts val="325"/>
              </a:spcBef>
              <a:tabLst/>
            </a:pPr>
            <a:r>
              <a:rPr sz="400" kern="0" spc="10" dirty="0">
                <a:solidFill>
                  <a:srgbClr val="30A0E0">
                    <a:alpha val="100000"/>
                  </a:srgbClr>
                </a:solidFill>
                <a:latin typeface="LiSu"/>
                <a:ea typeface="LiSu"/>
                <a:cs typeface="LiSu"/>
              </a:rPr>
              <a:t>曲</a:t>
            </a:r>
            <a:r>
              <a:rPr sz="400" kern="0" spc="10" dirty="0">
                <a:solidFill>
                  <a:srgbClr val="30A0E0">
                    <a:alpha val="100000"/>
                  </a:srgbClr>
                </a:solidFill>
                <a:latin typeface="LiSu"/>
                <a:ea typeface="LiSu"/>
                <a:cs typeface="LiSu"/>
              </a:rPr>
              <a:t>  </a:t>
            </a:r>
            <a:r>
              <a:rPr sz="400" kern="0" spc="10" dirty="0">
                <a:solidFill>
                  <a:srgbClr val="30A0E0">
                    <a:alpha val="100000"/>
                  </a:srgbClr>
                </a:solidFill>
                <a:latin typeface="LiSu"/>
                <a:ea typeface="LiSu"/>
                <a:cs typeface="LiSu"/>
              </a:rPr>
              <a:t>0</a:t>
            </a:r>
            <a:r>
              <a:rPr sz="400" kern="0" spc="120" dirty="0">
                <a:solidFill>
                  <a:srgbClr val="30A0E0">
                    <a:alpha val="100000"/>
                  </a:srgbClr>
                </a:solidFill>
                <a:latin typeface="LiSu"/>
                <a:ea typeface="LiSu"/>
                <a:cs typeface="LiSu"/>
              </a:rPr>
              <a:t> </a:t>
            </a:r>
            <a:r>
              <a:rPr sz="400" kern="0" spc="10" dirty="0">
                <a:solidFill>
                  <a:srgbClr val="30A0E0">
                    <a:alpha val="100000"/>
                  </a:srgbClr>
                </a:solidFill>
                <a:latin typeface="STXingkai"/>
                <a:ea typeface="STXingkai"/>
                <a:cs typeface="STXingkai"/>
              </a:rPr>
              <a:t>三</a:t>
            </a:r>
            <a:r>
              <a:rPr sz="400" kern="0" spc="50" dirty="0">
                <a:solidFill>
                  <a:srgbClr val="30A0E0">
                    <a:alpha val="100000"/>
                  </a:srgbClr>
                </a:solidFill>
                <a:latin typeface="STXingkai"/>
                <a:ea typeface="STXingkai"/>
                <a:cs typeface="STXingkai"/>
              </a:rPr>
              <a:t> </a:t>
            </a:r>
            <a:r>
              <a:rPr sz="400" kern="0" spc="10" dirty="0">
                <a:solidFill>
                  <a:srgbClr val="30A0E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人</a:t>
            </a:r>
            <a:r>
              <a:rPr sz="400" kern="0" spc="-70" dirty="0">
                <a:solidFill>
                  <a:srgbClr val="30A0E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400" kern="0" spc="10" dirty="0">
                <a:solidFill>
                  <a:srgbClr val="30A0E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参</a:t>
            </a:r>
            <a:r>
              <a:rPr sz="400" kern="0" spc="-60" dirty="0">
                <a:solidFill>
                  <a:srgbClr val="30A0E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400" kern="0" spc="10" dirty="0">
                <a:solidFill>
                  <a:srgbClr val="30A0E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与</a:t>
            </a:r>
            <a:endParaRPr sz="4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80000"/>
              </a:lnSpc>
              <a:spcBef>
                <a:spcPts val="1"/>
              </a:spcBef>
              <a:tabLst/>
            </a:pPr>
            <a:r>
              <a:rPr sz="400" kern="0" spc="90" dirty="0">
                <a:solidFill>
                  <a:srgbClr val="205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5</a:t>
            </a:r>
            <a:r>
              <a:rPr sz="400" kern="0" spc="-110" dirty="0">
                <a:solidFill>
                  <a:srgbClr val="205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400" kern="0" spc="90" dirty="0">
                <a:solidFill>
                  <a:srgbClr val="205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.拓展任务；</a:t>
            </a:r>
            <a:r>
              <a:rPr sz="400" kern="0" spc="90" dirty="0">
                <a:solidFill>
                  <a:srgbClr val="205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参考</a:t>
            </a:r>
            <a:r>
              <a:rPr sz="400" kern="0" spc="80" dirty="0">
                <a:solidFill>
                  <a:srgbClr val="205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【停车位使用实时数据】,探时构建【校园消费实时数据】</a:t>
            </a:r>
            <a:r>
              <a:rPr sz="400" kern="0" spc="0" dirty="0">
                <a:solidFill>
                  <a:srgbClr val="205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</a:t>
            </a:r>
            <a:r>
              <a:rPr sz="400" kern="0" spc="90" dirty="0">
                <a:solidFill>
                  <a:srgbClr val="205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所需采集的数据压性</a:t>
            </a:r>
            <a:endParaRPr sz="400" dirty="0">
              <a:latin typeface="SimHei"/>
              <a:ea typeface="SimHei"/>
              <a:cs typeface="SimHei"/>
            </a:endParaRPr>
          </a:p>
        </p:txBody>
      </p:sp>
      <p:sp>
        <p:nvSpPr>
          <p:cNvPr id="22" name="textbox 22"/>
          <p:cNvSpPr/>
          <p:nvPr/>
        </p:nvSpPr>
        <p:spPr>
          <a:xfrm>
            <a:off x="4991160" y="4927610"/>
            <a:ext cx="2794000" cy="311150"/>
          </a:xfrm>
          <a:prstGeom prst="rect">
            <a:avLst/>
          </a:prstGeom>
          <a:solidFill>
            <a:srgbClr val="DEEFF9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995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4765" algn="l" rtl="0" eaLnBrk="0">
              <a:lnSpc>
                <a:spcPts val="512"/>
              </a:lnSpc>
              <a:tabLst/>
            </a:pPr>
            <a:r>
              <a:rPr sz="400" kern="0" spc="130" dirty="0">
                <a:solidFill>
                  <a:srgbClr val="20B05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◎</a:t>
            </a:r>
            <a:r>
              <a:rPr sz="400" kern="0" spc="0" dirty="0">
                <a:solidFill>
                  <a:srgbClr val="20B05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</a:t>
            </a:r>
            <a:r>
              <a:rPr sz="400" kern="0" spc="130" dirty="0">
                <a:solidFill>
                  <a:srgbClr val="10204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二、停车位数据的组织(3</a:t>
            </a:r>
            <a:r>
              <a:rPr sz="400" kern="0" spc="120" dirty="0">
                <a:solidFill>
                  <a:srgbClr val="10204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个小节)</a:t>
            </a:r>
            <a:endParaRPr sz="400" dirty="0">
              <a:latin typeface="SimHei"/>
              <a:ea typeface="SimHei"/>
              <a:cs typeface="SimHei"/>
            </a:endParaRPr>
          </a:p>
        </p:txBody>
      </p:sp>
      <p:sp>
        <p:nvSpPr>
          <p:cNvPr id="24" name="textbox 24"/>
          <p:cNvSpPr/>
          <p:nvPr/>
        </p:nvSpPr>
        <p:spPr>
          <a:xfrm>
            <a:off x="4997500" y="2724134"/>
            <a:ext cx="2774950" cy="292100"/>
          </a:xfrm>
          <a:prstGeom prst="rect">
            <a:avLst/>
          </a:prstGeom>
          <a:solidFill>
            <a:srgbClr val="D7ECFB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3000"/>
              </a:lnSpc>
              <a:tabLst/>
            </a:pPr>
            <a:endParaRPr sz="900" dirty="0">
              <a:latin typeface="Arial"/>
              <a:ea typeface="Arial"/>
              <a:cs typeface="Arial"/>
            </a:endParaRPr>
          </a:p>
          <a:p>
            <a:pPr marL="158114" algn="l" rtl="0" eaLnBrk="0">
              <a:lnSpc>
                <a:spcPts val="623"/>
              </a:lnSpc>
              <a:spcBef>
                <a:spcPts val="6"/>
              </a:spcBef>
              <a:tabLst/>
            </a:pPr>
            <a:r>
              <a:rPr sz="500" kern="0" spc="40" dirty="0">
                <a:solidFill>
                  <a:srgbClr val="205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课前学习任务(2个小节)</a:t>
            </a:r>
            <a:endParaRPr sz="500" dirty="0">
              <a:latin typeface="SimHei"/>
              <a:ea typeface="SimHei"/>
              <a:cs typeface="SimHei"/>
            </a:endParaRPr>
          </a:p>
        </p:txBody>
      </p:sp>
      <p:sp>
        <p:nvSpPr>
          <p:cNvPr id="26" name="textbox 26"/>
          <p:cNvSpPr/>
          <p:nvPr/>
        </p:nvSpPr>
        <p:spPr>
          <a:xfrm>
            <a:off x="5473699" y="4406343"/>
            <a:ext cx="2141854" cy="2012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802" rIns="0" bIns="0"/>
          <a:lstStyle/>
          <a:p>
            <a:pPr marL="12700" algn="l" rtl="0" eaLnBrk="0">
              <a:lnSpc>
                <a:spcPct val="154000"/>
              </a:lnSpc>
              <a:spcBef>
                <a:spcPts val="6"/>
              </a:spcBef>
              <a:tabLst/>
            </a:pPr>
            <a:r>
              <a:rPr sz="400" kern="0" spc="100" dirty="0">
                <a:solidFill>
                  <a:srgbClr val="205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3.学习任务一：生活</a:t>
            </a:r>
            <a:r>
              <a:rPr sz="400" kern="0" spc="90" dirty="0">
                <a:solidFill>
                  <a:srgbClr val="205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中，你还见过哪些数据自动采生设备?</a:t>
            </a:r>
            <a:r>
              <a:rPr sz="400" kern="0" spc="90" dirty="0">
                <a:solidFill>
                  <a:srgbClr val="205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这些设备能够获取</a:t>
            </a:r>
            <a:r>
              <a:rPr sz="400" kern="0" spc="-10" dirty="0">
                <a:solidFill>
                  <a:srgbClr val="205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400" kern="0" spc="100" dirty="0">
                <a:solidFill>
                  <a:srgbClr val="205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聪些数据?并填写下表</a:t>
            </a:r>
            <a:r>
              <a:rPr sz="400" kern="0" spc="-60" dirty="0">
                <a:solidFill>
                  <a:srgbClr val="205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400" kern="0" spc="100" dirty="0">
                <a:solidFill>
                  <a:srgbClr val="205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.</a:t>
            </a:r>
            <a:endParaRPr sz="400" dirty="0">
              <a:latin typeface="SimHei"/>
              <a:ea typeface="SimHei"/>
              <a:cs typeface="SimHei"/>
            </a:endParaRPr>
          </a:p>
        </p:txBody>
      </p:sp>
      <p:sp>
        <p:nvSpPr>
          <p:cNvPr id="28" name="textbox 28"/>
          <p:cNvSpPr/>
          <p:nvPr/>
        </p:nvSpPr>
        <p:spPr>
          <a:xfrm>
            <a:off x="5473699" y="3574468"/>
            <a:ext cx="1115694" cy="1981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491"/>
              </a:lnSpc>
              <a:tabLst/>
            </a:pPr>
            <a:r>
              <a:rPr sz="400" kern="0" spc="100" dirty="0">
                <a:solidFill>
                  <a:srgbClr val="205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2观察身边，有哪些数据自动采生</a:t>
            </a:r>
            <a:r>
              <a:rPr sz="400" kern="0" spc="90" dirty="0">
                <a:solidFill>
                  <a:srgbClr val="205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设备?</a:t>
            </a:r>
            <a:endParaRPr sz="4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19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spcBef>
                <a:spcPts val="2"/>
              </a:spcBef>
              <a:tabLst/>
            </a:pPr>
            <a:r>
              <a:rPr sz="500" kern="0" spc="-20" dirty="0">
                <a:solidFill>
                  <a:srgbClr val="30A0E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B</a:t>
            </a:r>
            <a:r>
              <a:rPr sz="500" kern="0" spc="70" dirty="0">
                <a:solidFill>
                  <a:srgbClr val="30A0E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500" kern="0" spc="-20" dirty="0">
                <a:solidFill>
                  <a:srgbClr val="30A0E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吹理交</a:t>
            </a:r>
            <a:r>
              <a:rPr sz="500" kern="0" spc="200" dirty="0">
                <a:solidFill>
                  <a:srgbClr val="30A0E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500" kern="0" spc="-20" dirty="0">
                <a:solidFill>
                  <a:srgbClr val="30A0E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曲</a:t>
            </a:r>
            <a:endParaRPr sz="500" dirty="0">
              <a:latin typeface="SimHei"/>
              <a:ea typeface="SimHei"/>
              <a:cs typeface="SimHei"/>
            </a:endParaRPr>
          </a:p>
        </p:txBody>
      </p:sp>
      <p:sp>
        <p:nvSpPr>
          <p:cNvPr id="30" name="textbox 30"/>
          <p:cNvSpPr/>
          <p:nvPr/>
        </p:nvSpPr>
        <p:spPr>
          <a:xfrm>
            <a:off x="2724160" y="2098193"/>
            <a:ext cx="567690" cy="2781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37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88900" indent="-76200" algn="l" rtl="0" eaLnBrk="0">
              <a:lnSpc>
                <a:spcPct val="144000"/>
              </a:lnSpc>
              <a:tabLst/>
            </a:pPr>
            <a:r>
              <a:rPr sz="6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基础教育精品课</a:t>
            </a:r>
            <a:r>
              <a:rPr sz="600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600" kern="0" spc="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学习任务单</a:t>
            </a:r>
            <a:endParaRPr sz="600" dirty="0">
              <a:latin typeface="SimSun"/>
              <a:ea typeface="SimSun"/>
              <a:cs typeface="SimSun"/>
            </a:endParaRPr>
          </a:p>
        </p:txBody>
      </p:sp>
      <p:sp>
        <p:nvSpPr>
          <p:cNvPr id="32" name="textbox 32"/>
          <p:cNvSpPr/>
          <p:nvPr/>
        </p:nvSpPr>
        <p:spPr>
          <a:xfrm>
            <a:off x="5137200" y="4180909"/>
            <a:ext cx="1330960" cy="1054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625"/>
              </a:lnSpc>
              <a:tabLst/>
            </a:pPr>
            <a:r>
              <a:rPr sz="5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一</a:t>
            </a:r>
            <a:r>
              <a:rPr sz="500" kern="0" spc="-1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5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、</a:t>
            </a:r>
            <a:r>
              <a:rPr sz="500" kern="0" spc="20" dirty="0">
                <a:solidFill>
                  <a:srgbClr val="205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车位占用情只数据的自动采年(</a:t>
            </a:r>
            <a:r>
              <a:rPr sz="500" kern="0" spc="10" dirty="0">
                <a:solidFill>
                  <a:srgbClr val="205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1个小节)</a:t>
            </a:r>
            <a:endParaRPr sz="500" dirty="0">
              <a:latin typeface="SimHei"/>
              <a:ea typeface="SimHei"/>
              <a:cs typeface="SimHei"/>
            </a:endParaRPr>
          </a:p>
        </p:txBody>
      </p:sp>
      <p:pic>
        <p:nvPicPr>
          <p:cNvPr id="34" name="picture 3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5200618" y="5702289"/>
            <a:ext cx="241279" cy="266707"/>
          </a:xfrm>
          <a:prstGeom prst="rect">
            <a:avLst/>
          </a:prstGeom>
        </p:spPr>
      </p:pic>
      <p:pic>
        <p:nvPicPr>
          <p:cNvPr id="36" name="picture 3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7448580" y="2425674"/>
            <a:ext cx="317479" cy="190515"/>
          </a:xfrm>
          <a:prstGeom prst="rect">
            <a:avLst/>
          </a:prstGeom>
        </p:spPr>
      </p:pic>
      <p:pic>
        <p:nvPicPr>
          <p:cNvPr id="38" name="picture 3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5213299" y="5264132"/>
            <a:ext cx="228600" cy="254020"/>
          </a:xfrm>
          <a:prstGeom prst="rect">
            <a:avLst/>
          </a:prstGeom>
        </p:spPr>
      </p:pic>
      <p:pic>
        <p:nvPicPr>
          <p:cNvPr id="40" name="picture 4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5213299" y="4368820"/>
            <a:ext cx="228600" cy="234955"/>
          </a:xfrm>
          <a:prstGeom prst="rect">
            <a:avLst/>
          </a:prstGeom>
        </p:spPr>
      </p:pic>
      <p:pic>
        <p:nvPicPr>
          <p:cNvPr id="42" name="picture 4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5206959" y="3479817"/>
            <a:ext cx="234939" cy="228577"/>
          </a:xfrm>
          <a:prstGeom prst="rect">
            <a:avLst/>
          </a:prstGeom>
        </p:spPr>
      </p:pic>
      <p:pic>
        <p:nvPicPr>
          <p:cNvPr id="44" name="picture 4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5213299" y="3041660"/>
            <a:ext cx="228600" cy="228577"/>
          </a:xfrm>
          <a:prstGeom prst="rect">
            <a:avLst/>
          </a:prstGeom>
        </p:spPr>
      </p:pic>
      <p:sp>
        <p:nvSpPr>
          <p:cNvPr id="46" name="textbox 46"/>
          <p:cNvSpPr/>
          <p:nvPr/>
        </p:nvSpPr>
        <p:spPr>
          <a:xfrm>
            <a:off x="5003820" y="2473176"/>
            <a:ext cx="302895" cy="1200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740"/>
              </a:lnSpc>
              <a:tabLst/>
            </a:pPr>
            <a:r>
              <a:rPr sz="600" kern="0" spc="120" dirty="0">
                <a:solidFill>
                  <a:srgbClr val="2080E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三目录</a:t>
            </a:r>
            <a:endParaRPr sz="600" dirty="0">
              <a:latin typeface="SimHei"/>
              <a:ea typeface="SimHei"/>
              <a:cs typeface="SimHe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sp>
        <p:nvSpPr>
          <p:cNvPr id="50" name="rect 50"/>
          <p:cNvSpPr/>
          <p:nvPr/>
        </p:nvSpPr>
        <p:spPr>
          <a:xfrm>
            <a:off x="50840" y="0"/>
            <a:ext cx="12122139" cy="850872"/>
          </a:xfrm>
          <a:prstGeom prst="rect">
            <a:avLst/>
          </a:prstGeom>
          <a:solidFill>
            <a:srgbClr val="385541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2" name="textbox 52"/>
          <p:cNvSpPr/>
          <p:nvPr/>
        </p:nvSpPr>
        <p:spPr>
          <a:xfrm>
            <a:off x="5613420" y="2701063"/>
            <a:ext cx="2688589" cy="31432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50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927100" algn="l" rtl="0" eaLnBrk="0">
              <a:lnSpc>
                <a:spcPct val="96000"/>
              </a:lnSpc>
              <a:tabLst/>
            </a:pPr>
            <a:r>
              <a:rPr sz="1700" kern="0" spc="-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采集数据</a:t>
            </a:r>
            <a:endParaRPr sz="17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8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15900" algn="l" rtl="0" eaLnBrk="0">
              <a:lnSpc>
                <a:spcPct val="96000"/>
              </a:lnSpc>
              <a:spcBef>
                <a:spcPts val="481"/>
              </a:spcBef>
              <a:tabLst/>
            </a:pPr>
            <a:r>
              <a:rPr sz="16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加工、分析和可视化数据</a:t>
            </a:r>
            <a:endParaRPr sz="16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6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2000"/>
              </a:lnSpc>
              <a:spcBef>
                <a:spcPts val="516"/>
              </a:spcBef>
              <a:tabLst/>
            </a:pPr>
            <a:r>
              <a:rPr sz="1700" kern="0" spc="-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撰写报告，提出数据应用</a:t>
            </a:r>
            <a:r>
              <a:rPr sz="1700" kern="0" spc="-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建议</a:t>
            </a:r>
            <a:endParaRPr sz="17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8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0014" algn="l" rtl="0" eaLnBrk="0">
              <a:lnSpc>
                <a:spcPct val="96000"/>
              </a:lnSpc>
              <a:spcBef>
                <a:spcPts val="518"/>
              </a:spcBef>
              <a:tabLst/>
            </a:pPr>
            <a:r>
              <a:rPr sz="1700" kern="0" spc="-90" dirty="0">
                <a:solidFill>
                  <a:srgbClr val="FF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探究停车引导中的数据处理</a:t>
            </a:r>
            <a:endParaRPr sz="17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6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831850" algn="l" rtl="0" eaLnBrk="0">
              <a:lnSpc>
                <a:spcPct val="96000"/>
              </a:lnSpc>
              <a:spcBef>
                <a:spcPts val="514"/>
              </a:spcBef>
              <a:tabLst/>
            </a:pPr>
            <a:r>
              <a:rPr sz="1700" kern="0" spc="-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计算停车费</a:t>
            </a:r>
            <a:endParaRPr sz="17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6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418465" algn="l" rtl="0" eaLnBrk="0">
              <a:lnSpc>
                <a:spcPct val="96000"/>
              </a:lnSpc>
              <a:tabLst/>
            </a:pPr>
            <a:r>
              <a:rPr sz="1700" kern="0" spc="-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分析停车位使用数据</a:t>
            </a:r>
            <a:endParaRPr sz="1700" dirty="0">
              <a:latin typeface="SimHei"/>
              <a:ea typeface="SimHei"/>
              <a:cs typeface="SimHei"/>
            </a:endParaRPr>
          </a:p>
        </p:txBody>
      </p:sp>
      <p:sp>
        <p:nvSpPr>
          <p:cNvPr id="54" name="textbox 54"/>
          <p:cNvSpPr/>
          <p:nvPr/>
        </p:nvSpPr>
        <p:spPr>
          <a:xfrm>
            <a:off x="3994200" y="974075"/>
            <a:ext cx="3605529" cy="14331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15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/>
            </a:pPr>
            <a:r>
              <a:rPr sz="30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单元回顾</a:t>
            </a:r>
            <a:endParaRPr sz="30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5000"/>
              </a:lnSpc>
              <a:spcBef>
                <a:spcPts val="1"/>
              </a:spcBef>
              <a:tabLst/>
            </a:pPr>
            <a:r>
              <a:rPr sz="1700" kern="0" spc="-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明确数据需求</a:t>
            </a:r>
            <a:endParaRPr sz="1700" dirty="0">
              <a:latin typeface="SimHei"/>
              <a:ea typeface="SimHei"/>
              <a:cs typeface="SimHei"/>
            </a:endParaRPr>
          </a:p>
        </p:txBody>
      </p:sp>
      <p:sp>
        <p:nvSpPr>
          <p:cNvPr id="56" name="textbox 56"/>
          <p:cNvSpPr/>
          <p:nvPr/>
        </p:nvSpPr>
        <p:spPr>
          <a:xfrm>
            <a:off x="3035300" y="2834913"/>
            <a:ext cx="1958339" cy="259333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79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65100" indent="-76200" algn="l" rtl="0" eaLnBrk="0">
              <a:lnSpc>
                <a:spcPct val="96000"/>
              </a:lnSpc>
              <a:tabLst/>
            </a:pPr>
            <a:r>
              <a:rPr sz="1900" kern="0" spc="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项目三经历数据</a:t>
            </a:r>
            <a:r>
              <a:rPr sz="19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900" kern="0" spc="-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处理的一般过程</a:t>
            </a:r>
            <a:endParaRPr sz="19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0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158750" indent="-146050" algn="l" rtl="0" eaLnBrk="0">
              <a:lnSpc>
                <a:spcPct val="97000"/>
              </a:lnSpc>
              <a:spcBef>
                <a:spcPts val="4"/>
              </a:spcBef>
              <a:tabLst/>
            </a:pPr>
            <a:r>
              <a:rPr sz="19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项目四体验数据处</a:t>
            </a:r>
            <a:r>
              <a:rPr sz="19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900" kern="0" spc="-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理的方法和工具</a:t>
            </a:r>
            <a:endParaRPr sz="1900" dirty="0">
              <a:latin typeface="SimHei"/>
              <a:ea typeface="SimHei"/>
              <a:cs typeface="SimHei"/>
            </a:endParaRPr>
          </a:p>
        </p:txBody>
      </p:sp>
      <p:sp>
        <p:nvSpPr>
          <p:cNvPr id="58" name="textbox 58"/>
          <p:cNvSpPr/>
          <p:nvPr/>
        </p:nvSpPr>
        <p:spPr>
          <a:xfrm>
            <a:off x="641400" y="3831860"/>
            <a:ext cx="1652270" cy="5969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86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54965" algn="l" rtl="0" eaLnBrk="0">
              <a:lnSpc>
                <a:spcPct val="98000"/>
              </a:lnSpc>
              <a:tabLst/>
            </a:pPr>
            <a:r>
              <a:rPr sz="1900" kern="0" spc="-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第二单元</a:t>
            </a:r>
            <a:endParaRPr sz="19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98000"/>
              </a:lnSpc>
              <a:spcBef>
                <a:spcPts val="29"/>
              </a:spcBef>
              <a:tabLst/>
            </a:pPr>
            <a:r>
              <a:rPr sz="1900" kern="0" spc="-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数据处理与应用</a:t>
            </a:r>
            <a:endParaRPr sz="1900" dirty="0">
              <a:latin typeface="SimHei"/>
              <a:ea typeface="SimHei"/>
              <a:cs typeface="SimHei"/>
            </a:endParaRPr>
          </a:p>
        </p:txBody>
      </p:sp>
      <p:sp>
        <p:nvSpPr>
          <p:cNvPr id="60" name="textbox 60"/>
          <p:cNvSpPr/>
          <p:nvPr/>
        </p:nvSpPr>
        <p:spPr>
          <a:xfrm>
            <a:off x="9594839" y="384499"/>
            <a:ext cx="2174875" cy="3670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58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tabLst/>
            </a:pPr>
            <a:r>
              <a:rPr sz="2300" kern="0" spc="11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基础教育精品课</a:t>
            </a:r>
            <a:endParaRPr sz="2300" dirty="0">
              <a:latin typeface="SimHei"/>
              <a:ea typeface="SimHei"/>
              <a:cs typeface="SimHe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picture 6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sp>
        <p:nvSpPr>
          <p:cNvPr id="64" name="rect 64"/>
          <p:cNvSpPr/>
          <p:nvPr/>
        </p:nvSpPr>
        <p:spPr>
          <a:xfrm>
            <a:off x="57180" y="0"/>
            <a:ext cx="12115800" cy="850872"/>
          </a:xfrm>
          <a:prstGeom prst="rect">
            <a:avLst/>
          </a:prstGeom>
          <a:solidFill>
            <a:srgbClr val="385541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6" name="textbox 66"/>
          <p:cNvSpPr/>
          <p:nvPr/>
        </p:nvSpPr>
        <p:spPr>
          <a:xfrm>
            <a:off x="977900" y="5232710"/>
            <a:ext cx="7004050" cy="9321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06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666750" algn="l" rtl="0" eaLnBrk="0">
              <a:lnSpc>
                <a:spcPct val="87000"/>
              </a:lnSpc>
              <a:tabLst/>
            </a:pPr>
            <a:r>
              <a:rPr sz="2700" kern="0" spc="-1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我们将通过探究智能停车场的车辆引导，</a:t>
            </a:r>
            <a:endParaRPr sz="2700" dirty="0">
              <a:latin typeface="KaiTi"/>
              <a:ea typeface="KaiTi"/>
              <a:cs typeface="KaiTi"/>
            </a:endParaRPr>
          </a:p>
          <a:p>
            <a:pPr marL="12700" algn="l" rtl="0" eaLnBrk="0">
              <a:lnSpc>
                <a:spcPts val="4325"/>
              </a:lnSpc>
              <a:tabLst/>
            </a:pPr>
            <a:r>
              <a:rPr sz="2700" kern="0" spc="-10" dirty="0">
                <a:solidFill>
                  <a:srgbClr val="FF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了解数据采集、组织和存储</a:t>
            </a:r>
            <a:r>
              <a:rPr sz="2700" kern="0" spc="-1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的基本方法。</a:t>
            </a:r>
            <a:endParaRPr sz="2700" dirty="0">
              <a:latin typeface="KaiTi"/>
              <a:ea typeface="KaiTi"/>
              <a:cs typeface="KaiTi"/>
            </a:endParaRPr>
          </a:p>
        </p:txBody>
      </p:sp>
      <p:sp>
        <p:nvSpPr>
          <p:cNvPr id="68" name="textbox 68"/>
          <p:cNvSpPr/>
          <p:nvPr/>
        </p:nvSpPr>
        <p:spPr>
          <a:xfrm>
            <a:off x="3625880" y="2031996"/>
            <a:ext cx="2785110" cy="6451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13664" algn="l" rtl="0" eaLnBrk="0">
              <a:lnSpc>
                <a:spcPts val="1601"/>
              </a:lnSpc>
              <a:tabLst/>
            </a:pPr>
            <a:r>
              <a:rPr sz="1900" kern="0" spc="-10" baseline="3330" dirty="0">
                <a:solidFill>
                  <a:srgbClr val="D0F03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剩余车位</a:t>
            </a:r>
            <a:r>
              <a:rPr sz="1200" kern="0" spc="40" dirty="0">
                <a:solidFill>
                  <a:srgbClr val="D0F03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</a:t>
            </a:r>
            <a:r>
              <a:rPr sz="1300" kern="0" spc="-10" dirty="0">
                <a:solidFill>
                  <a:srgbClr val="E0F03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剩余车位</a:t>
            </a:r>
            <a:endParaRPr sz="13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ts val="2941"/>
              </a:lnSpc>
              <a:spcBef>
                <a:spcPts val="333"/>
              </a:spcBef>
              <a:tabLst/>
            </a:pPr>
            <a:r>
              <a:rPr sz="2300" kern="0" spc="130" dirty="0">
                <a:solidFill>
                  <a:srgbClr val="E0F03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个020</a:t>
            </a:r>
            <a:r>
              <a:rPr sz="2300" kern="0" spc="-640" dirty="0">
                <a:solidFill>
                  <a:srgbClr val="E0F03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2300" kern="0" spc="130" dirty="0">
                <a:solidFill>
                  <a:srgbClr val="E0F03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→</a:t>
            </a:r>
            <a:r>
              <a:rPr sz="2300" kern="0" spc="-740" dirty="0">
                <a:solidFill>
                  <a:srgbClr val="E0F03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2300" kern="0" spc="130" dirty="0">
                <a:solidFill>
                  <a:srgbClr val="E0F03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054</a:t>
            </a:r>
            <a:r>
              <a:rPr sz="2300" kern="0" spc="130" dirty="0">
                <a:solidFill>
                  <a:srgbClr val="E0F03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</a:t>
            </a:r>
            <a:r>
              <a:rPr sz="3600" kern="0" spc="130" baseline="14376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→</a:t>
            </a:r>
            <a:r>
              <a:rPr sz="2300" kern="0" spc="-47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600" kern="0" spc="130" baseline="14376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B2</a:t>
            </a:r>
            <a:endParaRPr sz="3600" baseline="14376" dirty="0">
              <a:latin typeface="Arial"/>
              <a:ea typeface="Arial"/>
              <a:cs typeface="Arial"/>
            </a:endParaRPr>
          </a:p>
        </p:txBody>
      </p:sp>
      <p:sp>
        <p:nvSpPr>
          <p:cNvPr id="70" name="textbox 70"/>
          <p:cNvSpPr/>
          <p:nvPr/>
        </p:nvSpPr>
        <p:spPr>
          <a:xfrm>
            <a:off x="9594839" y="384499"/>
            <a:ext cx="2174875" cy="3670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58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tabLst/>
            </a:pPr>
            <a:r>
              <a:rPr sz="2300" kern="0" spc="11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基础教育精品课</a:t>
            </a:r>
            <a:endParaRPr sz="2300" dirty="0">
              <a:latin typeface="SimHei"/>
              <a:ea typeface="SimHei"/>
              <a:cs typeface="SimHei"/>
            </a:endParaRPr>
          </a:p>
        </p:txBody>
      </p:sp>
      <p:sp>
        <p:nvSpPr>
          <p:cNvPr id="72" name="textbox 72"/>
          <p:cNvSpPr/>
          <p:nvPr/>
        </p:nvSpPr>
        <p:spPr>
          <a:xfrm>
            <a:off x="3981398" y="972932"/>
            <a:ext cx="1553210" cy="4635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38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/>
            </a:pPr>
            <a:r>
              <a:rPr sz="30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项目导入</a:t>
            </a:r>
            <a:endParaRPr sz="3000" dirty="0">
              <a:latin typeface="SimHei"/>
              <a:ea typeface="SimHei"/>
              <a:cs typeface="SimHei"/>
            </a:endParaRPr>
          </a:p>
        </p:txBody>
      </p:sp>
      <p:sp>
        <p:nvSpPr>
          <p:cNvPr id="74" name="textbox 74"/>
          <p:cNvSpPr/>
          <p:nvPr/>
        </p:nvSpPr>
        <p:spPr>
          <a:xfrm>
            <a:off x="2882899" y="2049210"/>
            <a:ext cx="480059" cy="6254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77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4604" algn="l" rtl="0" eaLnBrk="0">
              <a:lnSpc>
                <a:spcPct val="96000"/>
              </a:lnSpc>
              <a:tabLst/>
            </a:pPr>
            <a:r>
              <a:rPr sz="1200" b="1" kern="0" spc="-2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收费处</a:t>
            </a:r>
            <a:endParaRPr sz="12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83000"/>
              </a:lnSpc>
              <a:spcBef>
                <a:spcPts val="292"/>
              </a:spcBef>
              <a:tabLst/>
            </a:pPr>
            <a:r>
              <a:rPr sz="1500" kern="0" spc="-60" dirty="0">
                <a:solidFill>
                  <a:srgbClr val="FFFFFF">
                    <a:alpha val="100000"/>
                  </a:srgbClr>
                </a:solidFill>
                <a:latin typeface="LiSu"/>
                <a:ea typeface="LiSu"/>
                <a:cs typeface="LiSu"/>
              </a:rPr>
              <a:t>酒店</a:t>
            </a:r>
            <a:endParaRPr sz="1500" dirty="0">
              <a:latin typeface="LiSu"/>
              <a:ea typeface="LiSu"/>
              <a:cs typeface="LiSu"/>
            </a:endParaRPr>
          </a:p>
          <a:p>
            <a:pPr marL="12700" algn="l" rtl="0" eaLnBrk="0">
              <a:lnSpc>
                <a:spcPct val="99000"/>
              </a:lnSpc>
              <a:spcBef>
                <a:spcPts val="121"/>
              </a:spcBef>
              <a:tabLst/>
            </a:pPr>
            <a:r>
              <a:rPr sz="1200" b="1" kern="0" spc="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</a:t>
            </a:r>
            <a:r>
              <a:rPr sz="1200" b="1" kern="0" spc="0" dirty="0">
                <a:solidFill>
                  <a:srgbClr val="FFFFFF">
                    <a:alpha val="100000"/>
                  </a:srgbClr>
                </a:solidFill>
                <a:latin typeface="KaiTi"/>
                <a:ea typeface="KaiTi"/>
                <a:cs typeface="KaiTi"/>
              </a:rPr>
              <a:t>栋</a:t>
            </a:r>
            <a:endParaRPr sz="1200" dirty="0">
              <a:latin typeface="KaiTi"/>
              <a:ea typeface="KaiTi"/>
              <a:cs typeface="KaiT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picture 7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sp>
        <p:nvSpPr>
          <p:cNvPr id="78" name="rect 78"/>
          <p:cNvSpPr/>
          <p:nvPr/>
        </p:nvSpPr>
        <p:spPr>
          <a:xfrm>
            <a:off x="38160" y="0"/>
            <a:ext cx="12128479" cy="850872"/>
          </a:xfrm>
          <a:prstGeom prst="rect">
            <a:avLst/>
          </a:prstGeom>
          <a:solidFill>
            <a:srgbClr val="37544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pSp>
        <p:nvGrpSpPr>
          <p:cNvPr id="2" name="group 2"/>
          <p:cNvGrpSpPr/>
          <p:nvPr/>
        </p:nvGrpSpPr>
        <p:grpSpPr>
          <a:xfrm rot="21600000">
            <a:off x="1841479" y="2025647"/>
            <a:ext cx="5702320" cy="768370"/>
            <a:chOff x="0" y="0"/>
            <a:chExt cx="5702320" cy="768370"/>
          </a:xfrm>
        </p:grpSpPr>
        <p:pic>
          <p:nvPicPr>
            <p:cNvPr id="80" name="picture 8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0"/>
              <a:ext cx="5702320" cy="768370"/>
            </a:xfrm>
            <a:prstGeom prst="rect">
              <a:avLst/>
            </a:prstGeom>
          </p:spPr>
        </p:pic>
        <p:sp>
          <p:nvSpPr>
            <p:cNvPr id="82" name="textbox 82"/>
            <p:cNvSpPr/>
            <p:nvPr/>
          </p:nvSpPr>
          <p:spPr>
            <a:xfrm>
              <a:off x="-12700" y="-12700"/>
              <a:ext cx="5728334" cy="83375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5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6287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311150" algn="l" rtl="0" eaLnBrk="0">
                <a:lnSpc>
                  <a:spcPct val="100000"/>
                </a:lnSpc>
                <a:tabLst/>
              </a:pPr>
              <a:r>
                <a:rPr sz="2400" kern="0" spc="-90" dirty="0">
                  <a:solidFill>
                    <a:srgbClr val="FFFFFF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1     </a:t>
              </a:r>
              <a:r>
                <a:rPr sz="2400" kern="0" spc="-90" dirty="0">
                  <a:solidFill>
                    <a:srgbClr val="FFFFFF">
                      <a:alpha val="100000"/>
                    </a:srgbClr>
                  </a:solidFill>
                  <a:latin typeface="KaiTi"/>
                  <a:ea typeface="KaiTi"/>
                  <a:cs typeface="KaiTi"/>
                </a:rPr>
                <a:t>了解采集</a:t>
              </a:r>
              <a:r>
                <a:rPr sz="2400" kern="0" spc="-100" dirty="0">
                  <a:solidFill>
                    <a:srgbClr val="FFFFFF">
                      <a:alpha val="100000"/>
                    </a:srgbClr>
                  </a:solidFill>
                  <a:latin typeface="KaiTi"/>
                  <a:ea typeface="KaiTi"/>
                  <a:cs typeface="KaiTi"/>
                </a:rPr>
                <a:t>数据的常用方法和工具。</a:t>
              </a:r>
              <a:endParaRPr sz="2400" dirty="0">
                <a:latin typeface="KaiTi"/>
                <a:ea typeface="KaiTi"/>
                <a:cs typeface="KaiTi"/>
              </a:endParaRPr>
            </a:p>
          </p:txBody>
        </p:sp>
      </p:grpSp>
      <p:grpSp>
        <p:nvGrpSpPr>
          <p:cNvPr id="4" name="group 4"/>
          <p:cNvGrpSpPr/>
          <p:nvPr/>
        </p:nvGrpSpPr>
        <p:grpSpPr>
          <a:xfrm rot="21600000">
            <a:off x="1860499" y="3282924"/>
            <a:ext cx="5689641" cy="723930"/>
            <a:chOff x="0" y="0"/>
            <a:chExt cx="5689641" cy="723930"/>
          </a:xfrm>
        </p:grpSpPr>
        <p:pic>
          <p:nvPicPr>
            <p:cNvPr id="84" name="picture 84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600000">
              <a:off x="0" y="0"/>
              <a:ext cx="5689641" cy="723930"/>
            </a:xfrm>
            <a:prstGeom prst="rect">
              <a:avLst/>
            </a:prstGeom>
          </p:spPr>
        </p:pic>
        <p:sp>
          <p:nvSpPr>
            <p:cNvPr id="86" name="textbox 86"/>
            <p:cNvSpPr/>
            <p:nvPr/>
          </p:nvSpPr>
          <p:spPr>
            <a:xfrm>
              <a:off x="-12700" y="-12700"/>
              <a:ext cx="5715634" cy="79184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79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311150" algn="l" rtl="0" eaLnBrk="0">
                <a:lnSpc>
                  <a:spcPct val="100000"/>
                </a:lnSpc>
                <a:spcBef>
                  <a:spcPts val="6"/>
                </a:spcBef>
                <a:tabLst/>
              </a:pPr>
              <a:r>
                <a:rPr sz="2400" kern="0" spc="-80" dirty="0">
                  <a:solidFill>
                    <a:srgbClr val="FFFFFF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2    </a:t>
              </a:r>
              <a:r>
                <a:rPr sz="2400" kern="0" spc="-80" dirty="0">
                  <a:solidFill>
                    <a:srgbClr val="FFFFFF">
                      <a:alpha val="100000"/>
                    </a:srgbClr>
                  </a:solidFill>
                  <a:latin typeface="KaiTi"/>
                  <a:ea typeface="KaiTi"/>
                  <a:cs typeface="KaiTi"/>
                </a:rPr>
                <a:t>了解数据的组织方式。</a:t>
              </a:r>
              <a:endParaRPr sz="2400" dirty="0">
                <a:latin typeface="KaiTi"/>
                <a:ea typeface="KaiTi"/>
                <a:cs typeface="KaiTi"/>
              </a:endParaRPr>
            </a:p>
          </p:txBody>
        </p:sp>
      </p:grpSp>
      <p:grpSp>
        <p:nvGrpSpPr>
          <p:cNvPr id="6" name="group 6"/>
          <p:cNvGrpSpPr/>
          <p:nvPr/>
        </p:nvGrpSpPr>
        <p:grpSpPr>
          <a:xfrm rot="21600000">
            <a:off x="1860499" y="4502139"/>
            <a:ext cx="5676961" cy="717552"/>
            <a:chOff x="0" y="0"/>
            <a:chExt cx="5676961" cy="717552"/>
          </a:xfrm>
        </p:grpSpPr>
        <p:pic>
          <p:nvPicPr>
            <p:cNvPr id="88" name="picture 88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21600000">
              <a:off x="0" y="0"/>
              <a:ext cx="5676961" cy="717552"/>
            </a:xfrm>
            <a:prstGeom prst="rect">
              <a:avLst/>
            </a:prstGeom>
          </p:spPr>
        </p:pic>
        <p:sp>
          <p:nvSpPr>
            <p:cNvPr id="90" name="textbox 90"/>
            <p:cNvSpPr/>
            <p:nvPr/>
          </p:nvSpPr>
          <p:spPr>
            <a:xfrm>
              <a:off x="-12700" y="-12700"/>
              <a:ext cx="5702934" cy="78422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48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9011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317500" algn="l" rtl="0" eaLnBrk="0">
                <a:lnSpc>
                  <a:spcPct val="100000"/>
                </a:lnSpc>
                <a:tabLst/>
              </a:pPr>
              <a:r>
                <a:rPr sz="2400" kern="0" spc="-100" dirty="0">
                  <a:solidFill>
                    <a:srgbClr val="FFD0D0">
                      <a:alpha val="100000"/>
                    </a:srgbClr>
                  </a:solidFill>
                  <a:latin typeface="KaiTi"/>
                  <a:ea typeface="KaiTi"/>
                  <a:cs typeface="KaiTi"/>
                </a:rPr>
                <a:t>3</a:t>
              </a:r>
              <a:r>
                <a:rPr sz="2400" kern="0" spc="-100" dirty="0">
                  <a:solidFill>
                    <a:srgbClr val="FFD0D0">
                      <a:alpha val="100000"/>
                    </a:srgbClr>
                  </a:solidFill>
                  <a:latin typeface="KaiTi"/>
                  <a:ea typeface="KaiTi"/>
                  <a:cs typeface="KaiTi"/>
                </a:rPr>
                <a:t>  </a:t>
              </a:r>
              <a:r>
                <a:rPr sz="2400" kern="0" spc="-100" dirty="0">
                  <a:solidFill>
                    <a:srgbClr val="FFFFFF">
                      <a:alpha val="100000"/>
                    </a:srgbClr>
                  </a:solidFill>
                  <a:latin typeface="KaiTi"/>
                  <a:ea typeface="KaiTi"/>
                  <a:cs typeface="KaiTi"/>
                </a:rPr>
                <a:t>了解数据的存储</a:t>
              </a:r>
              <a:r>
                <a:rPr sz="2400" kern="0" spc="-110" dirty="0">
                  <a:solidFill>
                    <a:srgbClr val="FFFFFF">
                      <a:alpha val="100000"/>
                    </a:srgbClr>
                  </a:solidFill>
                  <a:latin typeface="KaiTi"/>
                  <a:ea typeface="KaiTi"/>
                  <a:cs typeface="KaiTi"/>
                </a:rPr>
                <a:t>方式。</a:t>
              </a:r>
              <a:endParaRPr sz="2400" dirty="0">
                <a:latin typeface="KaiTi"/>
                <a:ea typeface="KaiTi"/>
                <a:cs typeface="KaiTi"/>
              </a:endParaRPr>
            </a:p>
          </p:txBody>
        </p:sp>
      </p:grpSp>
      <p:sp>
        <p:nvSpPr>
          <p:cNvPr id="92" name="textbox 92"/>
          <p:cNvSpPr/>
          <p:nvPr/>
        </p:nvSpPr>
        <p:spPr>
          <a:xfrm>
            <a:off x="9594839" y="384499"/>
            <a:ext cx="2174875" cy="3670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58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tabLst/>
            </a:pPr>
            <a:r>
              <a:rPr sz="2300" kern="0" spc="11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基础教育精品课</a:t>
            </a:r>
            <a:endParaRPr sz="2300" dirty="0">
              <a:latin typeface="SimHei"/>
              <a:ea typeface="SimHei"/>
              <a:cs typeface="SimHei"/>
            </a:endParaRPr>
          </a:p>
        </p:txBody>
      </p:sp>
      <p:sp>
        <p:nvSpPr>
          <p:cNvPr id="94" name="textbox 94"/>
          <p:cNvSpPr/>
          <p:nvPr/>
        </p:nvSpPr>
        <p:spPr>
          <a:xfrm>
            <a:off x="3987860" y="965099"/>
            <a:ext cx="1542414" cy="4622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76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tabLst/>
            </a:pPr>
            <a:r>
              <a:rPr sz="30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学习目标</a:t>
            </a:r>
            <a:endParaRPr sz="3000" dirty="0">
              <a:latin typeface="SimHei"/>
              <a:ea typeface="SimHei"/>
              <a:cs typeface="SimHe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picture 9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sp>
        <p:nvSpPr>
          <p:cNvPr id="98" name="textbox 98"/>
          <p:cNvSpPr/>
          <p:nvPr/>
        </p:nvSpPr>
        <p:spPr>
          <a:xfrm>
            <a:off x="1022400" y="966622"/>
            <a:ext cx="7179309" cy="52889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38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037714" algn="l" rtl="0" eaLnBrk="0">
              <a:lnSpc>
                <a:spcPct val="96000"/>
              </a:lnSpc>
              <a:tabLst/>
            </a:pPr>
            <a:r>
              <a:rPr sz="30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智能停车场停车过程</a:t>
            </a:r>
            <a:endParaRPr sz="30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786765" algn="l" rtl="0" eaLnBrk="0">
              <a:lnSpc>
                <a:spcPct val="96000"/>
              </a:lnSpc>
              <a:spcBef>
                <a:spcPts val="461"/>
              </a:spcBef>
              <a:tabLst/>
            </a:pPr>
            <a:r>
              <a:rPr sz="1500" kern="0" spc="2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上海科技教育出版社</a:t>
            </a:r>
            <a:endParaRPr sz="15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190114" algn="l" rtl="0" eaLnBrk="0">
              <a:lnSpc>
                <a:spcPct val="96000"/>
              </a:lnSpc>
              <a:spcBef>
                <a:spcPts val="791"/>
              </a:spcBef>
              <a:tabLst/>
            </a:pPr>
            <a:r>
              <a:rPr sz="2600" kern="0" spc="-130" dirty="0">
                <a:solidFill>
                  <a:srgbClr val="204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智能停车场停车过程</a:t>
            </a:r>
            <a:endParaRPr sz="26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8000"/>
              </a:lnSpc>
              <a:spcBef>
                <a:spcPts val="2"/>
              </a:spcBef>
              <a:tabLst/>
            </a:pPr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观看视频并思考：智能停车场是如</a:t>
            </a:r>
            <a:r>
              <a:rPr sz="2400" kern="0" spc="-1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何进行停车引导的?</a:t>
            </a:r>
            <a:endParaRPr sz="2400" dirty="0">
              <a:latin typeface="KaiTi"/>
              <a:ea typeface="KaiTi"/>
              <a:cs typeface="KaiTi"/>
            </a:endParaRPr>
          </a:p>
        </p:txBody>
      </p:sp>
      <p:pic>
        <p:nvPicPr>
          <p:cNvPr id="100" name="picture 10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339900" y="1993895"/>
            <a:ext cx="431718" cy="425470"/>
          </a:xfrm>
          <a:prstGeom prst="rect">
            <a:avLst/>
          </a:prstGeom>
        </p:spPr>
      </p:pic>
      <p:sp>
        <p:nvSpPr>
          <p:cNvPr id="102" name="textbox 102"/>
          <p:cNvSpPr/>
          <p:nvPr/>
        </p:nvSpPr>
        <p:spPr>
          <a:xfrm>
            <a:off x="9594839" y="384499"/>
            <a:ext cx="2174875" cy="3670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58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tabLst/>
            </a:pPr>
            <a:r>
              <a:rPr sz="2300" kern="0" spc="11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基础教育精品课</a:t>
            </a:r>
            <a:endParaRPr sz="2300" dirty="0">
              <a:latin typeface="SimHei"/>
              <a:ea typeface="SimHei"/>
              <a:cs typeface="SimHe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picture 10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pic>
        <p:nvPicPr>
          <p:cNvPr id="106" name="picture 10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463539" y="2146279"/>
            <a:ext cx="8102558" cy="2432052"/>
          </a:xfrm>
          <a:prstGeom prst="rect">
            <a:avLst/>
          </a:prstGeom>
        </p:spPr>
      </p:pic>
      <p:sp>
        <p:nvSpPr>
          <p:cNvPr id="108" name="rect 108"/>
          <p:cNvSpPr/>
          <p:nvPr/>
        </p:nvSpPr>
        <p:spPr>
          <a:xfrm>
            <a:off x="57180" y="0"/>
            <a:ext cx="12115800" cy="850872"/>
          </a:xfrm>
          <a:prstGeom prst="rect">
            <a:avLst/>
          </a:prstGeom>
          <a:solidFill>
            <a:srgbClr val="385541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10" name="textbox 110"/>
          <p:cNvSpPr/>
          <p:nvPr/>
        </p:nvSpPr>
        <p:spPr>
          <a:xfrm>
            <a:off x="3314740" y="4728733"/>
            <a:ext cx="2559050" cy="6305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34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indent="113664" algn="l" rtl="0" eaLnBrk="0">
              <a:lnSpc>
                <a:spcPct val="99000"/>
              </a:lnSpc>
              <a:tabLst/>
            </a:pP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根据区域引导屏指示</a:t>
            </a:r>
            <a:r>
              <a:rPr sz="2000" kern="0" spc="2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  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进入有空闲车位的区域</a:t>
            </a:r>
            <a:endParaRPr sz="2000" dirty="0">
              <a:latin typeface="KaiTi"/>
              <a:ea typeface="KaiTi"/>
              <a:cs typeface="KaiTi"/>
            </a:endParaRPr>
          </a:p>
        </p:txBody>
      </p:sp>
      <p:sp>
        <p:nvSpPr>
          <p:cNvPr id="112" name="textbox 112"/>
          <p:cNvSpPr/>
          <p:nvPr/>
        </p:nvSpPr>
        <p:spPr>
          <a:xfrm>
            <a:off x="603239" y="4728733"/>
            <a:ext cx="2307589" cy="6121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86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93700" indent="-381000" algn="l" rtl="0" eaLnBrk="0">
              <a:lnSpc>
                <a:spcPct val="96000"/>
              </a:lnSpc>
              <a:tabLst/>
            </a:pP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根据户外车位引导屏</a:t>
            </a:r>
            <a:r>
              <a:rPr sz="2000" kern="0" spc="4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 </a:t>
            </a:r>
            <a:r>
              <a:rPr sz="2000" kern="0" spc="-2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指示进入车库</a:t>
            </a:r>
            <a:endParaRPr sz="2000" dirty="0">
              <a:latin typeface="KaiTi"/>
              <a:ea typeface="KaiTi"/>
              <a:cs typeface="KaiTi"/>
            </a:endParaRPr>
          </a:p>
        </p:txBody>
      </p:sp>
      <p:sp>
        <p:nvSpPr>
          <p:cNvPr id="114" name="textbox 114"/>
          <p:cNvSpPr/>
          <p:nvPr/>
        </p:nvSpPr>
        <p:spPr>
          <a:xfrm>
            <a:off x="6350060" y="4734575"/>
            <a:ext cx="2056764" cy="6305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87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indent="120014" algn="l" rtl="0" eaLnBrk="0">
              <a:lnSpc>
                <a:spcPct val="99000"/>
              </a:lnSpc>
              <a:tabLst/>
            </a:pP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根据车位指示灯</a:t>
            </a:r>
            <a:r>
              <a:rPr sz="2000" kern="0" spc="1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  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快速找到空闲车位</a:t>
            </a:r>
            <a:endParaRPr sz="2000" dirty="0">
              <a:latin typeface="KaiTi"/>
              <a:ea typeface="KaiTi"/>
              <a:cs typeface="KaiTi"/>
            </a:endParaRPr>
          </a:p>
        </p:txBody>
      </p:sp>
      <p:sp>
        <p:nvSpPr>
          <p:cNvPr id="116" name="textbox 116"/>
          <p:cNvSpPr/>
          <p:nvPr/>
        </p:nvSpPr>
        <p:spPr>
          <a:xfrm>
            <a:off x="3594059" y="966622"/>
            <a:ext cx="2299970" cy="4635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38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/>
            </a:pPr>
            <a:r>
              <a:rPr sz="30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停车引导过程</a:t>
            </a:r>
            <a:endParaRPr sz="3000" dirty="0">
              <a:latin typeface="SimHei"/>
              <a:ea typeface="SimHei"/>
              <a:cs typeface="SimHei"/>
            </a:endParaRPr>
          </a:p>
        </p:txBody>
      </p:sp>
      <p:sp>
        <p:nvSpPr>
          <p:cNvPr id="118" name="textbox 118"/>
          <p:cNvSpPr/>
          <p:nvPr/>
        </p:nvSpPr>
        <p:spPr>
          <a:xfrm>
            <a:off x="9594839" y="384499"/>
            <a:ext cx="2174875" cy="3670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58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tabLst/>
            </a:pPr>
            <a:r>
              <a:rPr sz="2300" kern="0" spc="11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基础教育精品课</a:t>
            </a:r>
            <a:endParaRPr sz="2300" dirty="0">
              <a:latin typeface="SimHei"/>
              <a:ea typeface="SimHei"/>
              <a:cs typeface="SimHe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picture 1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sp>
        <p:nvSpPr>
          <p:cNvPr id="122" name="textbox 122"/>
          <p:cNvSpPr/>
          <p:nvPr/>
        </p:nvSpPr>
        <p:spPr>
          <a:xfrm>
            <a:off x="6813601" y="2369296"/>
            <a:ext cx="3616325" cy="35515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30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8000"/>
              </a:lnSpc>
              <a:tabLst/>
            </a:pPr>
            <a:r>
              <a:rPr sz="1400" kern="0" spc="0" dirty="0">
                <a:solidFill>
                  <a:srgbClr val="30702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判断无车      </a:t>
            </a:r>
            <a:r>
              <a:rPr sz="1400" kern="0" spc="-10" dirty="0">
                <a:solidFill>
                  <a:srgbClr val="30702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               </a:t>
            </a:r>
            <a:r>
              <a:rPr sz="1400" kern="0" spc="-10" dirty="0">
                <a:solidFill>
                  <a:srgbClr val="D0104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判断有车</a:t>
            </a:r>
            <a:endParaRPr sz="14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47625" algn="l" rtl="0" eaLnBrk="0">
              <a:lnSpc>
                <a:spcPct val="97000"/>
              </a:lnSpc>
              <a:spcBef>
                <a:spcPts val="3"/>
              </a:spcBef>
              <a:tabLst/>
            </a:pPr>
            <a:r>
              <a:rPr sz="2000" b="1" kern="0" spc="-2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超声波传感器采集车位占用情况</a:t>
            </a:r>
            <a:endParaRPr sz="2000" dirty="0">
              <a:latin typeface="KaiTi"/>
              <a:ea typeface="KaiTi"/>
              <a:cs typeface="KaiTi"/>
            </a:endParaRPr>
          </a:p>
        </p:txBody>
      </p:sp>
      <p:sp>
        <p:nvSpPr>
          <p:cNvPr id="124" name="rect 124"/>
          <p:cNvSpPr/>
          <p:nvPr/>
        </p:nvSpPr>
        <p:spPr>
          <a:xfrm>
            <a:off x="50840" y="0"/>
            <a:ext cx="12115800" cy="850872"/>
          </a:xfrm>
          <a:prstGeom prst="rect">
            <a:avLst/>
          </a:prstGeom>
          <a:solidFill>
            <a:srgbClr val="385541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26" name="textbox 126"/>
          <p:cNvSpPr/>
          <p:nvPr/>
        </p:nvSpPr>
        <p:spPr>
          <a:xfrm>
            <a:off x="1149319" y="2276721"/>
            <a:ext cx="1492250" cy="36315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14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82879" algn="l" rtl="0" eaLnBrk="0">
              <a:lnSpc>
                <a:spcPct val="95000"/>
              </a:lnSpc>
              <a:tabLst/>
            </a:pPr>
            <a:r>
              <a:rPr sz="3000" b="1" kern="0" spc="50" dirty="0">
                <a:solidFill>
                  <a:srgbClr val="40906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空车位</a:t>
            </a:r>
            <a:endParaRPr sz="3000" dirty="0">
              <a:latin typeface="SimSun"/>
              <a:ea typeface="SimSun"/>
              <a:cs typeface="SimSun"/>
            </a:endParaRPr>
          </a:p>
          <a:p>
            <a:pPr marL="18415" indent="-5714" algn="l" rtl="0" eaLnBrk="0">
              <a:lnSpc>
                <a:spcPct val="135000"/>
              </a:lnSpc>
              <a:spcBef>
                <a:spcPts val="1337"/>
              </a:spcBef>
              <a:tabLst/>
            </a:pPr>
            <a:r>
              <a:rPr sz="3000" kern="0" spc="-60" baseline="3472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B2</a:t>
            </a:r>
            <a:r>
              <a:rPr sz="1900" kern="0" spc="-17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000" kern="0" spc="-60" baseline="3472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层</a:t>
            </a:r>
            <a:r>
              <a:rPr sz="1900" kern="0" spc="24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</a:t>
            </a:r>
            <a:r>
              <a:rPr sz="1700" kern="0" spc="-60" dirty="0">
                <a:solidFill>
                  <a:srgbClr val="40D070">
                    <a:alpha val="100000"/>
                  </a:srgbClr>
                </a:solidFill>
                <a:latin typeface="Arial"/>
                <a:ea typeface="Arial"/>
                <a:cs typeface="Arial"/>
              </a:rPr>
              <a:t>226</a:t>
            </a:r>
            <a:r>
              <a:rPr sz="1700" kern="0" spc="0" dirty="0">
                <a:solidFill>
                  <a:srgbClr val="40D07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3000" kern="0" spc="-30" baseline="5208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B1</a:t>
            </a:r>
            <a:r>
              <a:rPr sz="3000" kern="0" spc="-30" baseline="5208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层</a:t>
            </a:r>
            <a:r>
              <a:rPr sz="1900" kern="0" spc="18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</a:t>
            </a:r>
            <a:r>
              <a:rPr sz="1700" kern="0" spc="-30" dirty="0">
                <a:solidFill>
                  <a:srgbClr val="40D070">
                    <a:alpha val="100000"/>
                  </a:srgbClr>
                </a:solidFill>
                <a:latin typeface="Arial"/>
                <a:ea typeface="Arial"/>
                <a:cs typeface="Arial"/>
              </a:rPr>
              <a:t>→232</a:t>
            </a:r>
            <a:r>
              <a:rPr sz="1700" kern="0" spc="0" dirty="0">
                <a:solidFill>
                  <a:srgbClr val="40D07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2900" kern="0" spc="40" baseline="3592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L</a:t>
            </a:r>
            <a:r>
              <a:rPr sz="2900" kern="0" spc="40" baseline="3592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1层</a:t>
            </a:r>
            <a:r>
              <a:rPr sz="1800" kern="0" spc="8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</a:t>
            </a:r>
            <a:r>
              <a:rPr sz="1700" kern="0" spc="40" dirty="0">
                <a:solidFill>
                  <a:srgbClr val="40D070">
                    <a:alpha val="100000"/>
                  </a:srgbClr>
                </a:solidFill>
                <a:latin typeface="Arial"/>
                <a:ea typeface="Arial"/>
                <a:cs typeface="Arial"/>
              </a:rPr>
              <a:t>082</a:t>
            </a:r>
            <a:r>
              <a:rPr sz="1700" kern="0" spc="0" dirty="0">
                <a:solidFill>
                  <a:srgbClr val="40D07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900" kern="0" spc="-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L2</a:t>
            </a:r>
            <a:r>
              <a:rPr sz="1900" kern="0" spc="-1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-2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层</a:t>
            </a:r>
            <a:r>
              <a:rPr sz="1900" kern="0" spc="11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</a:t>
            </a:r>
            <a:r>
              <a:rPr sz="1900" kern="0" spc="-20" dirty="0">
                <a:solidFill>
                  <a:srgbClr val="40D070">
                    <a:alpha val="100000"/>
                  </a:srgbClr>
                </a:solidFill>
                <a:latin typeface="Arial"/>
                <a:ea typeface="Arial"/>
                <a:cs typeface="Arial"/>
              </a:rPr>
              <a:t>←025</a:t>
            </a:r>
            <a:r>
              <a:rPr sz="1900" kern="0" spc="10" dirty="0">
                <a:solidFill>
                  <a:srgbClr val="40D07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L3</a:t>
            </a:r>
            <a:r>
              <a:rPr sz="1900" kern="0" spc="3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层</a:t>
            </a:r>
            <a:r>
              <a:rPr sz="1900" kern="0" spc="14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</a:t>
            </a:r>
            <a:r>
              <a:rPr sz="1900" kern="0" spc="30" dirty="0">
                <a:solidFill>
                  <a:srgbClr val="40D070">
                    <a:alpha val="100000"/>
                  </a:srgbClr>
                </a:solidFill>
                <a:latin typeface="Arial"/>
                <a:ea typeface="Arial"/>
                <a:cs typeface="Arial"/>
              </a:rPr>
              <a:t>←05</a:t>
            </a:r>
            <a:r>
              <a:rPr sz="1900" kern="0" spc="0" dirty="0">
                <a:solidFill>
                  <a:srgbClr val="40D07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1900" kern="0" spc="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L</a:t>
            </a:r>
            <a:r>
              <a:rPr sz="1900" kern="0" spc="-28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1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4层</a:t>
            </a:r>
            <a:r>
              <a:rPr sz="1900" kern="0" spc="14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</a:t>
            </a:r>
            <a:r>
              <a:rPr sz="1700" kern="0" spc="10" dirty="0">
                <a:solidFill>
                  <a:srgbClr val="40D070">
                    <a:alpha val="100000"/>
                  </a:srgbClr>
                </a:solidFill>
                <a:latin typeface="Arial"/>
                <a:ea typeface="Arial"/>
                <a:cs typeface="Arial"/>
              </a:rPr>
              <a:t>←028</a:t>
            </a:r>
            <a:endParaRPr sz="17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7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187325" algn="l" rtl="0" eaLnBrk="0">
              <a:lnSpc>
                <a:spcPct val="96000"/>
              </a:lnSpc>
              <a:spcBef>
                <a:spcPts val="5"/>
              </a:spcBef>
              <a:tabLst/>
            </a:pPr>
            <a:r>
              <a:rPr sz="2000" b="1" kern="0" spc="-5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车位引导屏</a:t>
            </a:r>
            <a:endParaRPr sz="2000" dirty="0">
              <a:latin typeface="KaiTi"/>
              <a:ea typeface="KaiTi"/>
              <a:cs typeface="KaiTi"/>
            </a:endParaRPr>
          </a:p>
        </p:txBody>
      </p:sp>
      <p:sp>
        <p:nvSpPr>
          <p:cNvPr id="128" name="textbox 128"/>
          <p:cNvSpPr/>
          <p:nvPr/>
        </p:nvSpPr>
        <p:spPr>
          <a:xfrm>
            <a:off x="2051040" y="966622"/>
            <a:ext cx="5463540" cy="4635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38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/>
            </a:pPr>
            <a:r>
              <a:rPr sz="3000" kern="0" spc="-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(1)车位占用情况数据的自动采</a:t>
            </a:r>
            <a:r>
              <a:rPr sz="3000" kern="0" spc="-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集</a:t>
            </a:r>
            <a:endParaRPr sz="3000" dirty="0">
              <a:latin typeface="SimHei"/>
              <a:ea typeface="SimHei"/>
              <a:cs typeface="SimHei"/>
            </a:endParaRPr>
          </a:p>
        </p:txBody>
      </p:sp>
      <p:sp>
        <p:nvSpPr>
          <p:cNvPr id="130" name="textbox 130"/>
          <p:cNvSpPr/>
          <p:nvPr/>
        </p:nvSpPr>
        <p:spPr>
          <a:xfrm>
            <a:off x="3635851" y="1950148"/>
            <a:ext cx="1459230" cy="9448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81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6000"/>
              </a:lnSpc>
              <a:tabLst/>
            </a:pPr>
            <a:r>
              <a:rPr sz="2000" b="1" kern="0" spc="-1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车位引导屏</a:t>
            </a:r>
            <a:endParaRPr sz="2000" dirty="0">
              <a:latin typeface="KaiTi"/>
              <a:ea typeface="KaiTi"/>
              <a:cs typeface="KaiTi"/>
            </a:endParaRPr>
          </a:p>
          <a:p>
            <a:pPr marL="165100" algn="l" rtl="0" eaLnBrk="0">
              <a:lnSpc>
                <a:spcPts val="2415"/>
              </a:lnSpc>
              <a:spcBef>
                <a:spcPts val="88"/>
              </a:spcBef>
              <a:tabLst/>
            </a:pP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上的信息是</a:t>
            </a:r>
            <a:endParaRPr sz="2000" dirty="0">
              <a:latin typeface="KaiTi"/>
              <a:ea typeface="KaiTi"/>
              <a:cs typeface="KaiTi"/>
            </a:endParaRPr>
          </a:p>
          <a:p>
            <a:pPr marL="12700" algn="l" rtl="0" eaLnBrk="0">
              <a:lnSpc>
                <a:spcPct val="99000"/>
              </a:lnSpc>
              <a:spcBef>
                <a:spcPts val="45"/>
              </a:spcBef>
              <a:tabLst/>
            </a:pP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如何获取的?</a:t>
            </a:r>
            <a:endParaRPr sz="2000" dirty="0">
              <a:latin typeface="KaiTi"/>
              <a:ea typeface="KaiTi"/>
              <a:cs typeface="KaiTi"/>
            </a:endParaRPr>
          </a:p>
        </p:txBody>
      </p:sp>
      <p:sp>
        <p:nvSpPr>
          <p:cNvPr id="132" name="textbox 132"/>
          <p:cNvSpPr/>
          <p:nvPr/>
        </p:nvSpPr>
        <p:spPr>
          <a:xfrm>
            <a:off x="9607520" y="371811"/>
            <a:ext cx="2168525" cy="3670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58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tabLst/>
            </a:pPr>
            <a:r>
              <a:rPr sz="2300" kern="0" spc="10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基础教育精品课</a:t>
            </a:r>
            <a:endParaRPr sz="2300" dirty="0">
              <a:latin typeface="SimHei"/>
              <a:ea typeface="SimHei"/>
              <a:cs typeface="SimHe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picture 13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pic>
        <p:nvPicPr>
          <p:cNvPr id="136" name="picture 13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5810218" y="2012960"/>
            <a:ext cx="5638800" cy="3536944"/>
          </a:xfrm>
          <a:prstGeom prst="rect">
            <a:avLst/>
          </a:prstGeom>
        </p:spPr>
      </p:pic>
      <p:sp>
        <p:nvSpPr>
          <p:cNvPr id="138" name="textbox 138"/>
          <p:cNvSpPr/>
          <p:nvPr/>
        </p:nvSpPr>
        <p:spPr>
          <a:xfrm>
            <a:off x="793800" y="2317226"/>
            <a:ext cx="4946650" cy="25546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3387"/>
              </a:lnSpc>
              <a:tabLst/>
            </a:pPr>
            <a:r>
              <a:rPr sz="2800" kern="0" spc="-220" dirty="0">
                <a:solidFill>
                  <a:srgbClr val="FF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数据的自动采集：</a:t>
            </a:r>
            <a:endParaRPr sz="2800" dirty="0">
              <a:latin typeface="KaiTi"/>
              <a:ea typeface="KaiTi"/>
              <a:cs typeface="KaiTi"/>
            </a:endParaRPr>
          </a:p>
          <a:p>
            <a:pPr marL="735965" algn="l" rtl="0" eaLnBrk="0">
              <a:lnSpc>
                <a:spcPct val="87000"/>
              </a:lnSpc>
              <a:spcBef>
                <a:spcPts val="945"/>
              </a:spcBef>
              <a:tabLst/>
            </a:pPr>
            <a:r>
              <a:rPr sz="2900" kern="0" spc="-14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利用技术手段(如传感器、</a:t>
            </a:r>
            <a:endParaRPr sz="2900" dirty="0">
              <a:latin typeface="KaiTi"/>
              <a:ea typeface="KaiTi"/>
              <a:cs typeface="KaiTi"/>
            </a:endParaRPr>
          </a:p>
          <a:p>
            <a:pPr marL="12700" algn="l" rtl="0" eaLnBrk="0">
              <a:lnSpc>
                <a:spcPct val="120000"/>
              </a:lnSpc>
              <a:spcBef>
                <a:spcPts val="25"/>
              </a:spcBef>
              <a:tabLst/>
            </a:pPr>
            <a:r>
              <a:rPr sz="2900" kern="0" spc="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摄像头)从系统外部直接采集</a:t>
            </a:r>
            <a:r>
              <a:rPr sz="2900" kern="0" spc="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  </a:t>
            </a:r>
            <a:r>
              <a:rPr sz="2900" kern="0" spc="-11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数据并输送到系统内部接口的</a:t>
            </a:r>
            <a:r>
              <a:rPr sz="2900" kern="0" spc="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  </a:t>
            </a:r>
            <a:r>
              <a:rPr sz="2900" kern="0" spc="-10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过程。</a:t>
            </a:r>
            <a:endParaRPr sz="2900" dirty="0">
              <a:latin typeface="KaiTi"/>
              <a:ea typeface="KaiTi"/>
              <a:cs typeface="KaiTi"/>
            </a:endParaRPr>
          </a:p>
        </p:txBody>
      </p:sp>
      <p:sp>
        <p:nvSpPr>
          <p:cNvPr id="140" name="rect 140"/>
          <p:cNvSpPr/>
          <p:nvPr/>
        </p:nvSpPr>
        <p:spPr>
          <a:xfrm>
            <a:off x="50840" y="0"/>
            <a:ext cx="12115800" cy="844563"/>
          </a:xfrm>
          <a:prstGeom prst="rect">
            <a:avLst/>
          </a:prstGeom>
          <a:solidFill>
            <a:srgbClr val="37544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42" name="textbox 142"/>
          <p:cNvSpPr/>
          <p:nvPr/>
        </p:nvSpPr>
        <p:spPr>
          <a:xfrm>
            <a:off x="2051040" y="966622"/>
            <a:ext cx="5463540" cy="4635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38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/>
            </a:pPr>
            <a:r>
              <a:rPr sz="3000" kern="0" spc="-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(1)车位占用情况数据的自动采</a:t>
            </a:r>
            <a:r>
              <a:rPr sz="3000" kern="0" spc="-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集</a:t>
            </a:r>
            <a:endParaRPr sz="3000" dirty="0">
              <a:latin typeface="SimHei"/>
              <a:ea typeface="SimHei"/>
              <a:cs typeface="SimHei"/>
            </a:endParaRPr>
          </a:p>
        </p:txBody>
      </p:sp>
      <p:sp>
        <p:nvSpPr>
          <p:cNvPr id="144" name="textbox 144"/>
          <p:cNvSpPr/>
          <p:nvPr/>
        </p:nvSpPr>
        <p:spPr>
          <a:xfrm>
            <a:off x="6845300" y="5601718"/>
            <a:ext cx="3580765" cy="3225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35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tabLst/>
            </a:pP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超声波传感器采集车位占用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情况</a:t>
            </a:r>
            <a:endParaRPr sz="2000" dirty="0">
              <a:latin typeface="KaiTi"/>
              <a:ea typeface="KaiTi"/>
              <a:cs typeface="KaiTi"/>
            </a:endParaRPr>
          </a:p>
        </p:txBody>
      </p:sp>
      <p:sp>
        <p:nvSpPr>
          <p:cNvPr id="146" name="textbox 146"/>
          <p:cNvSpPr/>
          <p:nvPr/>
        </p:nvSpPr>
        <p:spPr>
          <a:xfrm>
            <a:off x="9607520" y="371811"/>
            <a:ext cx="2168525" cy="3670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58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tabLst/>
            </a:pPr>
            <a:r>
              <a:rPr sz="2300" kern="0" spc="10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基础教育精品课</a:t>
            </a:r>
            <a:endParaRPr sz="2300" dirty="0">
              <a:latin typeface="SimHei"/>
              <a:ea typeface="SimHei"/>
              <a:cs typeface="SimHe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picture 14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150" name="table 150"/>
          <p:cNvGraphicFramePr>
            <a:graphicFrameLocks noGrp="1"/>
          </p:cNvGraphicFramePr>
          <p:nvPr/>
        </p:nvGraphicFramePr>
        <p:xfrm>
          <a:off x="1546184" y="3229000"/>
          <a:ext cx="6407150" cy="2183764"/>
        </p:xfrm>
        <a:graphic>
          <a:graphicData uri="http://schemas.openxmlformats.org/drawingml/2006/table">
            <a:tbl>
              <a:tblPr/>
              <a:tblGrid>
                <a:gridCol w="1482725"/>
                <a:gridCol w="901700"/>
                <a:gridCol w="1600200"/>
                <a:gridCol w="1130300"/>
                <a:gridCol w="1292225"/>
              </a:tblGrid>
              <a:tr h="36449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9375" algn="l" rtl="0" eaLnBrk="0">
                        <a:lnSpc>
                          <a:spcPct val="98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3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数据自动采集设备</a:t>
                      </a:r>
                      <a:endParaRPr sz="13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7950" algn="l" rtl="0" eaLnBrk="0">
                        <a:lnSpc>
                          <a:spcPct val="98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3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采集方式</a:t>
                      </a:r>
                      <a:endParaRPr sz="13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74650" algn="l" rtl="0" eaLnBrk="0">
                        <a:lnSpc>
                          <a:spcPct val="98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3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获取的数据</a:t>
                      </a:r>
                      <a:endParaRPr sz="13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9850" algn="l" rtl="0" eaLnBrk="0">
                        <a:lnSpc>
                          <a:spcPct val="98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3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是否运用得当</a:t>
                      </a:r>
                      <a:endParaRPr sz="13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92100" algn="l" rtl="0" eaLnBrk="0">
                        <a:lnSpc>
                          <a:spcPct val="98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3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改进建议</a:t>
                      </a:r>
                      <a:endParaRPr sz="13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87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2" name="textbox 152"/>
          <p:cNvSpPr/>
          <p:nvPr/>
        </p:nvSpPr>
        <p:spPr>
          <a:xfrm>
            <a:off x="1492259" y="1022835"/>
            <a:ext cx="6403340" cy="20326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78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659765" algn="l" rtl="0" eaLnBrk="0">
              <a:lnSpc>
                <a:spcPct val="96000"/>
              </a:lnSpc>
              <a:tabLst/>
            </a:pPr>
            <a:r>
              <a:rPr sz="2800" kern="0" spc="-1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【思考】生活中的数据</a:t>
            </a:r>
            <a:r>
              <a:rPr sz="2800" kern="0" spc="-1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自动采集设备</a:t>
            </a:r>
            <a:endParaRPr sz="28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01600" algn="l" rtl="0" eaLnBrk="0">
              <a:lnSpc>
                <a:spcPts val="1590"/>
              </a:lnSpc>
              <a:spcBef>
                <a:spcPts val="392"/>
              </a:spcBef>
              <a:tabLst/>
            </a:pPr>
            <a:r>
              <a:rPr sz="1300" kern="0" spc="-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【学习任务一】</a:t>
            </a:r>
            <a:endParaRPr sz="1300" dirty="0">
              <a:latin typeface="SimHei"/>
              <a:ea typeface="SimHei"/>
              <a:cs typeface="SimHei"/>
            </a:endParaRPr>
          </a:p>
          <a:p>
            <a:pPr marL="31115" indent="323215" algn="l" rtl="0" eaLnBrk="0">
              <a:lnSpc>
                <a:spcPct val="176000"/>
              </a:lnSpc>
              <a:spcBef>
                <a:spcPts val="177"/>
              </a:spcBef>
              <a:tabLst/>
            </a:pPr>
            <a:r>
              <a:rPr sz="13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思考与讨论：生活中，</a:t>
            </a:r>
            <a:r>
              <a:rPr sz="13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你还见过哪些</a:t>
            </a:r>
            <a:r>
              <a:rPr sz="1300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数据自动采集设备?这些设备能够获取哪些数据?</a:t>
            </a:r>
            <a:r>
              <a:rPr sz="13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3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并填写下表。</a:t>
            </a:r>
            <a:endParaRPr sz="1300" dirty="0">
              <a:latin typeface="SimHei"/>
              <a:ea typeface="SimHei"/>
              <a:cs typeface="SimHei"/>
            </a:endParaRPr>
          </a:p>
        </p:txBody>
      </p:sp>
      <p:grpSp>
        <p:nvGrpSpPr>
          <p:cNvPr id="8" name="group 8"/>
          <p:cNvGrpSpPr/>
          <p:nvPr/>
        </p:nvGrpSpPr>
        <p:grpSpPr>
          <a:xfrm rot="21600000">
            <a:off x="8388339" y="1028700"/>
            <a:ext cx="2381219" cy="514350"/>
            <a:chOff x="0" y="0"/>
            <a:chExt cx="2381219" cy="514350"/>
          </a:xfrm>
        </p:grpSpPr>
        <p:pic>
          <p:nvPicPr>
            <p:cNvPr id="154" name="picture 15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0"/>
              <a:ext cx="2381219" cy="514350"/>
            </a:xfrm>
            <a:prstGeom prst="rect">
              <a:avLst/>
            </a:prstGeom>
          </p:spPr>
        </p:pic>
        <p:sp>
          <p:nvSpPr>
            <p:cNvPr id="156" name="textbox 156"/>
            <p:cNvSpPr/>
            <p:nvPr/>
          </p:nvSpPr>
          <p:spPr>
            <a:xfrm>
              <a:off x="-12700" y="-12700"/>
              <a:ext cx="2406650" cy="56895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9000"/>
                </a:lnSpc>
                <a:tabLst/>
              </a:pPr>
              <a:endParaRPr sz="9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6783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644525" algn="l" rtl="0" eaLnBrk="0">
                <a:lnSpc>
                  <a:spcPct val="97000"/>
                </a:lnSpc>
                <a:tabLst/>
              </a:pPr>
              <a:r>
                <a:rPr sz="1800" b="1" kern="0" spc="-30" dirty="0">
                  <a:solidFill>
                    <a:srgbClr val="000000">
                      <a:alpha val="100000"/>
                    </a:srgbClr>
                  </a:solidFill>
                  <a:latin typeface="KaiTi"/>
                  <a:ea typeface="KaiTi"/>
                  <a:cs typeface="KaiTi"/>
                </a:rPr>
                <a:t>完成任务一</a:t>
              </a:r>
              <a:endParaRPr sz="1800" dirty="0">
                <a:latin typeface="KaiTi"/>
                <a:ea typeface="KaiTi"/>
                <a:cs typeface="KaiTi"/>
              </a:endParaRPr>
            </a:p>
          </p:txBody>
        </p:sp>
      </p:grpSp>
      <p:sp>
        <p:nvSpPr>
          <p:cNvPr id="158" name="textbox 158"/>
          <p:cNvSpPr/>
          <p:nvPr/>
        </p:nvSpPr>
        <p:spPr>
          <a:xfrm>
            <a:off x="9594839" y="384499"/>
            <a:ext cx="2174875" cy="3670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58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tabLst/>
            </a:pPr>
            <a:r>
              <a:rPr sz="2300" kern="0" spc="11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基础教育精品课</a:t>
            </a:r>
            <a:endParaRPr sz="2300" dirty="0">
              <a:latin typeface="SimHei"/>
              <a:ea typeface="SimHei"/>
              <a:cs typeface="SimHe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picture 16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sp>
        <p:nvSpPr>
          <p:cNvPr id="162" name="rect 162"/>
          <p:cNvSpPr/>
          <p:nvPr/>
        </p:nvSpPr>
        <p:spPr>
          <a:xfrm>
            <a:off x="50840" y="0"/>
            <a:ext cx="12122139" cy="844563"/>
          </a:xfrm>
          <a:prstGeom prst="rect">
            <a:avLst/>
          </a:prstGeom>
          <a:solidFill>
            <a:srgbClr val="385541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pSp>
        <p:nvGrpSpPr>
          <p:cNvPr id="10" name="group 10"/>
          <p:cNvGrpSpPr/>
          <p:nvPr/>
        </p:nvGrpSpPr>
        <p:grpSpPr>
          <a:xfrm rot="21600000">
            <a:off x="4400580" y="4178305"/>
            <a:ext cx="3213079" cy="1962142"/>
            <a:chOff x="0" y="0"/>
            <a:chExt cx="3213079" cy="1962142"/>
          </a:xfrm>
        </p:grpSpPr>
        <p:pic>
          <p:nvPicPr>
            <p:cNvPr id="164" name="picture 16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0"/>
              <a:ext cx="3213079" cy="1962142"/>
            </a:xfrm>
            <a:prstGeom prst="rect">
              <a:avLst/>
            </a:prstGeom>
          </p:spPr>
        </p:pic>
        <p:sp>
          <p:nvSpPr>
            <p:cNvPr id="166" name="textbox 166"/>
            <p:cNvSpPr/>
            <p:nvPr/>
          </p:nvSpPr>
          <p:spPr>
            <a:xfrm>
              <a:off x="82518" y="257527"/>
              <a:ext cx="3100070" cy="112077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3341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ts val="2044"/>
                </a:lnSpc>
                <a:tabLst/>
              </a:pPr>
              <a:r>
                <a:rPr sz="1500" kern="0" spc="-1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Web</a:t>
              </a:r>
              <a:r>
                <a:rPr sz="1500" kern="0" spc="7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</a:t>
              </a:r>
              <a:r>
                <a:rPr sz="1500" kern="0" spc="-1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scraping</a:t>
              </a:r>
              <a:endParaRPr sz="1500" dirty="0">
                <a:latin typeface="Arial"/>
                <a:ea typeface="Arial"/>
                <a:cs typeface="Arial"/>
              </a:endParaRPr>
            </a:p>
            <a:p>
              <a:pPr marL="1567814" algn="l" rtl="0" eaLnBrk="0">
                <a:lnSpc>
                  <a:spcPct val="73000"/>
                </a:lnSpc>
                <a:spcBef>
                  <a:spcPts val="1434"/>
                </a:spcBef>
                <a:tabLst/>
              </a:pPr>
              <a:r>
                <a:rPr sz="1500" kern="0" spc="-20" dirty="0">
                  <a:solidFill>
                    <a:srgbClr val="5070E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⁴</a:t>
              </a:r>
              <a:endParaRPr sz="1500" dirty="0">
                <a:latin typeface="Calibri"/>
                <a:ea typeface="Calibri"/>
                <a:cs typeface="Calibri"/>
              </a:endParaRPr>
            </a:p>
            <a:p>
              <a:pPr marL="2184400" algn="l" rtl="0" eaLnBrk="0">
                <a:lnSpc>
                  <a:spcPts val="817"/>
                </a:lnSpc>
                <a:tabLst/>
              </a:pPr>
              <a:r>
                <a:rPr sz="600" kern="0" spc="-10" dirty="0">
                  <a:solidFill>
                    <a:srgbClr val="A0909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e </a:t>
              </a:r>
              <a:r>
                <a:rPr sz="600" kern="0" spc="-1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b</a:t>
              </a:r>
              <a:r>
                <a:rPr sz="600" kern="0" spc="2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   </a:t>
              </a:r>
              <a:r>
                <a:rPr sz="600" kern="0" spc="-1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browse.sucha</a:t>
              </a:r>
              <a:r>
                <a:rPr sz="600" kern="0" spc="3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</a:t>
              </a:r>
              <a:r>
                <a:rPr sz="600" kern="0" spc="-10" dirty="0">
                  <a:solidFill>
                    <a:srgbClr val="1060D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t</a:t>
              </a:r>
              <a:endParaRPr sz="6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7000"/>
                </a:lnSpc>
                <a:tabLst/>
              </a:pPr>
              <a:endParaRPr sz="600" dirty="0">
                <a:latin typeface="Arial"/>
                <a:ea typeface="Arial"/>
                <a:cs typeface="Arial"/>
              </a:endParaRPr>
            </a:p>
            <a:p>
              <a:pPr algn="r" rtl="0" eaLnBrk="0">
                <a:lnSpc>
                  <a:spcPts val="2228"/>
                </a:lnSpc>
                <a:spcBef>
                  <a:spcPts val="7"/>
                </a:spcBef>
                <a:tabLst/>
              </a:pPr>
              <a:r>
                <a:rPr sz="600" kern="0" spc="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Wel</a:t>
              </a:r>
              <a:r>
                <a:rPr sz="600" kern="0" spc="4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</a:t>
              </a:r>
              <a:r>
                <a:rPr sz="600" kern="0" spc="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scraping</a:t>
              </a:r>
              <a:r>
                <a:rPr sz="600" kern="0" spc="6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</a:t>
              </a:r>
              <a:r>
                <a:rPr sz="600" kern="0" spc="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is</a:t>
              </a:r>
              <a:r>
                <a:rPr sz="600" kern="0" spc="4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</a:t>
              </a:r>
              <a:r>
                <a:rPr sz="600" kern="0" spc="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clos                      </a:t>
              </a:r>
              <a:r>
                <a:rPr sz="600" kern="0" spc="-1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       </a:t>
              </a:r>
              <a:r>
                <a:rPr sz="1500" kern="0" spc="-10" baseline="53205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scn</a:t>
              </a:r>
              <a:r>
                <a:rPr sz="1000" kern="0" spc="-1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1500" kern="0" spc="-10" baseline="53205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g</a:t>
              </a:r>
              <a:r>
                <a:rPr sz="1000" kern="0" spc="7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 </a:t>
              </a:r>
              <a:r>
                <a:rPr sz="1500" kern="0" spc="-10" baseline="53205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c</a:t>
              </a:r>
              <a:r>
                <a:rPr sz="1000" kern="0" spc="-1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   </a:t>
              </a:r>
              <a:r>
                <a:rPr sz="1500" kern="0" spc="-10" baseline="-12772" dirty="0">
                  <a:solidFill>
                    <a:srgbClr val="FFFFFF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z</a:t>
              </a:r>
              <a:r>
                <a:rPr sz="1000" kern="0" spc="-10" dirty="0">
                  <a:solidFill>
                    <a:srgbClr val="FFFFFF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             </a:t>
              </a:r>
              <a:r>
                <a:rPr sz="1500" kern="0" spc="-10" baseline="-12772" dirty="0">
                  <a:solidFill>
                    <a:srgbClr val="FFFFFF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tal</a:t>
              </a:r>
              <a:r>
                <a:rPr sz="1500" kern="0" spc="-10" baseline="53205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n</a:t>
              </a:r>
              <a:r>
                <a:rPr sz="1000" kern="0" spc="-1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</a:t>
              </a:r>
              <a:r>
                <a:rPr sz="1500" kern="0" spc="-10" baseline="53205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f</a:t>
              </a:r>
              <a:r>
                <a:rPr sz="1000" kern="0" spc="-1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   </a:t>
              </a:r>
              <a:r>
                <a:rPr sz="1500" kern="0" spc="-10" baseline="53205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ic</a:t>
              </a:r>
              <a:endParaRPr sz="1500" baseline="53205" dirty="0">
                <a:latin typeface="Arial"/>
                <a:ea typeface="Arial"/>
                <a:cs typeface="Arial"/>
              </a:endParaRPr>
            </a:p>
          </p:txBody>
        </p:sp>
        <p:sp>
          <p:nvSpPr>
            <p:cNvPr id="168" name="textbox 168"/>
            <p:cNvSpPr/>
            <p:nvPr/>
          </p:nvSpPr>
          <p:spPr>
            <a:xfrm>
              <a:off x="2909435" y="1247657"/>
              <a:ext cx="183514" cy="16192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6998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1000"/>
                </a:lnSpc>
                <a:tabLst/>
              </a:pPr>
              <a:r>
                <a:rPr sz="1100" kern="0" spc="-40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cld</a:t>
              </a:r>
              <a:endParaRPr sz="1100" dirty="0">
                <a:latin typeface="Times New Roman"/>
                <a:ea typeface="Times New Roman"/>
                <a:cs typeface="Times New Roman"/>
              </a:endParaRPr>
            </a:p>
          </p:txBody>
        </p:sp>
        <p:sp>
          <p:nvSpPr>
            <p:cNvPr id="170" name="textbox 170"/>
            <p:cNvSpPr/>
            <p:nvPr/>
          </p:nvSpPr>
          <p:spPr>
            <a:xfrm>
              <a:off x="2899874" y="1116734"/>
              <a:ext cx="190500" cy="15430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6552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105000"/>
                </a:lnSpc>
                <a:tabLst/>
              </a:pPr>
              <a:r>
                <a:rPr sz="800" kern="0" spc="-3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rnat</a:t>
              </a:r>
              <a:endParaRPr sz="800" dirty="0">
                <a:latin typeface="Arial"/>
                <a:ea typeface="Arial"/>
                <a:cs typeface="Arial"/>
              </a:endParaRPr>
            </a:p>
          </p:txBody>
        </p:sp>
        <p:sp>
          <p:nvSpPr>
            <p:cNvPr id="172" name="textbox 172"/>
            <p:cNvSpPr/>
            <p:nvPr/>
          </p:nvSpPr>
          <p:spPr>
            <a:xfrm>
              <a:off x="2827788" y="1247657"/>
              <a:ext cx="102870" cy="15621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5276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95000"/>
                </a:lnSpc>
                <a:tabLst/>
              </a:pPr>
              <a:r>
                <a:rPr sz="900" kern="0" spc="-30" dirty="0">
                  <a:solidFill>
                    <a:srgbClr val="FFFFFF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l</a:t>
              </a:r>
              <a:r>
                <a:rPr sz="900" kern="0" spc="-30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e</a:t>
              </a:r>
              <a:endParaRPr sz="900" dirty="0">
                <a:latin typeface="Times New Roman"/>
                <a:ea typeface="Times New Roman"/>
                <a:cs typeface="Times New Roman"/>
              </a:endParaRPr>
            </a:p>
          </p:txBody>
        </p:sp>
        <p:sp>
          <p:nvSpPr>
            <p:cNvPr id="174" name="textbox 174"/>
            <p:cNvSpPr/>
            <p:nvPr/>
          </p:nvSpPr>
          <p:spPr>
            <a:xfrm>
              <a:off x="2796878" y="1141855"/>
              <a:ext cx="72389" cy="12890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1703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algn="r" rtl="0" eaLnBrk="0">
                <a:lnSpc>
                  <a:spcPct val="85000"/>
                </a:lnSpc>
                <a:tabLst/>
              </a:pPr>
              <a:r>
                <a:rPr sz="800" kern="0" spc="-5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s</a:t>
              </a:r>
              <a:endParaRPr sz="800" dirty="0">
                <a:latin typeface="Arial"/>
                <a:ea typeface="Arial"/>
                <a:cs typeface="Arial"/>
              </a:endParaRPr>
            </a:p>
          </p:txBody>
        </p:sp>
        <p:sp>
          <p:nvSpPr>
            <p:cNvPr id="176" name="textbox 176"/>
            <p:cNvSpPr/>
            <p:nvPr/>
          </p:nvSpPr>
          <p:spPr>
            <a:xfrm>
              <a:off x="2285036" y="1247657"/>
              <a:ext cx="437515" cy="15367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1416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105000"/>
                </a:lnSpc>
                <a:tabLst/>
              </a:pPr>
              <a:r>
                <a:rPr sz="800" kern="0" spc="-10" dirty="0">
                  <a:solidFill>
                    <a:srgbClr val="FFFFFF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edin</a:t>
              </a:r>
              <a:r>
                <a:rPr sz="800" kern="0" spc="30" dirty="0">
                  <a:solidFill>
                    <a:srgbClr val="FFFFFF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 </a:t>
              </a:r>
              <a:r>
                <a:rPr sz="800" kern="0" spc="-10" dirty="0">
                  <a:solidFill>
                    <a:srgbClr val="FFFFFF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a</a:t>
              </a:r>
              <a:r>
                <a:rPr sz="800" kern="0" spc="30" dirty="0">
                  <a:solidFill>
                    <a:srgbClr val="FFFFFF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 </a:t>
              </a:r>
              <a:r>
                <a:rPr sz="800" kern="0" spc="-10" dirty="0">
                  <a:solidFill>
                    <a:srgbClr val="FFFFFF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cen</a:t>
              </a:r>
              <a:endParaRPr sz="800" dirty="0">
                <a:latin typeface="Times New Roman"/>
                <a:ea typeface="Times New Roman"/>
                <a:cs typeface="Times New Roman"/>
              </a:endParaRPr>
            </a:p>
          </p:txBody>
        </p:sp>
        <p:sp>
          <p:nvSpPr>
            <p:cNvPr id="178" name="textbox 178"/>
            <p:cNvSpPr/>
            <p:nvPr/>
          </p:nvSpPr>
          <p:spPr>
            <a:xfrm>
              <a:off x="2206864" y="1114252"/>
              <a:ext cx="447040" cy="15112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2798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137000"/>
                </a:lnSpc>
                <a:tabLst/>
              </a:pPr>
              <a:r>
                <a:rPr sz="600" kern="0" spc="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more</a:t>
              </a:r>
              <a:r>
                <a:rPr sz="600" kern="0" spc="12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600" kern="0" spc="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cn the</a:t>
              </a:r>
              <a:endParaRPr sz="600" dirty="0">
                <a:latin typeface="Arial"/>
                <a:ea typeface="Arial"/>
                <a:cs typeface="Arial"/>
              </a:endParaRPr>
            </a:p>
          </p:txBody>
        </p:sp>
        <p:sp>
          <p:nvSpPr>
            <p:cNvPr id="180" name="textbox 180"/>
            <p:cNvSpPr/>
            <p:nvPr/>
          </p:nvSpPr>
          <p:spPr>
            <a:xfrm>
              <a:off x="2068817" y="1247657"/>
              <a:ext cx="192404" cy="15303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79554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105000"/>
                </a:lnSpc>
                <a:tabLst/>
              </a:pPr>
              <a:r>
                <a:rPr sz="800" kern="0" spc="-10" dirty="0">
                  <a:solidFill>
                    <a:srgbClr val="FFFFFF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anal</a:t>
              </a:r>
              <a:endParaRPr sz="800" dirty="0">
                <a:latin typeface="Times New Roman"/>
                <a:ea typeface="Times New Roman"/>
                <a:cs typeface="Times New Roman"/>
              </a:endParaRPr>
            </a:p>
          </p:txBody>
        </p:sp>
        <p:sp>
          <p:nvSpPr>
            <p:cNvPr id="182" name="textbox 182"/>
            <p:cNvSpPr/>
            <p:nvPr/>
          </p:nvSpPr>
          <p:spPr>
            <a:xfrm>
              <a:off x="1994012" y="1141855"/>
              <a:ext cx="191135" cy="12318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1656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107000"/>
                </a:lnSpc>
                <a:tabLst/>
              </a:pPr>
              <a:r>
                <a:rPr sz="600" kern="0" spc="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uses</a:t>
              </a:r>
              <a:endParaRPr sz="600" dirty="0">
                <a:latin typeface="Arial"/>
                <a:ea typeface="Arial"/>
                <a:cs typeface="Arial"/>
              </a:endParaRPr>
            </a:p>
          </p:txBody>
        </p:sp>
        <p:sp>
          <p:nvSpPr>
            <p:cNvPr id="184" name="textbox 184"/>
            <p:cNvSpPr/>
            <p:nvPr/>
          </p:nvSpPr>
          <p:spPr>
            <a:xfrm>
              <a:off x="1917659" y="1247657"/>
              <a:ext cx="147954" cy="15367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1398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105000"/>
                </a:lnSpc>
                <a:tabLst/>
              </a:pPr>
              <a:r>
                <a:rPr sz="800" kern="0" spc="-20" dirty="0">
                  <a:solidFill>
                    <a:srgbClr val="FFFFFF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Gd</a:t>
              </a:r>
              <a:endParaRPr sz="800" dirty="0">
                <a:latin typeface="Times New Roman"/>
                <a:ea typeface="Times New Roman"/>
                <a:cs typeface="Times New Roman"/>
              </a:endParaRPr>
            </a:p>
          </p:txBody>
        </p:sp>
        <p:sp>
          <p:nvSpPr>
            <p:cNvPr id="186" name="textbox 186"/>
            <p:cNvSpPr/>
            <p:nvPr/>
          </p:nvSpPr>
          <p:spPr>
            <a:xfrm>
              <a:off x="1810968" y="1112499"/>
              <a:ext cx="121920" cy="16128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2369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99000"/>
                </a:lnSpc>
                <a:tabLst/>
              </a:pPr>
              <a:r>
                <a:rPr sz="900" kern="0" spc="-1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fo</a:t>
              </a:r>
              <a:endParaRPr sz="900" dirty="0">
                <a:latin typeface="Arial"/>
                <a:ea typeface="Arial"/>
                <a:cs typeface="Arial"/>
              </a:endParaRPr>
            </a:p>
          </p:txBody>
        </p:sp>
      </p:grpSp>
      <p:pic>
        <p:nvPicPr>
          <p:cNvPr id="188" name="picture 18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8350301" y="4184683"/>
            <a:ext cx="3111397" cy="1962142"/>
          </a:xfrm>
          <a:prstGeom prst="rect">
            <a:avLst/>
          </a:prstGeom>
        </p:spPr>
      </p:pic>
      <p:pic>
        <p:nvPicPr>
          <p:cNvPr id="190" name="picture 19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787359" y="4178305"/>
            <a:ext cx="2901939" cy="1955764"/>
          </a:xfrm>
          <a:prstGeom prst="rect">
            <a:avLst/>
          </a:prstGeom>
        </p:spPr>
      </p:pic>
      <p:pic>
        <p:nvPicPr>
          <p:cNvPr id="192" name="picture 19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9315420" y="1352535"/>
            <a:ext cx="1016081" cy="2457495"/>
          </a:xfrm>
          <a:prstGeom prst="rect">
            <a:avLst/>
          </a:prstGeom>
        </p:spPr>
      </p:pic>
      <p:pic>
        <p:nvPicPr>
          <p:cNvPr id="194" name="picture 19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1530339" y="2095531"/>
            <a:ext cx="1416100" cy="1631929"/>
          </a:xfrm>
          <a:prstGeom prst="rect">
            <a:avLst/>
          </a:prstGeom>
        </p:spPr>
      </p:pic>
      <p:pic>
        <p:nvPicPr>
          <p:cNvPr id="196" name="picture 19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5219760" y="2203475"/>
            <a:ext cx="1587398" cy="1377909"/>
          </a:xfrm>
          <a:prstGeom prst="rect">
            <a:avLst/>
          </a:prstGeom>
        </p:spPr>
      </p:pic>
      <p:sp>
        <p:nvSpPr>
          <p:cNvPr id="198" name="textbox 198"/>
          <p:cNvSpPr/>
          <p:nvPr/>
        </p:nvSpPr>
        <p:spPr>
          <a:xfrm>
            <a:off x="1962118" y="1022835"/>
            <a:ext cx="5518784" cy="4343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78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6000"/>
              </a:lnSpc>
              <a:tabLst/>
            </a:pPr>
            <a:r>
              <a:rPr sz="2800" kern="0" spc="-2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【思考】生活中的数</a:t>
            </a:r>
            <a:r>
              <a:rPr sz="2800" kern="0" spc="-1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据自动采集设</a:t>
            </a:r>
            <a:r>
              <a:rPr sz="2800" kern="0" spc="-1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备</a:t>
            </a:r>
            <a:endParaRPr sz="2800" dirty="0">
              <a:latin typeface="SimHei"/>
              <a:ea typeface="SimHei"/>
              <a:cs typeface="SimHei"/>
            </a:endParaRPr>
          </a:p>
        </p:txBody>
      </p:sp>
      <p:sp>
        <p:nvSpPr>
          <p:cNvPr id="200" name="textbox 200"/>
          <p:cNvSpPr/>
          <p:nvPr/>
        </p:nvSpPr>
        <p:spPr>
          <a:xfrm>
            <a:off x="4483099" y="5477761"/>
            <a:ext cx="3100704" cy="4533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87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119"/>
              </a:lnSpc>
              <a:tabLst/>
            </a:pPr>
            <a:r>
              <a:rPr sz="600" kern="0" spc="2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</a:t>
            </a:r>
            <a:r>
              <a:rPr sz="700" kern="0" spc="0" dirty="0">
                <a:solidFill>
                  <a:srgbClr val="A0909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fo</a:t>
            </a:r>
            <a:r>
              <a:rPr sz="700" kern="0" spc="0" dirty="0">
                <a:solidFill>
                  <a:srgbClr val="A0909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r</a:t>
            </a:r>
            <a:r>
              <a:rPr sz="900" kern="0" spc="0" baseline="25263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o</a:t>
            </a:r>
            <a:r>
              <a:rPr sz="700" kern="0" spc="0" dirty="0">
                <a:solidFill>
                  <a:srgbClr val="A0909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m  t</a:t>
            </a:r>
            <a:r>
              <a:rPr sz="900" kern="0" spc="0" baseline="36838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</a:t>
            </a:r>
            <a:r>
              <a:rPr sz="700" kern="0" spc="0" dirty="0">
                <a:solidFill>
                  <a:srgbClr val="A0909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,i</a:t>
            </a:r>
            <a:r>
              <a:rPr sz="6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700" kern="0" spc="0" dirty="0">
                <a:solidFill>
                  <a:srgbClr val="A0909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n</a:t>
            </a:r>
            <a:r>
              <a:rPr sz="6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</a:t>
            </a:r>
            <a:r>
              <a:rPr sz="700" kern="0" spc="0" dirty="0">
                <a:solidFill>
                  <a:srgbClr val="A0909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  </a:t>
            </a:r>
            <a:r>
              <a:rPr sz="900" kern="0" spc="0" baseline="36838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c</a:t>
            </a:r>
            <a:r>
              <a:rPr sz="700" kern="0" spc="0" dirty="0">
                <a:solidFill>
                  <a:srgbClr val="A0909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</a:t>
            </a:r>
            <a:r>
              <a:rPr sz="700" kern="0" spc="60" dirty="0">
                <a:solidFill>
                  <a:srgbClr val="A0909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700" kern="0" spc="0" dirty="0">
                <a:solidFill>
                  <a:srgbClr val="A0909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r  </a:t>
            </a:r>
            <a:r>
              <a:rPr sz="900" kern="0" spc="0" baseline="31051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</a:t>
            </a:r>
            <a:r>
              <a:rPr sz="1200" kern="0" spc="0" baseline="23288" dirty="0">
                <a:solidFill>
                  <a:srgbClr val="A0909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</a:t>
            </a:r>
            <a:r>
              <a:rPr sz="900" kern="0" spc="0" baseline="31051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g</a:t>
            </a:r>
            <a:r>
              <a:rPr sz="700" kern="0" spc="0" dirty="0">
                <a:solidFill>
                  <a:srgbClr val="A0909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</a:t>
            </a:r>
            <a:r>
              <a:rPr sz="900" kern="0" spc="0" baseline="31051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</a:t>
            </a:r>
            <a:r>
              <a:rPr sz="1200" kern="0" spc="0" baseline="23288" dirty="0">
                <a:solidFill>
                  <a:srgbClr val="A0909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u</a:t>
            </a:r>
            <a:r>
              <a:rPr sz="900" kern="0" spc="0" baseline="31051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n</a:t>
            </a:r>
            <a:r>
              <a:rPr sz="700" kern="0" spc="0" dirty="0">
                <a:solidFill>
                  <a:srgbClr val="A0909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re</a:t>
            </a:r>
            <a:r>
              <a:rPr sz="900" kern="0" spc="0" baseline="36838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</a:t>
            </a:r>
            <a:r>
              <a:rPr sz="700" kern="0" spc="0" dirty="0">
                <a:solidFill>
                  <a:srgbClr val="A0909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d</a:t>
            </a:r>
            <a:r>
              <a:rPr sz="900" kern="0" spc="0" baseline="36838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.</a:t>
            </a:r>
            <a:r>
              <a:rPr sz="500" kern="0" spc="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700" kern="0" spc="0" dirty="0">
                <a:solidFill>
                  <a:srgbClr val="A0909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dnanat</a:t>
            </a:r>
            <a:r>
              <a:rPr sz="700" kern="0" spc="70" dirty="0">
                <a:solidFill>
                  <a:srgbClr val="A0909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700" kern="0" spc="0" dirty="0">
                <a:solidFill>
                  <a:srgbClr val="A0909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can</a:t>
            </a:r>
            <a:r>
              <a:rPr sz="700" kern="0" spc="80" dirty="0">
                <a:solidFill>
                  <a:srgbClr val="A0909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700" kern="0" spc="0" dirty="0">
                <a:solidFill>
                  <a:srgbClr val="A0909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storec</a:t>
            </a:r>
            <a:r>
              <a:rPr sz="700" kern="0" spc="70" dirty="0">
                <a:solidFill>
                  <a:srgbClr val="A0909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700" kern="0" spc="0" dirty="0">
                <a:solidFill>
                  <a:srgbClr val="A0909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d</a:t>
            </a:r>
            <a:r>
              <a:rPr sz="700" kern="0" spc="60" dirty="0">
                <a:solidFill>
                  <a:srgbClr val="A0909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700" kern="0" spc="0" dirty="0">
                <a:solidFill>
                  <a:srgbClr val="A0909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analyzed</a:t>
            </a:r>
            <a:r>
              <a:rPr sz="700" kern="0" spc="70" dirty="0">
                <a:solidFill>
                  <a:srgbClr val="A0909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700" kern="0" spc="0" dirty="0">
                <a:solidFill>
                  <a:srgbClr val="A0909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in</a:t>
            </a:r>
            <a:r>
              <a:rPr sz="700" kern="0" spc="60" dirty="0">
                <a:solidFill>
                  <a:srgbClr val="A0909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700" kern="0" spc="-10" dirty="0">
                <a:solidFill>
                  <a:srgbClr val="A0909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</a:t>
            </a:r>
            <a:r>
              <a:rPr sz="700" kern="0" spc="70" dirty="0">
                <a:solidFill>
                  <a:srgbClr val="A0909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700" kern="0" spc="-10" dirty="0">
                <a:solidFill>
                  <a:srgbClr val="A0909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cental</a:t>
            </a:r>
            <a:r>
              <a:rPr sz="700" kern="0" spc="70" dirty="0">
                <a:solidFill>
                  <a:srgbClr val="A0909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700" kern="0" spc="-10" dirty="0">
                <a:solidFill>
                  <a:srgbClr val="A0909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ioealdaa</a:t>
            </a:r>
            <a:endParaRPr sz="700" dirty="0">
              <a:latin typeface="Times New Roman"/>
              <a:ea typeface="Times New Roman"/>
              <a:cs typeface="Times New Roman"/>
            </a:endParaRPr>
          </a:p>
          <a:p>
            <a:pPr algn="r" rtl="0" eaLnBrk="0">
              <a:lnSpc>
                <a:spcPct val="94000"/>
              </a:lnSpc>
              <a:spcBef>
                <a:spcPts val="10"/>
              </a:spcBef>
              <a:tabLst/>
            </a:pPr>
            <a:r>
              <a:rPr sz="900" kern="0" spc="-4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au</a:t>
            </a:r>
            <a:r>
              <a:rPr sz="900" kern="0" spc="-3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tomation,which</a:t>
            </a:r>
            <a:r>
              <a:rPr sz="900" kern="0" spc="3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900" kern="0" spc="-3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simulates hurasrowsinguscomputer s</a:t>
            </a:r>
            <a:r>
              <a:rPr sz="900" kern="0" spc="-30" dirty="0">
                <a:solidFill>
                  <a:srgbClr val="8090A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ofwae </a:t>
            </a:r>
            <a:r>
              <a:rPr sz="900" kern="0" spc="-40" dirty="0">
                <a:solidFill>
                  <a:srgbClr val="8090A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Uses ofw</a:t>
            </a:r>
            <a:r>
              <a:rPr sz="900" kern="0" spc="-20" dirty="0">
                <a:solidFill>
                  <a:srgbClr val="8090A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g</a:t>
            </a:r>
            <a:endParaRPr sz="900" dirty="0">
              <a:latin typeface="Times New Roman"/>
              <a:ea typeface="Times New Roman"/>
              <a:cs typeface="Times New Roman"/>
            </a:endParaRPr>
          </a:p>
          <a:p>
            <a:pPr algn="r" rtl="0" eaLnBrk="0">
              <a:lnSpc>
                <a:spcPts val="1099"/>
              </a:lnSpc>
              <a:tabLst/>
            </a:pPr>
            <a:r>
              <a:rPr sz="800" kern="0" spc="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manitering</a:t>
            </a:r>
            <a:r>
              <a:rPr sz="800" kern="0" spc="3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,</a:t>
            </a:r>
            <a:r>
              <a:rPr sz="800" kern="0" spc="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website</a:t>
            </a:r>
            <a:r>
              <a:rPr sz="800" kern="0" spc="5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800" kern="0" spc="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change</a:t>
            </a:r>
            <a:r>
              <a:rPr sz="800" kern="0" spc="6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800" kern="0" spc="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detes</a:t>
            </a:r>
            <a:r>
              <a:rPr sz="800" kern="0" spc="3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800" kern="0" spc="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research</a:t>
            </a:r>
            <a:r>
              <a:rPr sz="800" kern="0" spc="3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,      </a:t>
            </a:r>
            <a:r>
              <a:rPr sz="800" kern="0" spc="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mashun</a:t>
            </a:r>
            <a:r>
              <a:rPr sz="800" kern="0" spc="3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800" kern="0" spc="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and</a:t>
            </a:r>
            <a:r>
              <a:rPr sz="800" kern="0" spc="3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800" kern="0" spc="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weo</a:t>
            </a:r>
            <a:r>
              <a:rPr sz="800" kern="0" spc="3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800" kern="0" spc="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data</a:t>
            </a:r>
            <a:r>
              <a:rPr sz="800" kern="0" spc="2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800" kern="0" spc="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integr</a:t>
            </a:r>
            <a:endParaRPr sz="800" dirty="0"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202" name="picture 20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5280298" y="5528929"/>
            <a:ext cx="67597" cy="89221"/>
          </a:xfrm>
          <a:prstGeom prst="rect">
            <a:avLst/>
          </a:prstGeom>
        </p:spPr>
      </p:pic>
      <p:pic>
        <p:nvPicPr>
          <p:cNvPr id="204" name="picture 20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5212850" y="5506280"/>
            <a:ext cx="51717" cy="110821"/>
          </a:xfrm>
          <a:prstGeom prst="rect">
            <a:avLst/>
          </a:prstGeom>
        </p:spPr>
      </p:pic>
      <p:pic>
        <p:nvPicPr>
          <p:cNvPr id="206" name="picture 20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5120935" y="5528929"/>
            <a:ext cx="50546" cy="89221"/>
          </a:xfrm>
          <a:prstGeom prst="rect">
            <a:avLst/>
          </a:prstGeom>
        </p:spPr>
      </p:pic>
      <p:pic>
        <p:nvPicPr>
          <p:cNvPr id="208" name="picture 208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1600000">
            <a:off x="4765504" y="5490461"/>
            <a:ext cx="89497" cy="126939"/>
          </a:xfrm>
          <a:prstGeom prst="rect">
            <a:avLst/>
          </a:prstGeom>
        </p:spPr>
      </p:pic>
      <p:sp>
        <p:nvSpPr>
          <p:cNvPr id="210" name="textbox 210"/>
          <p:cNvSpPr/>
          <p:nvPr/>
        </p:nvSpPr>
        <p:spPr>
          <a:xfrm>
            <a:off x="9594839" y="384499"/>
            <a:ext cx="2174875" cy="3670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58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tabLst/>
            </a:pPr>
            <a:r>
              <a:rPr sz="2300" kern="0" spc="11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基础教育精品课</a:t>
            </a:r>
            <a:endParaRPr sz="2300" dirty="0">
              <a:latin typeface="SimHei"/>
              <a:ea typeface="SimHei"/>
              <a:cs typeface="SimHei"/>
            </a:endParaRPr>
          </a:p>
        </p:txBody>
      </p:sp>
      <p:sp>
        <p:nvSpPr>
          <p:cNvPr id="212" name="textbox 212"/>
          <p:cNvSpPr/>
          <p:nvPr/>
        </p:nvSpPr>
        <p:spPr>
          <a:xfrm>
            <a:off x="4483099" y="4660410"/>
            <a:ext cx="1458594" cy="1384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885"/>
              </a:lnSpc>
              <a:tabLst/>
            </a:pPr>
            <a:r>
              <a:rPr sz="6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FromlMkp</a:t>
            </a:r>
            <a:r>
              <a:rPr sz="6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</a:t>
            </a:r>
            <a:r>
              <a:rPr sz="6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he   </a:t>
            </a:r>
            <a:r>
              <a:rPr sz="6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free   eno</a:t>
            </a:r>
            <a:r>
              <a:rPr sz="6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</a:t>
            </a:r>
            <a:r>
              <a:rPr sz="6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resis</a:t>
            </a:r>
            <a:endParaRPr sz="600" dirty="0">
              <a:latin typeface="Arial"/>
              <a:ea typeface="Arial"/>
              <a:cs typeface="Arial"/>
            </a:endParaRPr>
          </a:p>
        </p:txBody>
      </p:sp>
      <p:sp>
        <p:nvSpPr>
          <p:cNvPr id="214" name="textbox 214"/>
          <p:cNvSpPr/>
          <p:nvPr/>
        </p:nvSpPr>
        <p:spPr>
          <a:xfrm>
            <a:off x="4603800" y="5133695"/>
            <a:ext cx="884555" cy="1943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327"/>
              </a:lnSpc>
              <a:tabLst/>
            </a:pPr>
            <a:r>
              <a:rPr sz="800" kern="0" spc="0" dirty="0">
                <a:solidFill>
                  <a:srgbClr val="5070C0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800" kern="0" spc="20" dirty="0">
                <a:solidFill>
                  <a:srgbClr val="5070C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</a:t>
            </a:r>
            <a:r>
              <a:rPr sz="800" kern="0" spc="0" dirty="0">
                <a:solidFill>
                  <a:srgbClr val="40A0D0">
                    <a:alpha val="100000"/>
                  </a:srgbClr>
                </a:solidFill>
                <a:latin typeface="Arial"/>
                <a:ea typeface="Arial"/>
                <a:cs typeface="Arial"/>
              </a:rPr>
              <a:t>Protoco</a:t>
            </a:r>
            <a:r>
              <a:rPr sz="8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l</a:t>
            </a:r>
            <a:r>
              <a:rPr sz="800" kern="0" spc="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(</a:t>
            </a:r>
            <a:r>
              <a:rPr sz="8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HT</a:t>
            </a:r>
            <a:endParaRPr sz="800" dirty="0">
              <a:latin typeface="Arial"/>
              <a:ea typeface="Arial"/>
              <a:cs typeface="Arial"/>
            </a:endParaRPr>
          </a:p>
        </p:txBody>
      </p:sp>
      <p:sp>
        <p:nvSpPr>
          <p:cNvPr id="216" name="textbox 216"/>
          <p:cNvSpPr/>
          <p:nvPr/>
        </p:nvSpPr>
        <p:spPr>
          <a:xfrm>
            <a:off x="5054904" y="4885847"/>
            <a:ext cx="654684" cy="2051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4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9000"/>
              </a:lnSpc>
              <a:tabLst/>
            </a:pPr>
            <a:r>
              <a:rPr sz="1500" kern="0" spc="-20" dirty="0">
                <a:solidFill>
                  <a:srgbClr val="8090A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scrapin</a:t>
            </a:r>
            <a:r>
              <a:rPr sz="1500" kern="0" spc="-20" dirty="0">
                <a:solidFill>
                  <a:srgbClr val="5070E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g</a:t>
            </a:r>
            <a:endParaRPr sz="15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18" name="textbox 218"/>
          <p:cNvSpPr/>
          <p:nvPr/>
        </p:nvSpPr>
        <p:spPr>
          <a:xfrm>
            <a:off x="4527600" y="4885847"/>
            <a:ext cx="382270" cy="2051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00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9000"/>
              </a:lnSpc>
              <a:tabLst/>
            </a:pPr>
            <a:r>
              <a:rPr sz="1500" kern="0" spc="-10" dirty="0">
                <a:solidFill>
                  <a:srgbClr val="8090A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Web</a:t>
            </a:r>
            <a:endParaRPr sz="1500" dirty="0"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picture 2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222" name="table 222"/>
          <p:cNvGraphicFramePr>
            <a:graphicFrameLocks noGrp="1"/>
          </p:cNvGraphicFramePr>
          <p:nvPr/>
        </p:nvGraphicFramePr>
        <p:xfrm>
          <a:off x="2447904" y="4181508"/>
          <a:ext cx="4692650" cy="1751965"/>
        </p:xfrm>
        <a:graphic>
          <a:graphicData uri="http://schemas.openxmlformats.org/drawingml/2006/table">
            <a:tbl>
              <a:tblPr/>
              <a:tblGrid>
                <a:gridCol w="847725"/>
                <a:gridCol w="622300"/>
                <a:gridCol w="615950"/>
                <a:gridCol w="622300"/>
                <a:gridCol w="615950"/>
                <a:gridCol w="1368425"/>
              </a:tblGrid>
              <a:tr h="396240"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12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27965" algn="l" rtl="0" eaLnBrk="0">
                        <a:lnSpc>
                          <a:spcPct val="97000"/>
                        </a:lnSpc>
                        <a:tabLst/>
                      </a:pPr>
                      <a:r>
                        <a:rPr sz="15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采集</a:t>
                      </a:r>
                      <a:endParaRPr sz="15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algn="l" rtl="0" eaLnBrk="0">
                        <a:lnSpc>
                          <a:spcPct val="118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27965" algn="l" rtl="0" eaLnBrk="0">
                        <a:lnSpc>
                          <a:spcPct val="98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5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方法</a:t>
                      </a:r>
                      <a:endParaRPr sz="15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5"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529714" algn="l" rtl="0" eaLnBrk="0">
                        <a:lnSpc>
                          <a:spcPct val="98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5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人工获取</a:t>
                      </a:r>
                      <a:endParaRPr sz="15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7350"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5250" algn="l" rtl="0" eaLnBrk="0">
                        <a:lnSpc>
                          <a:spcPct val="99000"/>
                        </a:lnSpc>
                        <a:spcBef>
                          <a:spcPts val="7"/>
                        </a:spcBef>
                        <a:tabLst/>
                      </a:pPr>
                      <a:r>
                        <a:rPr sz="15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调查</a:t>
                      </a:r>
                      <a:endParaRPr sz="15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7950" algn="l" rtl="0" eaLnBrk="0">
                        <a:lnSpc>
                          <a:spcPct val="98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5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访谈</a:t>
                      </a:r>
                      <a:endParaRPr sz="15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1600" algn="l" rtl="0" eaLnBrk="0">
                        <a:lnSpc>
                          <a:spcPct val="98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5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观察</a:t>
                      </a:r>
                      <a:endParaRPr sz="15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14300" algn="l" rtl="0" eaLnBrk="0">
                        <a:lnSpc>
                          <a:spcPct val="98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5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实验</a:t>
                      </a:r>
                      <a:endParaRPr sz="15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85750" algn="l" rtl="0" eaLnBrk="0">
                        <a:lnSpc>
                          <a:spcPct val="98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5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文献调研</a:t>
                      </a:r>
                      <a:endParaRPr sz="15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683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745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25425" algn="l" rtl="0" eaLnBrk="0">
                        <a:lnSpc>
                          <a:spcPct val="97000"/>
                        </a:lnSpc>
                        <a:tabLst/>
                      </a:pPr>
                      <a:r>
                        <a:rPr sz="15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采集</a:t>
                      </a:r>
                      <a:endParaRPr sz="15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227965" algn="l" rtl="0" eaLnBrk="0">
                        <a:lnSpc>
                          <a:spcPct val="98000"/>
                        </a:lnSpc>
                        <a:spcBef>
                          <a:spcPts val="399"/>
                        </a:spcBef>
                        <a:tabLst/>
                      </a:pPr>
                      <a:r>
                        <a:rPr sz="1500" b="1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工具</a:t>
                      </a:r>
                      <a:endParaRPr sz="15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2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2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31800" algn="l" rtl="0" eaLnBrk="0">
                        <a:lnSpc>
                          <a:spcPct val="99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5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问卷</a:t>
                      </a:r>
                      <a:endParaRPr sz="15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2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2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241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12750" algn="l" rtl="0" eaLnBrk="0">
                        <a:lnSpc>
                          <a:spcPct val="98000"/>
                        </a:lnSpc>
                        <a:tabLst/>
                      </a:pPr>
                      <a:r>
                        <a:rPr sz="15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表格</a:t>
                      </a:r>
                      <a:endParaRPr sz="15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2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241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8900" algn="l" rtl="0" eaLnBrk="0">
                        <a:lnSpc>
                          <a:spcPct val="98000"/>
                        </a:lnSpc>
                        <a:tabLst/>
                      </a:pPr>
                      <a:r>
                        <a:rPr sz="15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文献检索工具</a:t>
                      </a:r>
                      <a:endParaRPr sz="15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24" name="table 224"/>
          <p:cNvGraphicFramePr>
            <a:graphicFrameLocks noGrp="1"/>
          </p:cNvGraphicFramePr>
          <p:nvPr/>
        </p:nvGraphicFramePr>
        <p:xfrm>
          <a:off x="2441564" y="2009785"/>
          <a:ext cx="4590415" cy="1758314"/>
        </p:xfrm>
        <a:graphic>
          <a:graphicData uri="http://schemas.openxmlformats.org/drawingml/2006/table">
            <a:tbl>
              <a:tblPr/>
              <a:tblGrid>
                <a:gridCol w="866139"/>
                <a:gridCol w="1276350"/>
                <a:gridCol w="1206500"/>
                <a:gridCol w="1241425"/>
              </a:tblGrid>
              <a:tr h="396875"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40665" algn="l" rtl="0" eaLnBrk="0">
                        <a:lnSpc>
                          <a:spcPct val="97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5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采集</a:t>
                      </a:r>
                      <a:endParaRPr sz="15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237490" algn="l" rtl="0" eaLnBrk="0">
                        <a:lnSpc>
                          <a:spcPct val="98000"/>
                        </a:lnSpc>
                        <a:spcBef>
                          <a:spcPts val="443"/>
                        </a:spcBef>
                        <a:tabLst/>
                      </a:pPr>
                      <a:r>
                        <a:rPr sz="15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方法</a:t>
                      </a:r>
                      <a:endParaRPr sz="15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l" rtl="0" eaLnBrk="0">
                        <a:lnSpc>
                          <a:spcPct val="116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499235" algn="l" rtl="0" eaLnBrk="0">
                        <a:lnSpc>
                          <a:spcPct val="9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5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自动采集</a:t>
                      </a:r>
                      <a:endParaRPr sz="15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7350"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41934" algn="l" rtl="0" eaLnBrk="0">
                        <a:lnSpc>
                          <a:spcPct val="98000"/>
                        </a:lnSpc>
                        <a:tabLst/>
                      </a:pPr>
                      <a:r>
                        <a:rPr sz="15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物联感知</a:t>
                      </a:r>
                      <a:endParaRPr sz="15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10184" algn="l" rtl="0" eaLnBrk="0">
                        <a:lnSpc>
                          <a:spcPct val="98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5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视频监控</a:t>
                      </a:r>
                      <a:endParaRPr sz="15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22884" algn="l" rtl="0" eaLnBrk="0">
                        <a:lnSpc>
                          <a:spcPct val="99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5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网络平台</a:t>
                      </a:r>
                      <a:endParaRPr sz="15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7408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5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37490" algn="l" rtl="0" eaLnBrk="0">
                        <a:lnSpc>
                          <a:spcPct val="97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5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采集</a:t>
                      </a:r>
                      <a:endParaRPr sz="15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40665" algn="l" rtl="0" eaLnBrk="0">
                        <a:lnSpc>
                          <a:spcPct val="98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500" b="1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工具</a:t>
                      </a:r>
                      <a:endParaRPr sz="15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3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43534" algn="l" rtl="0" eaLnBrk="0">
                        <a:lnSpc>
                          <a:spcPct val="97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5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传感器</a:t>
                      </a:r>
                      <a:endParaRPr sz="15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3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04800" algn="l" rtl="0" eaLnBrk="0">
                        <a:lnSpc>
                          <a:spcPct val="97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5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摄像机</a:t>
                      </a:r>
                      <a:endParaRPr sz="15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22884" algn="l" rtl="0" eaLnBrk="0">
                        <a:lnSpc>
                          <a:spcPct val="126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5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采集软</a:t>
                      </a:r>
                      <a:r>
                        <a:rPr sz="1500" kern="0" spc="30" dirty="0">
                          <a:solidFill>
                            <a:srgbClr val="40202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件</a:t>
                      </a:r>
                      <a:r>
                        <a:rPr sz="1500" kern="0" spc="0" dirty="0">
                          <a:solidFill>
                            <a:srgbClr val="40202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  </a:t>
                      </a:r>
                      <a:r>
                        <a:rPr sz="15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网络爬虫</a:t>
                      </a:r>
                      <a:r>
                        <a:rPr sz="15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  </a:t>
                      </a:r>
                      <a:r>
                        <a:rPr sz="1500" kern="0" spc="3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移动</a:t>
                      </a:r>
                      <a:r>
                        <a:rPr sz="15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App</a:t>
                      </a:r>
                      <a:endParaRPr sz="15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26" name="textbox 226"/>
          <p:cNvSpPr/>
          <p:nvPr/>
        </p:nvSpPr>
        <p:spPr>
          <a:xfrm>
            <a:off x="1657320" y="1021412"/>
            <a:ext cx="6153784" cy="43306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666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5000"/>
              </a:lnSpc>
              <a:tabLst/>
            </a:pPr>
            <a:r>
              <a:rPr sz="2800" kern="0" spc="-2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【知识链</a:t>
            </a:r>
            <a:r>
              <a:rPr sz="2800" kern="0" spc="-2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接】数据采集的常用方法和工</a:t>
            </a:r>
            <a:r>
              <a:rPr sz="2800" kern="0" spc="-1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具</a:t>
            </a:r>
            <a:endParaRPr sz="2800" dirty="0">
              <a:latin typeface="SimHei"/>
              <a:ea typeface="SimHei"/>
              <a:cs typeface="SimHei"/>
            </a:endParaRPr>
          </a:p>
        </p:txBody>
      </p:sp>
      <p:sp>
        <p:nvSpPr>
          <p:cNvPr id="228" name="textbox 228"/>
          <p:cNvSpPr/>
          <p:nvPr/>
        </p:nvSpPr>
        <p:spPr>
          <a:xfrm>
            <a:off x="9594839" y="384499"/>
            <a:ext cx="2174875" cy="3670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58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tabLst/>
            </a:pPr>
            <a:r>
              <a:rPr sz="2300" kern="0" spc="11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基础教育精品课</a:t>
            </a:r>
            <a:endParaRPr sz="2300" dirty="0">
              <a:latin typeface="SimHei"/>
              <a:ea typeface="SimHei"/>
              <a:cs typeface="SimHei"/>
            </a:endParaRPr>
          </a:p>
        </p:txBody>
      </p:sp>
      <p:sp>
        <p:nvSpPr>
          <p:cNvPr id="230" name="textbox 230"/>
          <p:cNvSpPr/>
          <p:nvPr/>
        </p:nvSpPr>
        <p:spPr>
          <a:xfrm>
            <a:off x="1035080" y="5461729"/>
            <a:ext cx="559434" cy="3346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86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8000"/>
              </a:lnSpc>
              <a:tabLst/>
            </a:pPr>
            <a:r>
              <a:rPr sz="2600" b="1" kern="0" spc="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P58</a:t>
            </a:r>
            <a:endParaRPr sz="2600" dirty="0"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2" name="picture 23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sp>
        <p:nvSpPr>
          <p:cNvPr id="234" name="rect 234"/>
          <p:cNvSpPr/>
          <p:nvPr/>
        </p:nvSpPr>
        <p:spPr>
          <a:xfrm>
            <a:off x="50840" y="0"/>
            <a:ext cx="12122139" cy="850872"/>
          </a:xfrm>
          <a:prstGeom prst="rect">
            <a:avLst/>
          </a:prstGeom>
          <a:solidFill>
            <a:srgbClr val="385541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36" name="textbox 236"/>
          <p:cNvSpPr/>
          <p:nvPr/>
        </p:nvSpPr>
        <p:spPr>
          <a:xfrm>
            <a:off x="1154422" y="5271203"/>
            <a:ext cx="9010015" cy="97408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15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8000"/>
              </a:lnSpc>
              <a:tabLst/>
            </a:pPr>
            <a:r>
              <a:rPr sz="2000" b="1" kern="0" spc="1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车位引导屏</a:t>
            </a:r>
            <a:r>
              <a:rPr sz="2000" kern="0" spc="1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                                  </a:t>
            </a:r>
            <a:r>
              <a:rPr sz="2000" b="1" kern="0" spc="1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停车位使用实时数据</a:t>
            </a: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结构图</a:t>
            </a:r>
            <a:endParaRPr sz="2000" dirty="0">
              <a:latin typeface="KaiTi"/>
              <a:ea typeface="KaiTi"/>
              <a:cs typeface="KaiTi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5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spcBef>
                <a:spcPts val="6"/>
              </a:spcBef>
              <a:tabLst/>
            </a:pPr>
            <a:r>
              <a:rPr sz="2900" b="1" kern="0" spc="-11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在应用系统中，由若干属性构成的数据称为</a:t>
            </a:r>
            <a:r>
              <a:rPr sz="2900" b="1" kern="0" spc="-110" dirty="0">
                <a:solidFill>
                  <a:srgbClr val="FF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结构化数据</a:t>
            </a:r>
            <a:endParaRPr sz="2900" dirty="0">
              <a:latin typeface="KaiTi"/>
              <a:ea typeface="KaiTi"/>
              <a:cs typeface="KaiTi"/>
            </a:endParaRPr>
          </a:p>
        </p:txBody>
      </p:sp>
      <p:sp>
        <p:nvSpPr>
          <p:cNvPr id="238" name="textbox 238"/>
          <p:cNvSpPr/>
          <p:nvPr/>
        </p:nvSpPr>
        <p:spPr>
          <a:xfrm>
            <a:off x="7083508" y="2599398"/>
            <a:ext cx="2107564" cy="17926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71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7465" algn="l" rtl="0" eaLnBrk="0">
              <a:lnSpc>
                <a:spcPct val="99000"/>
              </a:lnSpc>
              <a:tabLst/>
            </a:pPr>
            <a:r>
              <a:rPr sz="1800" b="1" kern="0" spc="-5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区域</a:t>
            </a:r>
            <a:endParaRPr sz="1800" dirty="0">
              <a:latin typeface="KaiTi"/>
              <a:ea typeface="KaiTi"/>
              <a:cs typeface="KaiTi"/>
            </a:endParaRPr>
          </a:p>
          <a:p>
            <a:pPr algn="l" rtl="0" eaLnBrk="0">
              <a:lnSpc>
                <a:spcPct val="18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091564" indent="-132714" algn="l" rtl="0" eaLnBrk="0">
              <a:lnSpc>
                <a:spcPct val="99000"/>
              </a:lnSpc>
              <a:spcBef>
                <a:spcPts val="547"/>
              </a:spcBef>
              <a:tabLst/>
            </a:pPr>
            <a:r>
              <a:rPr sz="1800" b="1" kern="0" spc="-3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停车位使用</a:t>
            </a:r>
            <a:r>
              <a:rPr sz="1800" kern="0" spc="1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 </a:t>
            </a:r>
            <a:r>
              <a:rPr sz="1800" b="1" kern="0" spc="-5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实时数据</a:t>
            </a:r>
            <a:endParaRPr sz="1800" dirty="0">
              <a:latin typeface="KaiTi"/>
              <a:ea typeface="KaiTi"/>
              <a:cs typeface="KaiTi"/>
            </a:endParaRPr>
          </a:p>
          <a:p>
            <a:pPr algn="l" rtl="0" eaLnBrk="0">
              <a:lnSpc>
                <a:spcPct val="17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spcBef>
                <a:spcPts val="3"/>
              </a:spcBef>
              <a:tabLst/>
            </a:pPr>
            <a:r>
              <a:rPr sz="1800" b="1" kern="0" spc="-5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编号</a:t>
            </a:r>
            <a:endParaRPr sz="1800" dirty="0">
              <a:latin typeface="KaiTi"/>
              <a:ea typeface="KaiTi"/>
              <a:cs typeface="KaiTi"/>
            </a:endParaRPr>
          </a:p>
        </p:txBody>
      </p:sp>
      <p:sp>
        <p:nvSpPr>
          <p:cNvPr id="240" name="textbox 240"/>
          <p:cNvSpPr/>
          <p:nvPr/>
        </p:nvSpPr>
        <p:spPr>
          <a:xfrm>
            <a:off x="1333540" y="2225276"/>
            <a:ext cx="1369060" cy="26879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56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70179" algn="l" rtl="0" eaLnBrk="0">
              <a:lnSpc>
                <a:spcPct val="95000"/>
              </a:lnSpc>
              <a:tabLst/>
            </a:pPr>
            <a:r>
              <a:rPr sz="2800" b="1" kern="0" spc="-30" dirty="0">
                <a:solidFill>
                  <a:srgbClr val="40906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空车位</a:t>
            </a:r>
            <a:endParaRPr sz="2800" dirty="0">
              <a:latin typeface="SimSun"/>
              <a:ea typeface="SimSun"/>
              <a:cs typeface="SimSun"/>
            </a:endParaRPr>
          </a:p>
          <a:p>
            <a:pPr marL="12700" algn="l" rtl="0" eaLnBrk="0">
              <a:lnSpc>
                <a:spcPct val="95000"/>
              </a:lnSpc>
              <a:spcBef>
                <a:spcPts val="1559"/>
              </a:spcBef>
              <a:tabLst/>
            </a:pPr>
            <a:r>
              <a:rPr sz="1700" kern="0" spc="-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B</a:t>
            </a:r>
            <a:r>
              <a:rPr sz="1700" kern="0" spc="-1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-3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2层</a:t>
            </a:r>
            <a:r>
              <a:rPr sz="1700" kern="0" spc="4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</a:t>
            </a:r>
            <a:r>
              <a:rPr sz="1700" kern="0" spc="-30" dirty="0">
                <a:solidFill>
                  <a:srgbClr val="40D080">
                    <a:alpha val="100000"/>
                  </a:srgbClr>
                </a:solidFill>
                <a:latin typeface="Arial"/>
                <a:ea typeface="Arial"/>
                <a:cs typeface="Arial"/>
              </a:rPr>
              <a:t>C226</a:t>
            </a:r>
            <a:endParaRPr sz="17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2317"/>
              </a:lnSpc>
              <a:spcBef>
                <a:spcPts val="660"/>
              </a:spcBef>
              <a:tabLst/>
            </a:pPr>
            <a:r>
              <a:rPr sz="1600" kern="0" spc="-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B1</a:t>
            </a:r>
            <a:r>
              <a:rPr sz="1600" kern="0" spc="-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600" kern="0" spc="-5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层</a:t>
            </a:r>
            <a:r>
              <a:rPr sz="1600" kern="0" spc="1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</a:t>
            </a:r>
            <a:r>
              <a:rPr sz="1700" kern="0" spc="-50" dirty="0">
                <a:solidFill>
                  <a:srgbClr val="40D080">
                    <a:alpha val="100000"/>
                  </a:srgbClr>
                </a:solidFill>
                <a:latin typeface="Arial"/>
                <a:ea typeface="Arial"/>
                <a:cs typeface="Arial"/>
              </a:rPr>
              <a:t>232</a:t>
            </a:r>
            <a:endParaRPr sz="17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2193"/>
              </a:lnSpc>
              <a:spcBef>
                <a:spcPts val="877"/>
              </a:spcBef>
              <a:tabLst/>
            </a:pPr>
            <a:r>
              <a:rPr sz="2600" kern="0" spc="30" baseline="7487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L</a:t>
            </a:r>
            <a:r>
              <a:rPr sz="2600" kern="0" spc="30" baseline="7487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1层</a:t>
            </a:r>
            <a:r>
              <a:rPr sz="1600" kern="0" spc="1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</a:t>
            </a:r>
            <a:r>
              <a:rPr sz="1600" kern="0" spc="30" dirty="0">
                <a:solidFill>
                  <a:srgbClr val="40D080">
                    <a:alpha val="100000"/>
                  </a:srgbClr>
                </a:solidFill>
                <a:latin typeface="Arial"/>
                <a:ea typeface="Arial"/>
                <a:cs typeface="Arial"/>
              </a:rPr>
              <a:t>082</a:t>
            </a:r>
            <a:endParaRPr sz="16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2317"/>
              </a:lnSpc>
              <a:spcBef>
                <a:spcPts val="264"/>
              </a:spcBef>
              <a:tabLst/>
            </a:pPr>
            <a:r>
              <a:rPr sz="1700" kern="0" spc="-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L</a:t>
            </a:r>
            <a:r>
              <a:rPr sz="1700" kern="0" spc="-1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-2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2层</a:t>
            </a:r>
            <a:r>
              <a:rPr sz="1700" kern="0" spc="5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</a:t>
            </a:r>
            <a:r>
              <a:rPr sz="1700" kern="0" spc="-20" dirty="0">
                <a:solidFill>
                  <a:srgbClr val="40D080">
                    <a:alpha val="100000"/>
                  </a:srgbClr>
                </a:solidFill>
                <a:latin typeface="Arial"/>
                <a:ea typeface="Arial"/>
                <a:cs typeface="Arial"/>
              </a:rPr>
              <a:t>025</a:t>
            </a:r>
            <a:endParaRPr sz="17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2317"/>
              </a:lnSpc>
              <a:spcBef>
                <a:spcPts val="683"/>
              </a:spcBef>
              <a:tabLst/>
            </a:pPr>
            <a:r>
              <a:rPr sz="1700" kern="0" spc="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L</a:t>
            </a:r>
            <a:r>
              <a:rPr sz="1700" kern="0" spc="2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3层</a:t>
            </a:r>
            <a:r>
              <a:rPr sz="1700" kern="0" spc="6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</a:t>
            </a:r>
            <a:r>
              <a:rPr sz="1700" kern="0" spc="20" dirty="0">
                <a:solidFill>
                  <a:srgbClr val="40D080">
                    <a:alpha val="100000"/>
                  </a:srgbClr>
                </a:solidFill>
                <a:latin typeface="Arial"/>
                <a:ea typeface="Arial"/>
                <a:cs typeface="Arial"/>
              </a:rPr>
              <a:t>052</a:t>
            </a:r>
            <a:endParaRPr sz="17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2317"/>
              </a:lnSpc>
              <a:spcBef>
                <a:spcPts val="333"/>
              </a:spcBef>
              <a:tabLst/>
            </a:pPr>
            <a:r>
              <a:rPr sz="1700" kern="0" spc="-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L4</a:t>
            </a:r>
            <a:r>
              <a:rPr sz="1700" kern="0" spc="-8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-5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层</a:t>
            </a:r>
            <a:r>
              <a:rPr sz="1700" kern="0" spc="15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</a:t>
            </a:r>
            <a:r>
              <a:rPr sz="1700" kern="0" spc="-50" dirty="0">
                <a:solidFill>
                  <a:srgbClr val="40D080">
                    <a:alpha val="100000"/>
                  </a:srgbClr>
                </a:solidFill>
                <a:latin typeface="Arial"/>
                <a:ea typeface="Arial"/>
                <a:cs typeface="Arial"/>
              </a:rPr>
              <a:t>028</a:t>
            </a:r>
            <a:endParaRPr sz="1700" dirty="0">
              <a:latin typeface="Arial"/>
              <a:ea typeface="Arial"/>
              <a:cs typeface="Arial"/>
            </a:endParaRPr>
          </a:p>
        </p:txBody>
      </p:sp>
      <p:sp>
        <p:nvSpPr>
          <p:cNvPr id="242" name="textbox 242"/>
          <p:cNvSpPr/>
          <p:nvPr/>
        </p:nvSpPr>
        <p:spPr>
          <a:xfrm>
            <a:off x="3003600" y="967766"/>
            <a:ext cx="3573145" cy="4654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15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/>
            </a:pPr>
            <a:r>
              <a:rPr sz="3000" kern="0" spc="-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(2)停车位数据的组织</a:t>
            </a:r>
            <a:endParaRPr sz="3000" dirty="0">
              <a:latin typeface="SimHei"/>
              <a:ea typeface="SimHei"/>
              <a:cs typeface="SimHei"/>
            </a:endParaRPr>
          </a:p>
        </p:txBody>
      </p:sp>
      <p:sp>
        <p:nvSpPr>
          <p:cNvPr id="244" name="textbox 244"/>
          <p:cNvSpPr/>
          <p:nvPr/>
        </p:nvSpPr>
        <p:spPr>
          <a:xfrm>
            <a:off x="3651239" y="2038544"/>
            <a:ext cx="1394460" cy="7397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559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indent="177164" algn="l" rtl="0" eaLnBrk="0">
              <a:lnSpc>
                <a:spcPct val="98000"/>
              </a:lnSpc>
              <a:tabLst/>
            </a:pPr>
            <a:r>
              <a:rPr sz="2400" kern="0" spc="-7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需要采集</a:t>
            </a:r>
            <a:r>
              <a:rPr sz="2400" kern="0" spc="2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 </a:t>
            </a:r>
            <a:r>
              <a:rPr sz="2400" kern="0" spc="-1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哪些数据?</a:t>
            </a:r>
            <a:endParaRPr sz="2400" dirty="0">
              <a:latin typeface="KaiTi"/>
              <a:ea typeface="KaiTi"/>
              <a:cs typeface="KaiTi"/>
            </a:endParaRPr>
          </a:p>
        </p:txBody>
      </p:sp>
      <p:sp>
        <p:nvSpPr>
          <p:cNvPr id="246" name="textbox 246"/>
          <p:cNvSpPr/>
          <p:nvPr/>
        </p:nvSpPr>
        <p:spPr>
          <a:xfrm>
            <a:off x="9674308" y="2575221"/>
            <a:ext cx="469265" cy="181863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0650" algn="l" rtl="0" eaLnBrk="0">
              <a:lnSpc>
                <a:spcPts val="2485"/>
              </a:lnSpc>
              <a:tabLst/>
            </a:pP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层</a:t>
            </a:r>
            <a:endParaRPr sz="2000" dirty="0">
              <a:latin typeface="KaiTi"/>
              <a:ea typeface="KaiTi"/>
              <a:cs typeface="KaiTi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00000"/>
              </a:lnSpc>
              <a:spcBef>
                <a:spcPts val="5"/>
              </a:spcBef>
              <a:tabLst/>
            </a:pPr>
            <a:r>
              <a:rPr sz="1800" b="1" kern="0" spc="-5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状态</a:t>
            </a:r>
            <a:endParaRPr sz="1800" dirty="0">
              <a:latin typeface="KaiTi"/>
              <a:ea typeface="KaiTi"/>
              <a:cs typeface="KaiTi"/>
            </a:endParaRPr>
          </a:p>
        </p:txBody>
      </p:sp>
      <p:sp>
        <p:nvSpPr>
          <p:cNvPr id="248" name="textbox 248"/>
          <p:cNvSpPr/>
          <p:nvPr/>
        </p:nvSpPr>
        <p:spPr>
          <a:xfrm>
            <a:off x="9594839" y="384499"/>
            <a:ext cx="2174875" cy="3670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58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tabLst/>
            </a:pPr>
            <a:r>
              <a:rPr sz="2300" kern="0" spc="11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基础教育精品课</a:t>
            </a:r>
            <a:endParaRPr sz="2300" dirty="0">
              <a:latin typeface="SimHei"/>
              <a:ea typeface="SimHei"/>
              <a:cs typeface="SimHei"/>
            </a:endParaRPr>
          </a:p>
        </p:txBody>
      </p:sp>
      <p:sp>
        <p:nvSpPr>
          <p:cNvPr id="250" name="textbox 250"/>
          <p:cNvSpPr/>
          <p:nvPr/>
        </p:nvSpPr>
        <p:spPr>
          <a:xfrm>
            <a:off x="7934388" y="4850262"/>
            <a:ext cx="1398905" cy="2946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27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8000"/>
              </a:lnSpc>
              <a:tabLst/>
            </a:pPr>
            <a:r>
              <a:rPr sz="1800" b="1" kern="0" spc="-2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车位占用情况</a:t>
            </a:r>
            <a:endParaRPr sz="1800" dirty="0">
              <a:latin typeface="KaiTi"/>
              <a:ea typeface="KaiTi"/>
              <a:cs typeface="KaiTi"/>
            </a:endParaRPr>
          </a:p>
        </p:txBody>
      </p:sp>
      <p:sp>
        <p:nvSpPr>
          <p:cNvPr id="252" name="textbox 252"/>
          <p:cNvSpPr/>
          <p:nvPr/>
        </p:nvSpPr>
        <p:spPr>
          <a:xfrm>
            <a:off x="8150308" y="1845749"/>
            <a:ext cx="935355" cy="2940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41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8000"/>
              </a:lnSpc>
              <a:tabLst/>
            </a:pPr>
            <a:r>
              <a:rPr sz="1800" b="1" kern="0" spc="-3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采集时间</a:t>
            </a:r>
            <a:endParaRPr sz="1800" dirty="0">
              <a:latin typeface="KaiTi"/>
              <a:ea typeface="KaiTi"/>
              <a:cs typeface="KaiT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4" name="picture 25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sp>
        <p:nvSpPr>
          <p:cNvPr id="256" name="rect 256"/>
          <p:cNvSpPr/>
          <p:nvPr/>
        </p:nvSpPr>
        <p:spPr>
          <a:xfrm>
            <a:off x="44500" y="0"/>
            <a:ext cx="12128479" cy="850872"/>
          </a:xfrm>
          <a:prstGeom prst="rect">
            <a:avLst/>
          </a:prstGeom>
          <a:solidFill>
            <a:srgbClr val="37544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58" name="textbox 258"/>
          <p:cNvSpPr/>
          <p:nvPr/>
        </p:nvSpPr>
        <p:spPr>
          <a:xfrm>
            <a:off x="7083871" y="4850262"/>
            <a:ext cx="3080385" cy="13500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27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862964" algn="l" rtl="0" eaLnBrk="0">
              <a:lnSpc>
                <a:spcPct val="98000"/>
              </a:lnSpc>
              <a:tabLst/>
            </a:pPr>
            <a:r>
              <a:rPr sz="1800" b="1" kern="0" spc="-2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车位占用情况</a:t>
            </a:r>
            <a:endParaRPr sz="1800" dirty="0">
              <a:latin typeface="KaiTi"/>
              <a:ea typeface="KaiTi"/>
              <a:cs typeface="KaiTi"/>
            </a:endParaRPr>
          </a:p>
          <a:p>
            <a:pPr marL="12700" algn="l" rtl="0" eaLnBrk="0">
              <a:lnSpc>
                <a:spcPct val="98000"/>
              </a:lnSpc>
              <a:spcBef>
                <a:spcPts val="1238"/>
              </a:spcBef>
              <a:tabLst/>
            </a:pPr>
            <a:r>
              <a:rPr sz="2000" b="1" kern="0" spc="-1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停车位使用实时数据结构图</a:t>
            </a:r>
            <a:endParaRPr sz="2000" dirty="0">
              <a:latin typeface="KaiTi"/>
              <a:ea typeface="KaiTi"/>
              <a:cs typeface="KaiTi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300" dirty="0">
              <a:latin typeface="Arial"/>
              <a:ea typeface="Arial"/>
              <a:cs typeface="Arial"/>
            </a:endParaRPr>
          </a:p>
          <a:p>
            <a:pPr marL="840739" algn="l" rtl="0" eaLnBrk="0">
              <a:lnSpc>
                <a:spcPts val="3141"/>
              </a:lnSpc>
              <a:spcBef>
                <a:spcPts val="3"/>
              </a:spcBef>
              <a:tabLst/>
            </a:pPr>
            <a:r>
              <a:rPr sz="2600" kern="0" spc="170" dirty="0">
                <a:solidFill>
                  <a:srgbClr val="FF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结构化数据</a:t>
            </a:r>
            <a:endParaRPr sz="2600" dirty="0">
              <a:latin typeface="KaiTi"/>
              <a:ea typeface="KaiTi"/>
              <a:cs typeface="KaiTi"/>
            </a:endParaRPr>
          </a:p>
        </p:txBody>
      </p:sp>
      <p:sp>
        <p:nvSpPr>
          <p:cNvPr id="260" name="textbox 260"/>
          <p:cNvSpPr/>
          <p:nvPr/>
        </p:nvSpPr>
        <p:spPr>
          <a:xfrm>
            <a:off x="7083508" y="2599398"/>
            <a:ext cx="2107564" cy="17926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71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7465" algn="l" rtl="0" eaLnBrk="0">
              <a:lnSpc>
                <a:spcPct val="99000"/>
              </a:lnSpc>
              <a:tabLst/>
            </a:pPr>
            <a:r>
              <a:rPr sz="1800" b="1" kern="0" spc="-5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区域</a:t>
            </a:r>
            <a:endParaRPr sz="1800" dirty="0">
              <a:latin typeface="KaiTi"/>
              <a:ea typeface="KaiTi"/>
              <a:cs typeface="KaiTi"/>
            </a:endParaRPr>
          </a:p>
          <a:p>
            <a:pPr algn="l" rtl="0" eaLnBrk="0">
              <a:lnSpc>
                <a:spcPct val="18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091564" indent="-132714" algn="l" rtl="0" eaLnBrk="0">
              <a:lnSpc>
                <a:spcPct val="99000"/>
              </a:lnSpc>
              <a:spcBef>
                <a:spcPts val="547"/>
              </a:spcBef>
              <a:tabLst/>
            </a:pPr>
            <a:r>
              <a:rPr sz="1800" b="1" kern="0" spc="-3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停车位使用</a:t>
            </a:r>
            <a:r>
              <a:rPr sz="1800" kern="0" spc="1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 </a:t>
            </a:r>
            <a:r>
              <a:rPr sz="1800" b="1" kern="0" spc="-5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实时数据</a:t>
            </a:r>
            <a:endParaRPr sz="1800" dirty="0">
              <a:latin typeface="KaiTi"/>
              <a:ea typeface="KaiTi"/>
              <a:cs typeface="KaiTi"/>
            </a:endParaRPr>
          </a:p>
          <a:p>
            <a:pPr algn="l" rtl="0" eaLnBrk="0">
              <a:lnSpc>
                <a:spcPct val="17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spcBef>
                <a:spcPts val="3"/>
              </a:spcBef>
              <a:tabLst/>
            </a:pPr>
            <a:r>
              <a:rPr sz="1800" b="1" kern="0" spc="-5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编号</a:t>
            </a:r>
            <a:endParaRPr sz="1800" dirty="0">
              <a:latin typeface="KaiTi"/>
              <a:ea typeface="KaiTi"/>
              <a:cs typeface="KaiTi"/>
            </a:endParaRPr>
          </a:p>
        </p:txBody>
      </p:sp>
      <p:pic>
        <p:nvPicPr>
          <p:cNvPr id="262" name="picture 26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168359" y="3924284"/>
            <a:ext cx="2006681" cy="1136644"/>
          </a:xfrm>
          <a:prstGeom prst="rect">
            <a:avLst/>
          </a:prstGeom>
        </p:spPr>
      </p:pic>
      <p:pic>
        <p:nvPicPr>
          <p:cNvPr id="264" name="picture 26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143000" y="2171723"/>
            <a:ext cx="2012899" cy="1123957"/>
          </a:xfrm>
          <a:prstGeom prst="rect">
            <a:avLst/>
          </a:prstGeom>
        </p:spPr>
      </p:pic>
      <p:sp>
        <p:nvSpPr>
          <p:cNvPr id="266" name="textbox 266"/>
          <p:cNvSpPr/>
          <p:nvPr/>
        </p:nvSpPr>
        <p:spPr>
          <a:xfrm>
            <a:off x="3003600" y="967766"/>
            <a:ext cx="3573145" cy="4654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15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/>
            </a:pPr>
            <a:r>
              <a:rPr sz="3000" kern="0" spc="-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(2)停车位数据的组织</a:t>
            </a:r>
            <a:endParaRPr sz="3000" dirty="0">
              <a:latin typeface="SimHei"/>
              <a:ea typeface="SimHei"/>
              <a:cs typeface="SimHei"/>
            </a:endParaRPr>
          </a:p>
        </p:txBody>
      </p:sp>
      <p:pic>
        <p:nvPicPr>
          <p:cNvPr id="268" name="picture 26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3860840" y="2082774"/>
            <a:ext cx="901720" cy="1181153"/>
          </a:xfrm>
          <a:prstGeom prst="rect">
            <a:avLst/>
          </a:prstGeom>
        </p:spPr>
      </p:pic>
      <p:pic>
        <p:nvPicPr>
          <p:cNvPr id="270" name="picture 27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3803660" y="3936972"/>
            <a:ext cx="914400" cy="1111270"/>
          </a:xfrm>
          <a:prstGeom prst="rect">
            <a:avLst/>
          </a:prstGeom>
        </p:spPr>
      </p:pic>
      <p:sp>
        <p:nvSpPr>
          <p:cNvPr id="272" name="textbox 272"/>
          <p:cNvSpPr/>
          <p:nvPr/>
        </p:nvSpPr>
        <p:spPr>
          <a:xfrm>
            <a:off x="9674308" y="2575221"/>
            <a:ext cx="469265" cy="181863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0650" algn="l" rtl="0" eaLnBrk="0">
              <a:lnSpc>
                <a:spcPts val="2485"/>
              </a:lnSpc>
              <a:tabLst/>
            </a:pP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层</a:t>
            </a:r>
            <a:endParaRPr sz="2000" dirty="0">
              <a:latin typeface="KaiTi"/>
              <a:ea typeface="KaiTi"/>
              <a:cs typeface="KaiTi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00000"/>
              </a:lnSpc>
              <a:spcBef>
                <a:spcPts val="5"/>
              </a:spcBef>
              <a:tabLst/>
            </a:pPr>
            <a:r>
              <a:rPr sz="1800" b="1" kern="0" spc="-5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状态</a:t>
            </a:r>
            <a:endParaRPr sz="1800" dirty="0">
              <a:latin typeface="KaiTi"/>
              <a:ea typeface="KaiTi"/>
              <a:cs typeface="KaiTi"/>
            </a:endParaRPr>
          </a:p>
        </p:txBody>
      </p:sp>
      <p:sp>
        <p:nvSpPr>
          <p:cNvPr id="274" name="textbox 274"/>
          <p:cNvSpPr/>
          <p:nvPr/>
        </p:nvSpPr>
        <p:spPr>
          <a:xfrm>
            <a:off x="1790740" y="5788286"/>
            <a:ext cx="2148204" cy="4248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3141"/>
              </a:lnSpc>
              <a:tabLst/>
            </a:pPr>
            <a:r>
              <a:rPr sz="2600" kern="0" spc="180" dirty="0">
                <a:solidFill>
                  <a:srgbClr val="FF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非结构化数据</a:t>
            </a:r>
            <a:endParaRPr sz="2600" dirty="0">
              <a:latin typeface="KaiTi"/>
              <a:ea typeface="KaiTi"/>
              <a:cs typeface="KaiTi"/>
            </a:endParaRPr>
          </a:p>
        </p:txBody>
      </p:sp>
      <p:sp>
        <p:nvSpPr>
          <p:cNvPr id="276" name="textbox 276"/>
          <p:cNvSpPr/>
          <p:nvPr/>
        </p:nvSpPr>
        <p:spPr>
          <a:xfrm>
            <a:off x="9594839" y="384499"/>
            <a:ext cx="2174875" cy="3670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58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tabLst/>
            </a:pPr>
            <a:r>
              <a:rPr sz="2300" kern="0" spc="11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基础教育精品课</a:t>
            </a:r>
            <a:endParaRPr sz="2300" dirty="0">
              <a:latin typeface="SimHei"/>
              <a:ea typeface="SimHei"/>
              <a:cs typeface="SimHei"/>
            </a:endParaRPr>
          </a:p>
        </p:txBody>
      </p:sp>
      <p:sp>
        <p:nvSpPr>
          <p:cNvPr id="278" name="textbox 278"/>
          <p:cNvSpPr/>
          <p:nvPr/>
        </p:nvSpPr>
        <p:spPr>
          <a:xfrm>
            <a:off x="3676598" y="5089316"/>
            <a:ext cx="1155064" cy="2336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635"/>
              </a:lnSpc>
              <a:tabLst/>
            </a:pPr>
            <a:r>
              <a:rPr sz="1200" kern="0" spc="-60" dirty="0">
                <a:solidFill>
                  <a:srgbClr val="2070D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3</a:t>
            </a:r>
            <a:r>
              <a:rPr sz="1200" kern="0" spc="340" dirty="0">
                <a:solidFill>
                  <a:srgbClr val="2070D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200" kern="0" spc="-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教学设计.</a:t>
            </a:r>
            <a:r>
              <a:rPr sz="1200" kern="0" spc="-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docx</a:t>
            </a:r>
            <a:endParaRPr sz="1200" dirty="0">
              <a:latin typeface="Arial"/>
              <a:ea typeface="Arial"/>
              <a:cs typeface="Arial"/>
            </a:endParaRPr>
          </a:p>
        </p:txBody>
      </p:sp>
      <p:sp>
        <p:nvSpPr>
          <p:cNvPr id="280" name="textbox 280"/>
          <p:cNvSpPr/>
          <p:nvPr/>
        </p:nvSpPr>
        <p:spPr>
          <a:xfrm>
            <a:off x="3848140" y="3345390"/>
            <a:ext cx="1021714" cy="2508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771"/>
              </a:lnSpc>
              <a:tabLst/>
            </a:pPr>
            <a:r>
              <a:rPr sz="1300" kern="0" spc="-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侗</a:t>
            </a:r>
            <a:r>
              <a:rPr sz="1300" kern="0" spc="-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族大歌.</a:t>
            </a:r>
            <a:r>
              <a:rPr sz="1300" kern="0" spc="-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mp</a:t>
            </a:r>
            <a:r>
              <a:rPr sz="1300" kern="0" spc="-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3</a:t>
            </a:r>
            <a:endParaRPr sz="1300" dirty="0">
              <a:latin typeface="Arial"/>
              <a:ea typeface="Arial"/>
              <a:cs typeface="Arial"/>
            </a:endParaRPr>
          </a:p>
        </p:txBody>
      </p:sp>
      <p:sp>
        <p:nvSpPr>
          <p:cNvPr id="282" name="textbox 282"/>
          <p:cNvSpPr/>
          <p:nvPr/>
        </p:nvSpPr>
        <p:spPr>
          <a:xfrm>
            <a:off x="8150308" y="1845749"/>
            <a:ext cx="935355" cy="2940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41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8000"/>
              </a:lnSpc>
              <a:tabLst/>
            </a:pPr>
            <a:r>
              <a:rPr sz="1800" b="1" kern="0" spc="-3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采集时间</a:t>
            </a:r>
            <a:endParaRPr sz="1800" dirty="0">
              <a:latin typeface="KaiTi"/>
              <a:ea typeface="KaiTi"/>
              <a:cs typeface="KaiTi"/>
            </a:endParaRPr>
          </a:p>
        </p:txBody>
      </p:sp>
      <p:sp>
        <p:nvSpPr>
          <p:cNvPr id="284" name="textbox 284"/>
          <p:cNvSpPr/>
          <p:nvPr/>
        </p:nvSpPr>
        <p:spPr>
          <a:xfrm>
            <a:off x="1898639" y="5142153"/>
            <a:ext cx="504825" cy="1727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58"/>
              </a:lnSpc>
              <a:tabLst/>
            </a:pPr>
            <a:r>
              <a:rPr sz="800" kern="0" spc="40" dirty="0">
                <a:solidFill>
                  <a:srgbClr val="20704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◎</a:t>
            </a:r>
            <a:r>
              <a:rPr sz="800" kern="0" spc="-250" dirty="0">
                <a:solidFill>
                  <a:srgbClr val="20704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8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旅行</a:t>
            </a:r>
            <a:r>
              <a:rPr sz="8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jpg</a:t>
            </a:r>
            <a:endParaRPr sz="800" dirty="0">
              <a:latin typeface="Arial"/>
              <a:ea typeface="Arial"/>
              <a:cs typeface="Arial"/>
            </a:endParaRPr>
          </a:p>
        </p:txBody>
      </p:sp>
      <p:sp>
        <p:nvSpPr>
          <p:cNvPr id="286" name="textbox 286"/>
          <p:cNvSpPr/>
          <p:nvPr/>
        </p:nvSpPr>
        <p:spPr>
          <a:xfrm>
            <a:off x="1917659" y="3339893"/>
            <a:ext cx="457200" cy="1727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58"/>
              </a:lnSpc>
              <a:tabLst/>
            </a:pPr>
            <a:r>
              <a:rPr sz="8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录像.</a:t>
            </a:r>
            <a:r>
              <a:rPr sz="8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mp4</a:t>
            </a:r>
            <a:endParaRPr sz="8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8" name="picture 28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pic>
        <p:nvPicPr>
          <p:cNvPr id="290" name="picture 29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469879" y="2101839"/>
            <a:ext cx="4749881" cy="2539997"/>
          </a:xfrm>
          <a:prstGeom prst="rect">
            <a:avLst/>
          </a:prstGeom>
        </p:spPr>
      </p:pic>
      <p:graphicFrame>
        <p:nvGraphicFramePr>
          <p:cNvPr id="292" name="table 292"/>
          <p:cNvGraphicFramePr>
            <a:graphicFrameLocks noGrp="1"/>
          </p:cNvGraphicFramePr>
          <p:nvPr/>
        </p:nvGraphicFramePr>
        <p:xfrm>
          <a:off x="5426044" y="2473317"/>
          <a:ext cx="5715000" cy="2057400"/>
        </p:xfrm>
        <a:graphic>
          <a:graphicData uri="http://schemas.openxmlformats.org/drawingml/2006/table">
            <a:tbl>
              <a:tblPr/>
              <a:tblGrid>
                <a:gridCol w="701675"/>
                <a:gridCol w="1517650"/>
                <a:gridCol w="698500"/>
                <a:gridCol w="679450"/>
                <a:gridCol w="711200"/>
                <a:gridCol w="711200"/>
                <a:gridCol w="695325"/>
              </a:tblGrid>
              <a:tr h="314325">
                <a:tc gridSpan="4"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14629" algn="l" rtl="0" eaLnBrk="0">
                        <a:lnSpc>
                          <a:spcPts val="1531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900" b="1" kern="0" spc="40" baseline="3767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序号</a:t>
                      </a:r>
                      <a:r>
                        <a:rPr sz="1200" kern="0" spc="4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       </a:t>
                      </a:r>
                      <a:r>
                        <a:rPr sz="1200" b="1" kern="0" spc="4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采集时</a:t>
                      </a:r>
                      <a:r>
                        <a:rPr sz="1200" b="1" kern="0" spc="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间</a:t>
                      </a:r>
                      <a:r>
                        <a:rPr sz="1200" kern="0" spc="6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       </a:t>
                      </a:r>
                      <a:r>
                        <a:rPr sz="1200" kern="0" spc="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层      区域</a:t>
                      </a:r>
                      <a:endParaRPr sz="12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98754" algn="l" rtl="0" eaLnBrk="0">
                        <a:lnSpc>
                          <a:spcPct val="98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b="1" kern="0" spc="6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编号</a:t>
                      </a:r>
                      <a:endParaRPr sz="12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ts val="1798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400" b="1" kern="0" spc="-6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车位占用状情态况</a:t>
                      </a:r>
                      <a:endParaRPr sz="14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07975" algn="l" rtl="0" eaLnBrk="0">
                        <a:lnSpc>
                          <a:spcPct val="82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1</a:t>
                      </a:r>
                      <a:endParaRPr sz="12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2550" algn="l" rtl="0" eaLnBrk="0">
                        <a:lnSpc>
                          <a:spcPct val="82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2016-12-814:30:00</a:t>
                      </a:r>
                      <a:endParaRPr sz="12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0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66700" algn="l" rtl="0" eaLnBrk="0">
                        <a:lnSpc>
                          <a:spcPct val="68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B1</a:t>
                      </a:r>
                      <a:endParaRPr sz="12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0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97815" algn="l" rtl="0" eaLnBrk="0">
                        <a:lnSpc>
                          <a:spcPct val="68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A</a:t>
                      </a:r>
                      <a:endParaRPr sz="12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73050" algn="l" rtl="0" eaLnBrk="0">
                        <a:lnSpc>
                          <a:spcPct val="82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10</a:t>
                      </a:r>
                      <a:endParaRPr sz="12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11150" algn="l" rtl="0" eaLnBrk="0">
                        <a:lnSpc>
                          <a:spcPct val="82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</a:t>
                      </a:r>
                      <a:endParaRPr sz="12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84150" algn="l" rtl="0" eaLnBrk="0">
                        <a:lnSpc>
                          <a:spcPct val="90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内部</a:t>
                      </a:r>
                      <a:endParaRPr sz="12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07340" algn="l" rtl="0" eaLnBrk="0">
                        <a:lnSpc>
                          <a:spcPct val="85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2</a:t>
                      </a:r>
                      <a:endParaRPr sz="12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2550" algn="l" rtl="0" eaLnBrk="0">
                        <a:lnSpc>
                          <a:spcPct val="85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2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2016-12-814:30:00</a:t>
                      </a:r>
                      <a:endParaRPr sz="12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7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66700" algn="l" rtl="0" eaLnBrk="0">
                        <a:lnSpc>
                          <a:spcPct val="72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B1</a:t>
                      </a:r>
                      <a:endParaRPr sz="12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7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97815" algn="l" rtl="0" eaLnBrk="0">
                        <a:lnSpc>
                          <a:spcPct val="72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200" kern="0" spc="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A</a:t>
                      </a:r>
                      <a:endParaRPr sz="12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73050" algn="l" rtl="0" eaLnBrk="0">
                        <a:lnSpc>
                          <a:spcPct val="85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200" kern="0" spc="-30" dirty="0">
                          <a:solidFill>
                            <a:srgbClr val="2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11</a:t>
                      </a:r>
                      <a:endParaRPr sz="12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11150" algn="l" rtl="0" eaLnBrk="0">
                        <a:lnSpc>
                          <a:spcPct val="85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</a:t>
                      </a:r>
                      <a:endParaRPr sz="12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84150" algn="l" rtl="0" eaLnBrk="0">
                        <a:lnSpc>
                          <a:spcPct val="94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2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内部</a:t>
                      </a:r>
                      <a:endParaRPr sz="12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13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07975" algn="l" rtl="0" eaLnBrk="0">
                        <a:lnSpc>
                          <a:spcPct val="95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3</a:t>
                      </a:r>
                      <a:endParaRPr sz="12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2550" algn="l" rtl="0" eaLnBrk="0">
                        <a:lnSpc>
                          <a:spcPct val="95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2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2016-12-814:30:00</a:t>
                      </a:r>
                      <a:endParaRPr sz="12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66700" algn="l" rtl="0" eaLnBrk="0">
                        <a:lnSpc>
                          <a:spcPct val="81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B1</a:t>
                      </a:r>
                      <a:endParaRPr sz="12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97815" algn="l" rtl="0" eaLnBrk="0">
                        <a:lnSpc>
                          <a:spcPct val="80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B</a:t>
                      </a:r>
                      <a:endParaRPr sz="12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11150" algn="l" rtl="0" eaLnBrk="0">
                        <a:lnSpc>
                          <a:spcPct val="95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1</a:t>
                      </a:r>
                      <a:endParaRPr sz="12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11150" algn="l" rtl="0" eaLnBrk="0">
                        <a:lnSpc>
                          <a:spcPct val="95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1</a:t>
                      </a:r>
                      <a:endParaRPr sz="12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9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84150" algn="l" rtl="0" eaLnBrk="0">
                        <a:lnSpc>
                          <a:spcPct val="99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开放</a:t>
                      </a:r>
                      <a:endParaRPr sz="12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5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07975" algn="l" rtl="0" eaLnBrk="0">
                        <a:lnSpc>
                          <a:spcPct val="85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4</a:t>
                      </a:r>
                      <a:endParaRPr sz="12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5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2550" algn="l" rtl="0" eaLnBrk="0">
                        <a:lnSpc>
                          <a:spcPct val="85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2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2016-12-814:30:00</a:t>
                      </a:r>
                      <a:endParaRPr sz="12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66700" algn="l" rtl="0" eaLnBrk="0">
                        <a:lnSpc>
                          <a:spcPct val="72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B1</a:t>
                      </a:r>
                      <a:endParaRPr sz="12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97815" algn="l" rtl="0" eaLnBrk="0">
                        <a:lnSpc>
                          <a:spcPct val="71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C</a:t>
                      </a:r>
                      <a:endParaRPr sz="12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5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11150" algn="l" rtl="0" eaLnBrk="0">
                        <a:lnSpc>
                          <a:spcPct val="85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1</a:t>
                      </a:r>
                      <a:endParaRPr sz="12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5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11150" algn="l" rtl="0" eaLnBrk="0">
                        <a:lnSpc>
                          <a:spcPct val="85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1</a:t>
                      </a:r>
                      <a:endParaRPr sz="12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5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84150" algn="l" rtl="0" eaLnBrk="0">
                        <a:lnSpc>
                          <a:spcPct val="93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开放</a:t>
                      </a:r>
                      <a:endParaRPr sz="12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22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0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07975" algn="l" rtl="0" eaLnBrk="0">
                        <a:lnSpc>
                          <a:spcPct val="88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5</a:t>
                      </a:r>
                      <a:endParaRPr sz="12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0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2550" algn="l" rtl="0" eaLnBrk="0">
                        <a:lnSpc>
                          <a:spcPct val="88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2016-12-814:30:00</a:t>
                      </a:r>
                      <a:endParaRPr sz="12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66700" algn="l" rtl="0" eaLnBrk="0">
                        <a:lnSpc>
                          <a:spcPct val="75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B1</a:t>
                      </a:r>
                      <a:endParaRPr sz="12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97815" algn="l" rtl="0" eaLnBrk="0">
                        <a:lnSpc>
                          <a:spcPct val="74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D</a:t>
                      </a:r>
                      <a:endParaRPr sz="12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0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11150" algn="l" rtl="0" eaLnBrk="0">
                        <a:lnSpc>
                          <a:spcPct val="88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1</a:t>
                      </a:r>
                      <a:endParaRPr sz="12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0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11150" algn="l" rtl="0" eaLnBrk="0">
                        <a:lnSpc>
                          <a:spcPct val="88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1</a:t>
                      </a:r>
                      <a:endParaRPr sz="12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6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84150" algn="l" rtl="0" eaLnBrk="0">
                        <a:lnSpc>
                          <a:spcPct val="9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开放</a:t>
                      </a:r>
                      <a:endParaRPr sz="12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22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0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07975" algn="l" rtl="0" eaLnBrk="0">
                        <a:lnSpc>
                          <a:spcPct val="88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6</a:t>
                      </a:r>
                      <a:endParaRPr sz="12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0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2550" algn="l" rtl="0" eaLnBrk="0">
                        <a:lnSpc>
                          <a:spcPct val="88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2016-12-814:30:00</a:t>
                      </a:r>
                      <a:endParaRPr sz="12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66700" algn="l" rtl="0" eaLnBrk="0">
                        <a:lnSpc>
                          <a:spcPct val="75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B1</a:t>
                      </a:r>
                      <a:endParaRPr sz="12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97815" algn="l" rtl="0" eaLnBrk="0">
                        <a:lnSpc>
                          <a:spcPct val="74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D</a:t>
                      </a:r>
                      <a:endParaRPr sz="12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0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11150" algn="l" rtl="0" eaLnBrk="0">
                        <a:lnSpc>
                          <a:spcPct val="88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2</a:t>
                      </a:r>
                      <a:endParaRPr sz="12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0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11150" algn="l" rtl="0" eaLnBrk="0">
                        <a:lnSpc>
                          <a:spcPct val="88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</a:t>
                      </a:r>
                      <a:endParaRPr sz="12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6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84150" algn="l" rtl="0" eaLnBrk="0">
                        <a:lnSpc>
                          <a:spcPct val="9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开放</a:t>
                      </a:r>
                      <a:endParaRPr sz="12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22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0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07975" algn="l" rtl="0" eaLnBrk="0">
                        <a:lnSpc>
                          <a:spcPct val="88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7</a:t>
                      </a:r>
                      <a:endParaRPr sz="12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0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2550" algn="l" rtl="0" eaLnBrk="0">
                        <a:lnSpc>
                          <a:spcPct val="88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2016-12-814:30:00</a:t>
                      </a:r>
                      <a:endParaRPr sz="12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66700" algn="l" rtl="0" eaLnBrk="0">
                        <a:lnSpc>
                          <a:spcPct val="75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B2</a:t>
                      </a:r>
                      <a:endParaRPr sz="12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97815" algn="l" rtl="0" eaLnBrk="0">
                        <a:lnSpc>
                          <a:spcPct val="75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A</a:t>
                      </a:r>
                      <a:endParaRPr sz="12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0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11150" algn="l" rtl="0" eaLnBrk="0">
                        <a:lnSpc>
                          <a:spcPct val="88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1</a:t>
                      </a:r>
                      <a:endParaRPr sz="12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0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11150" algn="l" rtl="0" eaLnBrk="0">
                        <a:lnSpc>
                          <a:spcPct val="88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</a:t>
                      </a:r>
                      <a:endParaRPr sz="12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6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84150" algn="l" rtl="0" eaLnBrk="0">
                        <a:lnSpc>
                          <a:spcPct val="9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关闭</a:t>
                      </a:r>
                      <a:endParaRPr sz="12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17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7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07975" algn="l" rtl="0" eaLnBrk="0">
                        <a:lnSpc>
                          <a:spcPct val="94000"/>
                        </a:lnSpc>
                        <a:tabLst/>
                      </a:pP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8</a:t>
                      </a:r>
                      <a:endParaRPr sz="12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7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2550" algn="l" rtl="0" eaLnBrk="0">
                        <a:lnSpc>
                          <a:spcPct val="94000"/>
                        </a:lnSpc>
                        <a:tabLst/>
                      </a:pPr>
                      <a:r>
                        <a:rPr sz="12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2016-12-814:30:00</a:t>
                      </a:r>
                      <a:endParaRPr sz="12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66700" algn="l" rtl="0" eaLnBrk="0">
                        <a:lnSpc>
                          <a:spcPct val="80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B2</a:t>
                      </a:r>
                      <a:endParaRPr sz="12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97815" algn="l" rtl="0" eaLnBrk="0">
                        <a:lnSpc>
                          <a:spcPct val="81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A</a:t>
                      </a:r>
                      <a:endParaRPr sz="12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7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11150" algn="l" rtl="0" eaLnBrk="0">
                        <a:lnSpc>
                          <a:spcPct val="94000"/>
                        </a:lnSpc>
                        <a:tabLst/>
                      </a:pP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2</a:t>
                      </a:r>
                      <a:endParaRPr sz="12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7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11150" algn="l" rtl="0" eaLnBrk="0">
                        <a:lnSpc>
                          <a:spcPct val="94000"/>
                        </a:lnSpc>
                        <a:tabLst/>
                      </a:pP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</a:t>
                      </a:r>
                      <a:endParaRPr sz="12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4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84150" algn="l" rtl="0" eaLnBrk="0">
                        <a:lnSpc>
                          <a:spcPct val="99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2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关闭</a:t>
                      </a:r>
                      <a:endParaRPr sz="12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94" name="table 294"/>
          <p:cNvGraphicFramePr>
            <a:graphicFrameLocks noGrp="1"/>
          </p:cNvGraphicFramePr>
          <p:nvPr/>
        </p:nvGraphicFramePr>
        <p:xfrm>
          <a:off x="857219" y="2190068"/>
          <a:ext cx="4117340" cy="2426970"/>
        </p:xfrm>
        <a:graphic>
          <a:graphicData uri="http://schemas.openxmlformats.org/drawingml/2006/table">
            <a:tbl>
              <a:tblPr/>
              <a:tblGrid>
                <a:gridCol w="2306320"/>
                <a:gridCol w="1811020"/>
              </a:tblGrid>
              <a:tr h="2426970">
                <a:tc>
                  <a:txBody>
                    <a:bodyPr/>
                    <a:lstStyle/>
                    <a:p>
                      <a:pPr marL="717550" algn="l" rtl="0" eaLnBrk="0">
                        <a:lnSpc>
                          <a:spcPts val="1576"/>
                        </a:lnSpc>
                        <a:tabLst/>
                      </a:pPr>
                      <a:r>
                        <a:rPr sz="13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KaiTi"/>
                          <a:ea typeface="KaiTi"/>
                          <a:cs typeface="KaiTi"/>
                        </a:rPr>
                        <a:t>采集时间</a:t>
                      </a:r>
                      <a:endParaRPr sz="1300" dirty="0">
                        <a:latin typeface="KaiTi"/>
                        <a:ea typeface="KaiTi"/>
                        <a:cs typeface="KaiTi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822450" algn="l" rtl="0" eaLnBrk="0">
                        <a:lnSpc>
                          <a:spcPts val="1667"/>
                        </a:lnSpc>
                        <a:spcBef>
                          <a:spcPts val="396"/>
                        </a:spcBef>
                        <a:tabLst/>
                      </a:pPr>
                      <a:r>
                        <a:rPr sz="13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KaiTi"/>
                          <a:ea typeface="KaiTi"/>
                          <a:cs typeface="KaiTi"/>
                        </a:rPr>
                        <a:t>层</a:t>
                      </a:r>
                      <a:endParaRPr sz="1300" dirty="0">
                        <a:latin typeface="KaiTi"/>
                        <a:ea typeface="KaiTi"/>
                        <a:cs typeface="KaiTi"/>
                      </a:endParaRPr>
                    </a:p>
                    <a:p>
                      <a:pPr algn="l" rtl="0" eaLnBrk="0">
                        <a:lnSpc>
                          <a:spcPct val="12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28650" algn="l" rtl="0" eaLnBrk="0">
                        <a:lnSpc>
                          <a:spcPct val="91000"/>
                        </a:lnSpc>
                        <a:spcBef>
                          <a:spcPts val="400"/>
                        </a:spcBef>
                        <a:tabLst/>
                      </a:pPr>
                      <a:r>
                        <a:rPr sz="1300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KaiTi"/>
                          <a:ea typeface="KaiTi"/>
                          <a:cs typeface="KaiTi"/>
                        </a:rPr>
                        <a:t>停车位使用</a:t>
                      </a:r>
                      <a:endParaRPr sz="1300" dirty="0">
                        <a:latin typeface="KaiTi"/>
                        <a:ea typeface="KaiTi"/>
                        <a:cs typeface="KaiTi"/>
                      </a:endParaRPr>
                    </a:p>
                    <a:p>
                      <a:pPr marL="730250" algn="l" rtl="0" eaLnBrk="0">
                        <a:lnSpc>
                          <a:spcPct val="100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300" kern="0" spc="-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KaiTi"/>
                          <a:ea typeface="KaiTi"/>
                          <a:cs typeface="KaiTi"/>
                        </a:rPr>
                        <a:t>实时数据</a:t>
                      </a:r>
                      <a:endParaRPr sz="1300" dirty="0">
                        <a:latin typeface="KaiTi"/>
                        <a:ea typeface="KaiTi"/>
                        <a:cs typeface="KaiTi"/>
                      </a:endParaRPr>
                    </a:p>
                    <a:p>
                      <a:pPr algn="l" rtl="0" eaLnBrk="0">
                        <a:lnSpc>
                          <a:spcPct val="15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746250" algn="l" rtl="0" eaLnBrk="0">
                        <a:lnSpc>
                          <a:spcPts val="1612"/>
                        </a:lnSpc>
                        <a:spcBef>
                          <a:spcPts val="402"/>
                        </a:spcBef>
                        <a:tabLst/>
                      </a:pPr>
                      <a:r>
                        <a:rPr sz="13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KaiTi"/>
                          <a:ea typeface="KaiTi"/>
                          <a:cs typeface="KaiTi"/>
                        </a:rPr>
                        <a:t>状态</a:t>
                      </a:r>
                      <a:endParaRPr sz="1300" dirty="0">
                        <a:latin typeface="KaiTi"/>
                        <a:ea typeface="KaiTi"/>
                        <a:cs typeface="KaiTi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65150" algn="l" rtl="0" eaLnBrk="0">
                        <a:lnSpc>
                          <a:spcPct val="8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300" kern="0" spc="-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KaiTi"/>
                          <a:ea typeface="KaiTi"/>
                          <a:cs typeface="KaiTi"/>
                        </a:rPr>
                        <a:t>车位占用情况</a:t>
                      </a:r>
                      <a:endParaRPr sz="1300" dirty="0">
                        <a:latin typeface="KaiTi"/>
                        <a:ea typeface="KaiTi"/>
                        <a:cs typeface="KaiT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27329" indent="74294" algn="l" rtl="0" eaLnBrk="0">
                        <a:lnSpc>
                          <a:spcPct val="100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800" kern="0" spc="-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KaiTi"/>
                          <a:ea typeface="KaiTi"/>
                          <a:cs typeface="KaiTi"/>
                        </a:rPr>
                        <a:t>在数据处理中，</a:t>
                      </a:r>
                      <a:r>
                        <a:rPr sz="18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KaiTi"/>
                          <a:ea typeface="KaiTi"/>
                          <a:cs typeface="KaiTi"/>
                        </a:rPr>
                        <a:t> </a:t>
                      </a:r>
                      <a:r>
                        <a:rPr sz="1800" kern="0" spc="-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KaiTi"/>
                          <a:ea typeface="KaiTi"/>
                          <a:cs typeface="KaiTi"/>
                        </a:rPr>
                        <a:t>通常以</a:t>
                      </a:r>
                      <a:r>
                        <a:rPr sz="1800" kern="0" spc="-7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KaiTi"/>
                          <a:ea typeface="KaiTi"/>
                          <a:cs typeface="KaiTi"/>
                        </a:rPr>
                        <a:t>关系表</a:t>
                      </a:r>
                      <a:r>
                        <a:rPr sz="1800" kern="0" spc="-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KaiTi"/>
                          <a:ea typeface="KaiTi"/>
                          <a:cs typeface="KaiTi"/>
                        </a:rPr>
                        <a:t>的</a:t>
                      </a:r>
                      <a:r>
                        <a:rPr sz="18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KaiTi"/>
                          <a:ea typeface="KaiTi"/>
                          <a:cs typeface="KaiTi"/>
                        </a:rPr>
                        <a:t> </a:t>
                      </a:r>
                      <a:r>
                        <a:rPr sz="18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KaiTi"/>
                          <a:ea typeface="KaiTi"/>
                          <a:cs typeface="KaiTi"/>
                        </a:rPr>
                        <a:t>形式组织数据</a:t>
                      </a:r>
                      <a:endParaRPr sz="1800" dirty="0">
                        <a:latin typeface="KaiTi"/>
                        <a:ea typeface="KaiTi"/>
                        <a:cs typeface="KaiT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296" name="textbox 296"/>
          <p:cNvSpPr/>
          <p:nvPr/>
        </p:nvSpPr>
        <p:spPr>
          <a:xfrm>
            <a:off x="5168900" y="5264393"/>
            <a:ext cx="6337300" cy="3155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77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tabLst/>
            </a:pPr>
            <a:r>
              <a:rPr sz="2000" kern="0" spc="-50" dirty="0">
                <a:solidFill>
                  <a:srgbClr val="FF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关系表：</a:t>
            </a:r>
            <a:r>
              <a:rPr sz="2000" kern="0" spc="-5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是一种规范化的二维表，符合关系模型的要求</a:t>
            </a:r>
            <a:r>
              <a:rPr sz="2000" kern="0" spc="-6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。</a:t>
            </a:r>
            <a:endParaRPr sz="2000" dirty="0">
              <a:latin typeface="KaiTi"/>
              <a:ea typeface="KaiTi"/>
              <a:cs typeface="KaiTi"/>
            </a:endParaRPr>
          </a:p>
        </p:txBody>
      </p:sp>
      <p:sp>
        <p:nvSpPr>
          <p:cNvPr id="298" name="textbox 298"/>
          <p:cNvSpPr/>
          <p:nvPr/>
        </p:nvSpPr>
        <p:spPr>
          <a:xfrm>
            <a:off x="3003600" y="967766"/>
            <a:ext cx="3573145" cy="4654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15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/>
            </a:pPr>
            <a:r>
              <a:rPr sz="3000" kern="0" spc="-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(2)停车位数据的组织</a:t>
            </a:r>
            <a:endParaRPr sz="3000" dirty="0">
              <a:latin typeface="SimHei"/>
              <a:ea typeface="SimHei"/>
              <a:cs typeface="SimHei"/>
            </a:endParaRPr>
          </a:p>
        </p:txBody>
      </p:sp>
      <p:grpSp>
        <p:nvGrpSpPr>
          <p:cNvPr id="12" name="group 12"/>
          <p:cNvGrpSpPr/>
          <p:nvPr/>
        </p:nvGrpSpPr>
        <p:grpSpPr>
          <a:xfrm rot="21600000">
            <a:off x="8388339" y="1028700"/>
            <a:ext cx="2387558" cy="520727"/>
            <a:chOff x="0" y="0"/>
            <a:chExt cx="2387558" cy="520727"/>
          </a:xfrm>
        </p:grpSpPr>
        <p:pic>
          <p:nvPicPr>
            <p:cNvPr id="300" name="picture 30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600000">
              <a:off x="0" y="0"/>
              <a:ext cx="2387558" cy="520727"/>
            </a:xfrm>
            <a:prstGeom prst="rect">
              <a:avLst/>
            </a:prstGeom>
          </p:spPr>
        </p:pic>
        <p:sp>
          <p:nvSpPr>
            <p:cNvPr id="302" name="textbox 302"/>
            <p:cNvSpPr/>
            <p:nvPr/>
          </p:nvSpPr>
          <p:spPr>
            <a:xfrm>
              <a:off x="-12700" y="-12700"/>
              <a:ext cx="2413000" cy="57530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0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9236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634365" algn="l" rtl="0" eaLnBrk="0">
                <a:lnSpc>
                  <a:spcPct val="97000"/>
                </a:lnSpc>
                <a:tabLst/>
              </a:pPr>
              <a:r>
                <a:rPr sz="1800" kern="0" spc="-10" dirty="0">
                  <a:solidFill>
                    <a:srgbClr val="000000">
                      <a:alpha val="100000"/>
                    </a:srgbClr>
                  </a:solidFill>
                  <a:latin typeface="KaiTi"/>
                  <a:ea typeface="KaiTi"/>
                  <a:cs typeface="KaiTi"/>
                </a:rPr>
                <a:t>完成任务二</a:t>
              </a:r>
              <a:endParaRPr sz="1800" dirty="0">
                <a:latin typeface="KaiTi"/>
                <a:ea typeface="KaiTi"/>
                <a:cs typeface="KaiTi"/>
              </a:endParaRPr>
            </a:p>
          </p:txBody>
        </p:sp>
      </p:grpSp>
      <p:sp>
        <p:nvSpPr>
          <p:cNvPr id="304" name="textbox 304"/>
          <p:cNvSpPr/>
          <p:nvPr/>
        </p:nvSpPr>
        <p:spPr>
          <a:xfrm>
            <a:off x="511289" y="4723252"/>
            <a:ext cx="2761614" cy="2946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27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8000"/>
              </a:lnSpc>
              <a:tabLst/>
            </a:pPr>
            <a:r>
              <a:rPr sz="1800" b="1" kern="0" spc="-2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停车位使用实时数据结构图</a:t>
            </a:r>
            <a:endParaRPr sz="1800" dirty="0">
              <a:latin typeface="KaiTi"/>
              <a:ea typeface="KaiTi"/>
              <a:cs typeface="KaiTi"/>
            </a:endParaRPr>
          </a:p>
        </p:txBody>
      </p:sp>
      <p:sp>
        <p:nvSpPr>
          <p:cNvPr id="306" name="textbox 306"/>
          <p:cNvSpPr/>
          <p:nvPr/>
        </p:nvSpPr>
        <p:spPr>
          <a:xfrm>
            <a:off x="9607520" y="371811"/>
            <a:ext cx="2168525" cy="3670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58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tabLst/>
            </a:pPr>
            <a:r>
              <a:rPr sz="2300" kern="0" spc="10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基础教育精品课</a:t>
            </a:r>
            <a:endParaRPr sz="2300" dirty="0">
              <a:latin typeface="SimHei"/>
              <a:ea typeface="SimHei"/>
              <a:cs typeface="SimHei"/>
            </a:endParaRPr>
          </a:p>
        </p:txBody>
      </p:sp>
      <p:sp>
        <p:nvSpPr>
          <p:cNvPr id="308" name="textbox 308"/>
          <p:cNvSpPr/>
          <p:nvPr/>
        </p:nvSpPr>
        <p:spPr>
          <a:xfrm>
            <a:off x="7162779" y="4713833"/>
            <a:ext cx="2326004" cy="2946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27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8000"/>
              </a:lnSpc>
              <a:tabLst/>
            </a:pPr>
            <a:r>
              <a:rPr sz="1800" kern="0" spc="1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停车位使用实时数据表</a:t>
            </a:r>
            <a:endParaRPr sz="1800" dirty="0">
              <a:latin typeface="KaiTi"/>
              <a:ea typeface="KaiTi"/>
              <a:cs typeface="KaiTi"/>
            </a:endParaRPr>
          </a:p>
        </p:txBody>
      </p:sp>
      <p:sp>
        <p:nvSpPr>
          <p:cNvPr id="310" name="textbox 310"/>
          <p:cNvSpPr/>
          <p:nvPr/>
        </p:nvSpPr>
        <p:spPr>
          <a:xfrm>
            <a:off x="9893300" y="2137511"/>
            <a:ext cx="466725" cy="2901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97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/>
            </a:pPr>
            <a:r>
              <a:rPr sz="1800" kern="0" spc="-4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字段</a:t>
            </a:r>
            <a:endParaRPr sz="1800" dirty="0">
              <a:latin typeface="KaiTi"/>
              <a:ea typeface="KaiTi"/>
              <a:cs typeface="KaiTi"/>
            </a:endParaRPr>
          </a:p>
        </p:txBody>
      </p:sp>
      <p:sp>
        <p:nvSpPr>
          <p:cNvPr id="312" name="textbox 312"/>
          <p:cNvSpPr/>
          <p:nvPr/>
        </p:nvSpPr>
        <p:spPr>
          <a:xfrm>
            <a:off x="11407385" y="3038142"/>
            <a:ext cx="257175" cy="5187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eaVert" wrap="square" lIns="0" tIns="0" rIns="0" bIns="0"/>
          <a:lstStyle/>
          <a:p>
            <a:pPr algn="l" rtl="0" eaLnBrk="0">
              <a:lnSpc>
                <a:spcPct val="7885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1700" kern="0" spc="2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记录</a:t>
            </a:r>
            <a:endParaRPr sz="1700" dirty="0">
              <a:latin typeface="SimSun"/>
              <a:ea typeface="SimSun"/>
              <a:cs typeface="SimSun"/>
            </a:endParaRPr>
          </a:p>
        </p:txBody>
      </p:sp>
      <p:sp>
        <p:nvSpPr>
          <p:cNvPr id="314" name="textbox 314"/>
          <p:cNvSpPr/>
          <p:nvPr/>
        </p:nvSpPr>
        <p:spPr>
          <a:xfrm>
            <a:off x="863539" y="2720997"/>
            <a:ext cx="339725" cy="2425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706"/>
              </a:lnSpc>
              <a:tabLst/>
            </a:pPr>
            <a:r>
              <a:rPr sz="1300" kern="0" spc="-7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区域</a:t>
            </a:r>
            <a:endParaRPr sz="1300" dirty="0">
              <a:latin typeface="KaiTi"/>
              <a:ea typeface="KaiTi"/>
              <a:cs typeface="KaiTi"/>
            </a:endParaRPr>
          </a:p>
        </p:txBody>
      </p:sp>
      <p:sp>
        <p:nvSpPr>
          <p:cNvPr id="316" name="textbox 316"/>
          <p:cNvSpPr/>
          <p:nvPr/>
        </p:nvSpPr>
        <p:spPr>
          <a:xfrm>
            <a:off x="844519" y="3821299"/>
            <a:ext cx="346075" cy="2254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571"/>
              </a:lnSpc>
              <a:tabLst/>
            </a:pPr>
            <a:r>
              <a:rPr sz="1300" kern="0" spc="-3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编号</a:t>
            </a:r>
            <a:endParaRPr sz="1300" dirty="0">
              <a:latin typeface="KaiTi"/>
              <a:ea typeface="KaiTi"/>
              <a:cs typeface="KaiT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8" name="picture 3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sp>
        <p:nvSpPr>
          <p:cNvPr id="320" name="textbox 320"/>
          <p:cNvSpPr/>
          <p:nvPr/>
        </p:nvSpPr>
        <p:spPr>
          <a:xfrm>
            <a:off x="3003600" y="966622"/>
            <a:ext cx="3577590" cy="17703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38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/>
            </a:pPr>
            <a:r>
              <a:rPr sz="3000" kern="0" spc="-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(3)停车位数据的存储</a:t>
            </a:r>
            <a:endParaRPr sz="30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739264" algn="l" rtl="0" eaLnBrk="0">
              <a:lnSpc>
                <a:spcPct val="97000"/>
              </a:lnSpc>
              <a:spcBef>
                <a:spcPts val="516"/>
              </a:spcBef>
              <a:tabLst/>
            </a:pPr>
            <a:r>
              <a:rPr sz="1700" kern="0" spc="1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数据库</a:t>
            </a:r>
            <a:endParaRPr sz="17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39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564515" algn="l" rtl="0" eaLnBrk="0">
              <a:lnSpc>
                <a:spcPct val="95000"/>
              </a:lnSpc>
              <a:spcBef>
                <a:spcPts val="2"/>
              </a:spcBef>
              <a:tabLst/>
            </a:pPr>
            <a:r>
              <a:rPr sz="1100" kern="0" spc="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服务器</a:t>
            </a:r>
            <a:endParaRPr sz="1100" dirty="0">
              <a:latin typeface="SimHei"/>
              <a:ea typeface="SimHei"/>
              <a:cs typeface="SimHei"/>
            </a:endParaRPr>
          </a:p>
        </p:txBody>
      </p:sp>
      <p:sp>
        <p:nvSpPr>
          <p:cNvPr id="322" name="textbox 322"/>
          <p:cNvSpPr/>
          <p:nvPr/>
        </p:nvSpPr>
        <p:spPr>
          <a:xfrm>
            <a:off x="6591340" y="2093107"/>
            <a:ext cx="4106545" cy="90423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03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indent="3175" algn="l" rtl="0" eaLnBrk="0">
              <a:lnSpc>
                <a:spcPct val="96000"/>
              </a:lnSpc>
              <a:tabLst/>
            </a:pPr>
            <a:r>
              <a:rPr sz="2000" b="1" kern="0" spc="-10" dirty="0">
                <a:solidFill>
                  <a:srgbClr val="FF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数据库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：是按照特定的数据结构来组</a:t>
            </a:r>
            <a:r>
              <a:rPr sz="2000" kern="0" spc="7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 </a:t>
            </a: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织、存储和管理数据的、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建立在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计算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 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机存储设备上的仓库</a:t>
            </a:r>
            <a:r>
              <a:rPr sz="2000" kern="0" spc="-2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。</a:t>
            </a:r>
            <a:endParaRPr sz="2000" dirty="0">
              <a:latin typeface="KaiTi"/>
              <a:ea typeface="KaiTi"/>
              <a:cs typeface="KaiTi"/>
            </a:endParaRPr>
          </a:p>
        </p:txBody>
      </p:sp>
      <p:sp>
        <p:nvSpPr>
          <p:cNvPr id="324" name="textbox 324"/>
          <p:cNvSpPr/>
          <p:nvPr/>
        </p:nvSpPr>
        <p:spPr>
          <a:xfrm>
            <a:off x="977900" y="3761051"/>
            <a:ext cx="1955800" cy="155828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20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13664" algn="l" rtl="0" eaLnBrk="0">
              <a:lnSpc>
                <a:spcPct val="95000"/>
              </a:lnSpc>
              <a:tabLst/>
            </a:pPr>
            <a:r>
              <a:rPr sz="1100" kern="0" spc="-7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X××</a:t>
            </a:r>
            <a:r>
              <a:rPr sz="1100" kern="0" spc="-70" dirty="0">
                <a:solidFill>
                  <a:srgbClr val="FFFFFF">
                    <a:alpha val="100000"/>
                  </a:srgbClr>
                </a:solidFill>
                <a:latin typeface="LiSu"/>
                <a:ea typeface="LiSu"/>
                <a:cs typeface="LiSu"/>
              </a:rPr>
              <a:t>停</a:t>
            </a:r>
            <a:r>
              <a:rPr sz="1100" kern="0" spc="-7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车场</a:t>
            </a:r>
            <a:endParaRPr sz="1100" dirty="0">
              <a:latin typeface="SimHei"/>
              <a:ea typeface="SimHei"/>
              <a:cs typeface="SimHei"/>
            </a:endParaRPr>
          </a:p>
          <a:p>
            <a:pPr marL="1282700" algn="l" rtl="0" eaLnBrk="0">
              <a:lnSpc>
                <a:spcPct val="88000"/>
              </a:lnSpc>
              <a:spcBef>
                <a:spcPts val="10"/>
              </a:spcBef>
              <a:tabLst/>
            </a:pPr>
            <a:r>
              <a:rPr sz="13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区域屏</a:t>
            </a:r>
            <a:endParaRPr sz="13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9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555"/>
              </a:lnSpc>
              <a:spcBef>
                <a:spcPts val="374"/>
              </a:spcBef>
              <a:tabLst/>
            </a:pPr>
            <a:r>
              <a:rPr sz="1800" kern="0" spc="-20" baseline="12021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B</a:t>
            </a:r>
            <a:r>
              <a:rPr sz="1800" kern="0" spc="-20" baseline="12021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区</a:t>
            </a:r>
            <a:r>
              <a:rPr sz="1100" kern="0" spc="1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</a:t>
            </a:r>
            <a:r>
              <a:rPr sz="1900" kern="0" spc="-20" baseline="1000" dirty="0">
                <a:solidFill>
                  <a:srgbClr val="C0E080">
                    <a:alpha val="100000"/>
                  </a:srgbClr>
                </a:solidFill>
                <a:latin typeface="LiSu"/>
                <a:ea typeface="LiSu"/>
                <a:cs typeface="LiSu"/>
              </a:rPr>
              <a:t>空位</a:t>
            </a:r>
            <a:r>
              <a:rPr sz="1200" kern="0" spc="-20" dirty="0">
                <a:solidFill>
                  <a:srgbClr val="C0E080">
                    <a:alpha val="100000"/>
                  </a:srgbClr>
                </a:solidFill>
                <a:latin typeface="LiSu"/>
                <a:ea typeface="LiSu"/>
                <a:cs typeface="LiSu"/>
              </a:rPr>
              <a:t> </a:t>
            </a:r>
            <a:r>
              <a:rPr sz="1900" kern="0" spc="-20" baseline="1000" dirty="0">
                <a:solidFill>
                  <a:srgbClr val="000000">
                    <a:alpha val="100000"/>
                  </a:srgbClr>
                </a:solidFill>
                <a:latin typeface="LiSu"/>
                <a:ea typeface="LiSu"/>
                <a:cs typeface="LiSu"/>
              </a:rPr>
              <a:t>82</a:t>
            </a:r>
            <a:endParaRPr sz="1900" baseline="1000" dirty="0">
              <a:latin typeface="LiSu"/>
              <a:ea typeface="LiSu"/>
              <a:cs typeface="LiSu"/>
            </a:endParaRPr>
          </a:p>
          <a:p>
            <a:pPr marL="1428750" algn="l" rtl="0" eaLnBrk="0">
              <a:lnSpc>
                <a:spcPct val="96000"/>
              </a:lnSpc>
              <a:spcBef>
                <a:spcPts val="1521"/>
              </a:spcBef>
              <a:tabLst/>
            </a:pPr>
            <a:r>
              <a:rPr sz="13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区域屏</a:t>
            </a:r>
            <a:endParaRPr sz="13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spcBef>
                <a:spcPts val="1"/>
              </a:spcBef>
              <a:tabLst/>
            </a:pPr>
            <a:r>
              <a:rPr sz="13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各层空闲车位显示屏</a:t>
            </a:r>
            <a:endParaRPr sz="1300" dirty="0">
              <a:latin typeface="SimHei"/>
              <a:ea typeface="SimHei"/>
              <a:cs typeface="SimHei"/>
            </a:endParaRPr>
          </a:p>
        </p:txBody>
      </p:sp>
      <p:sp>
        <p:nvSpPr>
          <p:cNvPr id="326" name="textbox 326"/>
          <p:cNvSpPr/>
          <p:nvPr/>
        </p:nvSpPr>
        <p:spPr>
          <a:xfrm>
            <a:off x="3206719" y="3651521"/>
            <a:ext cx="2132329" cy="7620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99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6000"/>
              </a:lnSpc>
              <a:tabLst/>
            </a:pPr>
            <a:r>
              <a:rPr sz="13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引导屏</a:t>
            </a:r>
            <a:endParaRPr sz="13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spcBef>
                <a:spcPts val="2"/>
              </a:spcBef>
              <a:tabLst/>
            </a:pPr>
            <a:r>
              <a:rPr sz="13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引导屏</a:t>
            </a:r>
            <a:endParaRPr sz="1300" dirty="0">
              <a:latin typeface="SimHei"/>
              <a:ea typeface="SimHei"/>
              <a:cs typeface="SimHei"/>
            </a:endParaRPr>
          </a:p>
        </p:txBody>
      </p:sp>
      <p:sp>
        <p:nvSpPr>
          <p:cNvPr id="328" name="textbox 328"/>
          <p:cNvSpPr/>
          <p:nvPr/>
        </p:nvSpPr>
        <p:spPr>
          <a:xfrm>
            <a:off x="2127239" y="5765025"/>
            <a:ext cx="4142104" cy="3333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2423"/>
              </a:lnSpc>
              <a:tabLst/>
            </a:pP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数据可视化</a:t>
            </a:r>
            <a:r>
              <a:rPr sz="2000" kern="0" spc="6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              </a:t>
            </a:r>
            <a:r>
              <a:rPr sz="2000" kern="0" spc="5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 </a:t>
            </a:r>
            <a:r>
              <a:rPr sz="2000" kern="0" spc="0" baseline="5841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车位探测器</a:t>
            </a:r>
            <a:endParaRPr sz="2000" baseline="5841" dirty="0">
              <a:latin typeface="SimHei"/>
              <a:ea typeface="SimHei"/>
              <a:cs typeface="SimHei"/>
            </a:endParaRPr>
          </a:p>
        </p:txBody>
      </p:sp>
      <p:sp>
        <p:nvSpPr>
          <p:cNvPr id="330" name="textbox 330"/>
          <p:cNvSpPr/>
          <p:nvPr/>
        </p:nvSpPr>
        <p:spPr>
          <a:xfrm>
            <a:off x="9607520" y="371811"/>
            <a:ext cx="2168525" cy="3670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58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tabLst/>
            </a:pPr>
            <a:r>
              <a:rPr sz="2300" kern="0" spc="10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基础教育精品课</a:t>
            </a:r>
            <a:endParaRPr sz="2300" dirty="0">
              <a:latin typeface="SimHei"/>
              <a:ea typeface="SimHei"/>
              <a:cs typeface="SimHei"/>
            </a:endParaRPr>
          </a:p>
        </p:txBody>
      </p:sp>
      <p:sp>
        <p:nvSpPr>
          <p:cNvPr id="332" name="textbox 332"/>
          <p:cNvSpPr/>
          <p:nvPr/>
        </p:nvSpPr>
        <p:spPr>
          <a:xfrm>
            <a:off x="7334198" y="4072371"/>
            <a:ext cx="1035050" cy="3238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86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8000"/>
              </a:lnSpc>
              <a:tabLst/>
            </a:pPr>
            <a:r>
              <a:rPr sz="2000" kern="0" spc="-2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数据采集</a:t>
            </a:r>
            <a:endParaRPr sz="2000" dirty="0">
              <a:latin typeface="KaiTi"/>
              <a:ea typeface="KaiTi"/>
              <a:cs typeface="KaiTi"/>
            </a:endParaRPr>
          </a:p>
        </p:txBody>
      </p:sp>
      <p:sp>
        <p:nvSpPr>
          <p:cNvPr id="334" name="textbox 334"/>
          <p:cNvSpPr/>
          <p:nvPr/>
        </p:nvSpPr>
        <p:spPr>
          <a:xfrm>
            <a:off x="2070059" y="2533987"/>
            <a:ext cx="628015" cy="2019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77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/>
            </a:pP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管理中心</a:t>
            </a:r>
            <a:endParaRPr sz="1200" dirty="0">
              <a:latin typeface="SimHei"/>
              <a:ea typeface="SimHei"/>
              <a:cs typeface="SimHe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6" name="picture 33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sp>
        <p:nvSpPr>
          <p:cNvPr id="338" name="rect 338"/>
          <p:cNvSpPr/>
          <p:nvPr/>
        </p:nvSpPr>
        <p:spPr>
          <a:xfrm>
            <a:off x="44500" y="0"/>
            <a:ext cx="12128479" cy="857250"/>
          </a:xfrm>
          <a:prstGeom prst="rect">
            <a:avLst/>
          </a:prstGeom>
          <a:solidFill>
            <a:srgbClr val="37544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40" name="textbox 340"/>
          <p:cNvSpPr/>
          <p:nvPr/>
        </p:nvSpPr>
        <p:spPr>
          <a:xfrm>
            <a:off x="2480213" y="2358313"/>
            <a:ext cx="5572759" cy="13366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9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6000"/>
              </a:lnSpc>
              <a:tabLst/>
            </a:pPr>
            <a:r>
              <a:rPr sz="5700" b="1" kern="0" spc="-280" dirty="0">
                <a:solidFill>
                  <a:srgbClr val="2050B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关系</a:t>
            </a:r>
            <a:r>
              <a:rPr sz="5700" b="1" kern="0" spc="-270" dirty="0">
                <a:solidFill>
                  <a:srgbClr val="2050B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表结构的创</a:t>
            </a:r>
            <a:r>
              <a:rPr sz="5700" b="1" kern="0" spc="-250" dirty="0">
                <a:solidFill>
                  <a:srgbClr val="2050B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建</a:t>
            </a:r>
            <a:endParaRPr sz="5700" dirty="0">
              <a:latin typeface="SimHei"/>
              <a:ea typeface="SimHei"/>
              <a:cs typeface="SimHei"/>
            </a:endParaRPr>
          </a:p>
          <a:p>
            <a:pPr marL="471169" algn="l" rtl="0" eaLnBrk="0">
              <a:lnSpc>
                <a:spcPct val="95000"/>
              </a:lnSpc>
              <a:spcBef>
                <a:spcPts val="307"/>
              </a:spcBef>
              <a:tabLst/>
            </a:pPr>
            <a:r>
              <a:rPr sz="3000" b="1" kern="0" spc="-1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以停车位使用实时数据表为例</a:t>
            </a:r>
            <a:endParaRPr sz="3000" dirty="0">
              <a:latin typeface="SimHei"/>
              <a:ea typeface="SimHei"/>
              <a:cs typeface="SimHei"/>
            </a:endParaRPr>
          </a:p>
        </p:txBody>
      </p:sp>
      <p:pic>
        <p:nvPicPr>
          <p:cNvPr id="342" name="picture 34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3263920" y="4216367"/>
            <a:ext cx="3536899" cy="1517675"/>
          </a:xfrm>
          <a:prstGeom prst="rect">
            <a:avLst/>
          </a:prstGeom>
        </p:spPr>
      </p:pic>
      <p:sp>
        <p:nvSpPr>
          <p:cNvPr id="344" name="textbox 344"/>
          <p:cNvSpPr/>
          <p:nvPr/>
        </p:nvSpPr>
        <p:spPr>
          <a:xfrm>
            <a:off x="9594839" y="384499"/>
            <a:ext cx="2174875" cy="3670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58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tabLst/>
            </a:pPr>
            <a:r>
              <a:rPr sz="2300" kern="0" spc="11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基础教育精品课</a:t>
            </a:r>
            <a:endParaRPr sz="2300" dirty="0">
              <a:latin typeface="SimHei"/>
              <a:ea typeface="SimHei"/>
              <a:cs typeface="SimHe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6" name="picture 34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pic>
        <p:nvPicPr>
          <p:cNvPr id="348" name="picture 34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8394680" y="1035077"/>
            <a:ext cx="2368539" cy="507972"/>
          </a:xfrm>
          <a:prstGeom prst="rect">
            <a:avLst/>
          </a:prstGeom>
        </p:spPr>
      </p:pic>
      <p:sp>
        <p:nvSpPr>
          <p:cNvPr id="350" name="textbox 350"/>
          <p:cNvSpPr/>
          <p:nvPr/>
        </p:nvSpPr>
        <p:spPr>
          <a:xfrm>
            <a:off x="742960" y="1052427"/>
            <a:ext cx="10541634" cy="20402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50314" algn="l" rtl="0" eaLnBrk="0">
              <a:lnSpc>
                <a:spcPts val="2974"/>
              </a:lnSpc>
              <a:tabLst/>
            </a:pPr>
            <a:r>
              <a:rPr sz="23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【活动】停车位使用实时数据表的字段构成</a:t>
            </a:r>
            <a:r>
              <a:rPr sz="23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</a:t>
            </a:r>
            <a:r>
              <a:rPr sz="23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</a:t>
            </a:r>
            <a:r>
              <a:rPr sz="2700" b="1" kern="0" spc="30" baseline="-7278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完成任务三</a:t>
            </a:r>
            <a:endParaRPr sz="2700" baseline="-7278" dirty="0">
              <a:latin typeface="KaiTi"/>
              <a:ea typeface="KaiTi"/>
              <a:cs typeface="KaiTi"/>
            </a:endParaRPr>
          </a:p>
          <a:p>
            <a:pPr algn="l" rtl="0" eaLnBrk="0">
              <a:lnSpc>
                <a:spcPct val="11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8000"/>
              </a:lnSpc>
              <a:spcBef>
                <a:spcPts val="728"/>
              </a:spcBef>
              <a:tabLst/>
            </a:pPr>
            <a:r>
              <a:rPr sz="2400" b="1" kern="0" spc="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1. </a:t>
            </a:r>
            <a:r>
              <a:rPr sz="2400" b="1" kern="0" spc="2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用“</a:t>
            </a:r>
            <a:r>
              <a:rPr sz="2400" kern="0" spc="-75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 </a:t>
            </a:r>
            <a:r>
              <a:rPr sz="2400" b="1" kern="0" spc="20" dirty="0">
                <a:solidFill>
                  <a:srgbClr val="108040">
                    <a:alpha val="100000"/>
                  </a:srgbClr>
                </a:solidFill>
                <a:latin typeface="KaiTi"/>
                <a:ea typeface="KaiTi"/>
                <a:cs typeface="KaiTi"/>
              </a:rPr>
              <a:t>数值”</a:t>
            </a:r>
            <a:r>
              <a:rPr sz="2400" kern="0" spc="20" dirty="0">
                <a:solidFill>
                  <a:srgbClr val="108040">
                    <a:alpha val="100000"/>
                  </a:srgbClr>
                </a:solidFill>
                <a:latin typeface="KaiTi"/>
                <a:ea typeface="KaiTi"/>
                <a:cs typeface="KaiTi"/>
              </a:rPr>
              <a:t> </a:t>
            </a:r>
            <a:r>
              <a:rPr sz="2400" b="1" kern="0" spc="20" dirty="0">
                <a:solidFill>
                  <a:srgbClr val="108040">
                    <a:alpha val="100000"/>
                  </a:srgbClr>
                </a:solidFill>
                <a:latin typeface="KaiTi"/>
                <a:ea typeface="KaiTi"/>
                <a:cs typeface="KaiTi"/>
              </a:rPr>
              <a:t>“文本”</a:t>
            </a:r>
            <a:r>
              <a:rPr sz="2400" kern="0" spc="-470" dirty="0">
                <a:solidFill>
                  <a:srgbClr val="108040">
                    <a:alpha val="100000"/>
                  </a:srgbClr>
                </a:solidFill>
                <a:latin typeface="KaiTi"/>
                <a:ea typeface="KaiTi"/>
                <a:cs typeface="KaiTi"/>
              </a:rPr>
              <a:t> </a:t>
            </a:r>
            <a:r>
              <a:rPr sz="2400" b="1" kern="0" spc="20" dirty="0">
                <a:solidFill>
                  <a:srgbClr val="108040">
                    <a:alpha val="100000"/>
                  </a:srgbClr>
                </a:solidFill>
                <a:latin typeface="KaiTi"/>
                <a:ea typeface="KaiTi"/>
                <a:cs typeface="KaiTi"/>
              </a:rPr>
              <a:t>“日期/时</a:t>
            </a:r>
            <a:r>
              <a:rPr sz="2400" b="1" kern="0" spc="2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间”或“</a:t>
            </a:r>
            <a:r>
              <a:rPr sz="2400" kern="0" spc="-75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 </a:t>
            </a:r>
            <a:r>
              <a:rPr sz="2400" b="1" kern="0" spc="20" dirty="0">
                <a:solidFill>
                  <a:srgbClr val="108040">
                    <a:alpha val="100000"/>
                  </a:srgbClr>
                </a:solidFill>
                <a:latin typeface="KaiTi"/>
                <a:ea typeface="KaiTi"/>
                <a:cs typeface="KaiTi"/>
              </a:rPr>
              <a:t>逻</a:t>
            </a:r>
            <a:r>
              <a:rPr sz="2400" b="1" kern="0" spc="10" dirty="0">
                <a:solidFill>
                  <a:srgbClr val="108040">
                    <a:alpha val="100000"/>
                  </a:srgbClr>
                </a:solidFill>
                <a:latin typeface="KaiTi"/>
                <a:ea typeface="KaiTi"/>
                <a:cs typeface="KaiTi"/>
              </a:rPr>
              <a:t>辑”</a:t>
            </a:r>
            <a:r>
              <a:rPr sz="2400" b="1" kern="0" spc="1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填写各字段的</a:t>
            </a:r>
            <a:r>
              <a:rPr sz="2400" b="1" kern="0" spc="10" dirty="0">
                <a:solidFill>
                  <a:srgbClr val="FF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数据类型。</a:t>
            </a:r>
            <a:endParaRPr sz="2400" dirty="0">
              <a:latin typeface="KaiTi"/>
              <a:ea typeface="KaiTi"/>
              <a:cs typeface="KaiTi"/>
            </a:endParaRPr>
          </a:p>
          <a:p>
            <a:pPr algn="l" rtl="0" eaLnBrk="0">
              <a:lnSpc>
                <a:spcPct val="12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spcBef>
                <a:spcPts val="3"/>
              </a:spcBef>
              <a:tabLst/>
            </a:pPr>
            <a:r>
              <a:rPr sz="2500" b="1" kern="0" spc="-1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2. </a:t>
            </a:r>
            <a:r>
              <a:rPr sz="2500" b="1" kern="0" spc="-13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用“</a:t>
            </a:r>
            <a:r>
              <a:rPr sz="2500" kern="0" spc="-13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 </a:t>
            </a:r>
            <a:r>
              <a:rPr sz="2500" b="1" kern="0" spc="-130" dirty="0">
                <a:solidFill>
                  <a:srgbClr val="108040">
                    <a:alpha val="100000"/>
                  </a:srgbClr>
                </a:solidFill>
                <a:latin typeface="KaiTi"/>
                <a:ea typeface="KaiTi"/>
                <a:cs typeface="KaiTi"/>
              </a:rPr>
              <a:t>唯一</a:t>
            </a:r>
            <a:r>
              <a:rPr sz="2500" kern="0" spc="-130" dirty="0">
                <a:solidFill>
                  <a:srgbClr val="108040">
                    <a:alpha val="100000"/>
                  </a:srgbClr>
                </a:solidFill>
                <a:latin typeface="KaiTi"/>
                <a:ea typeface="KaiTi"/>
                <a:cs typeface="KaiTi"/>
              </a:rPr>
              <a:t> </a:t>
            </a:r>
            <a:r>
              <a:rPr sz="2500" b="1" kern="0" spc="-13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”或“</a:t>
            </a:r>
            <a:r>
              <a:rPr sz="2500" kern="0" spc="-13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 </a:t>
            </a:r>
            <a:r>
              <a:rPr sz="2500" b="1" kern="0" spc="-130" dirty="0">
                <a:solidFill>
                  <a:srgbClr val="108040">
                    <a:alpha val="100000"/>
                  </a:srgbClr>
                </a:solidFill>
                <a:latin typeface="KaiTi"/>
                <a:ea typeface="KaiTi"/>
                <a:cs typeface="KaiTi"/>
              </a:rPr>
              <a:t>非空</a:t>
            </a:r>
            <a:r>
              <a:rPr sz="2500" kern="0" spc="-130" dirty="0">
                <a:solidFill>
                  <a:srgbClr val="108040">
                    <a:alpha val="100000"/>
                  </a:srgbClr>
                </a:solidFill>
                <a:latin typeface="KaiTi"/>
                <a:ea typeface="KaiTi"/>
                <a:cs typeface="KaiTi"/>
              </a:rPr>
              <a:t> </a:t>
            </a:r>
            <a:r>
              <a:rPr sz="2500" b="1" kern="0" spc="-13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”填写</a:t>
            </a:r>
            <a:r>
              <a:rPr sz="2500" b="1" kern="0" spc="-130" dirty="0">
                <a:solidFill>
                  <a:srgbClr val="FF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数据约束。</a:t>
            </a:r>
            <a:endParaRPr sz="2500" dirty="0">
              <a:latin typeface="KaiTi"/>
              <a:ea typeface="KaiTi"/>
              <a:cs typeface="KaiTi"/>
            </a:endParaRPr>
          </a:p>
        </p:txBody>
      </p:sp>
      <p:graphicFrame>
        <p:nvGraphicFramePr>
          <p:cNvPr id="352" name="table 352"/>
          <p:cNvGraphicFramePr>
            <a:graphicFrameLocks noGrp="1"/>
          </p:cNvGraphicFramePr>
          <p:nvPr/>
        </p:nvGraphicFramePr>
        <p:xfrm>
          <a:off x="1025585" y="3324258"/>
          <a:ext cx="9759315" cy="1796414"/>
        </p:xfrm>
        <a:graphic>
          <a:graphicData uri="http://schemas.openxmlformats.org/drawingml/2006/table">
            <a:tbl>
              <a:tblPr/>
              <a:tblGrid>
                <a:gridCol w="1405889"/>
                <a:gridCol w="863600"/>
                <a:gridCol w="1365250"/>
                <a:gridCol w="838200"/>
                <a:gridCol w="1041400"/>
                <a:gridCol w="1193800"/>
                <a:gridCol w="1987550"/>
                <a:gridCol w="1063625"/>
              </a:tblGrid>
              <a:tr h="73342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44500" algn="l" rtl="0" eaLnBrk="0">
                        <a:lnSpc>
                          <a:spcPct val="98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2000" b="1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属性</a:t>
                      </a:r>
                      <a:endParaRPr sz="2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62560" algn="l" rtl="0" eaLnBrk="0">
                        <a:lnSpc>
                          <a:spcPct val="98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2000" b="1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序号</a:t>
                      </a:r>
                      <a:endParaRPr sz="2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5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62560" algn="l" rtl="0" eaLnBrk="0">
                        <a:lnSpc>
                          <a:spcPct val="97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2000" b="1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采集时间</a:t>
                      </a:r>
                      <a:endParaRPr sz="2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90829" algn="l" rtl="0" eaLnBrk="0">
                        <a:lnSpc>
                          <a:spcPct val="95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2600" b="1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层</a:t>
                      </a:r>
                      <a:endParaRPr sz="26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299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51459" algn="l" rtl="0" eaLnBrk="0">
                        <a:lnSpc>
                          <a:spcPct val="97000"/>
                        </a:lnSpc>
                        <a:tabLst/>
                      </a:pPr>
                      <a:r>
                        <a:rPr sz="2000" b="1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区域</a:t>
                      </a:r>
                      <a:endParaRPr sz="2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08609" algn="l" rtl="0" eaLnBrk="0">
                        <a:lnSpc>
                          <a:spcPct val="97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2000" b="1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编号</a:t>
                      </a:r>
                      <a:endParaRPr sz="2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26059" algn="l" rtl="0" eaLnBrk="0">
                        <a:lnSpc>
                          <a:spcPct val="97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2000" b="1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车位占用情况</a:t>
                      </a:r>
                      <a:endParaRPr sz="2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83209" algn="l" rtl="0" eaLnBrk="0">
                        <a:lnSpc>
                          <a:spcPct val="97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2000" b="1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状态</a:t>
                      </a:r>
                      <a:endParaRPr sz="2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641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089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84150" algn="l" rtl="0" eaLnBrk="0">
                        <a:lnSpc>
                          <a:spcPct val="97000"/>
                        </a:lnSpc>
                        <a:tabLst/>
                      </a:pPr>
                      <a:r>
                        <a:rPr sz="2000" b="1" kern="0" spc="5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数据类型</a:t>
                      </a:r>
                      <a:endParaRPr sz="2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65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84150" algn="l" rtl="0" eaLnBrk="0">
                        <a:lnSpc>
                          <a:spcPct val="97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2000" b="1" kern="0" spc="4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数据约束</a:t>
                      </a:r>
                      <a:endParaRPr sz="2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54" name="rect 354"/>
          <p:cNvSpPr/>
          <p:nvPr/>
        </p:nvSpPr>
        <p:spPr>
          <a:xfrm>
            <a:off x="44500" y="0"/>
            <a:ext cx="12134819" cy="850872"/>
          </a:xfrm>
          <a:prstGeom prst="rect">
            <a:avLst/>
          </a:prstGeom>
          <a:solidFill>
            <a:srgbClr val="37544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56" name="textbox 356"/>
          <p:cNvSpPr/>
          <p:nvPr/>
        </p:nvSpPr>
        <p:spPr>
          <a:xfrm>
            <a:off x="9607520" y="371811"/>
            <a:ext cx="2168525" cy="3670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58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tabLst/>
            </a:pPr>
            <a:r>
              <a:rPr sz="2300" kern="0" spc="10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基础教育精品课</a:t>
            </a:r>
            <a:endParaRPr sz="2300" dirty="0">
              <a:latin typeface="SimHei"/>
              <a:ea typeface="SimHei"/>
              <a:cs typeface="SimHe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" name="picture 35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sp>
        <p:nvSpPr>
          <p:cNvPr id="360" name="textbox 360"/>
          <p:cNvSpPr/>
          <p:nvPr/>
        </p:nvSpPr>
        <p:spPr>
          <a:xfrm>
            <a:off x="1619199" y="961387"/>
            <a:ext cx="6343015" cy="39420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15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393950" algn="l" rtl="0" eaLnBrk="0">
              <a:lnSpc>
                <a:spcPct val="96000"/>
              </a:lnSpc>
              <a:tabLst/>
            </a:pPr>
            <a:r>
              <a:rPr sz="30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小结回顾</a:t>
            </a:r>
            <a:endParaRPr sz="30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5109209" algn="l" rtl="0" eaLnBrk="0">
              <a:lnSpc>
                <a:spcPts val="2913"/>
              </a:lnSpc>
              <a:spcBef>
                <a:spcPts val="720"/>
              </a:spcBef>
              <a:tabLst/>
            </a:pPr>
            <a:r>
              <a:rPr sz="2400" b="1" kern="0" spc="-30" dirty="0">
                <a:solidFill>
                  <a:srgbClr val="108040">
                    <a:alpha val="100000"/>
                  </a:srgbClr>
                </a:solidFill>
                <a:latin typeface="KaiTi"/>
                <a:ea typeface="KaiTi"/>
                <a:cs typeface="KaiTi"/>
              </a:rPr>
              <a:t>物联感知</a:t>
            </a:r>
            <a:endParaRPr sz="2400" dirty="0">
              <a:latin typeface="KaiTi"/>
              <a:ea typeface="KaiTi"/>
              <a:cs typeface="KaiTi"/>
            </a:endParaRPr>
          </a:p>
          <a:p>
            <a:pPr marL="5141595" indent="-5128895" algn="l" rtl="0" eaLnBrk="0">
              <a:lnSpc>
                <a:spcPct val="128000"/>
              </a:lnSpc>
              <a:spcBef>
                <a:spcPts val="1719"/>
              </a:spcBef>
              <a:tabLst/>
            </a:pPr>
            <a:r>
              <a:rPr sz="3300" kern="0" spc="10" baseline="-4735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</a:t>
            </a:r>
            <a:r>
              <a:rPr sz="2100" kern="0" spc="8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 </a:t>
            </a:r>
            <a:r>
              <a:rPr sz="3700" b="1" kern="0" spc="10" baseline="-9854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数据的</a:t>
            </a:r>
            <a:r>
              <a:rPr sz="3700" b="1" kern="0" spc="10" baseline="-9854" dirty="0">
                <a:solidFill>
                  <a:srgbClr val="FF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采集</a:t>
            </a:r>
            <a:r>
              <a:rPr sz="2400" kern="0" spc="10" dirty="0">
                <a:solidFill>
                  <a:srgbClr val="FF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      </a:t>
            </a:r>
            <a:r>
              <a:rPr sz="2400" b="1" kern="0" spc="1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方法和工</a:t>
            </a:r>
            <a:r>
              <a:rPr sz="2400" b="1" kern="0" spc="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具</a:t>
            </a:r>
            <a:r>
              <a:rPr sz="2400" kern="0" spc="26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   </a:t>
            </a:r>
            <a:r>
              <a:rPr sz="3700" b="1" kern="0" spc="0" baseline="16893" dirty="0">
                <a:solidFill>
                  <a:srgbClr val="108040">
                    <a:alpha val="100000"/>
                  </a:srgbClr>
                </a:solidFill>
                <a:latin typeface="KaiTi"/>
                <a:ea typeface="KaiTi"/>
                <a:cs typeface="KaiTi"/>
              </a:rPr>
              <a:t>视频监控</a:t>
            </a:r>
            <a:r>
              <a:rPr sz="2400" kern="0" spc="20" dirty="0">
                <a:solidFill>
                  <a:srgbClr val="108040">
                    <a:alpha val="100000"/>
                  </a:srgbClr>
                </a:solidFill>
                <a:latin typeface="KaiTi"/>
                <a:ea typeface="KaiTi"/>
                <a:cs typeface="KaiTi"/>
              </a:rPr>
              <a:t> </a:t>
            </a:r>
            <a:r>
              <a:rPr sz="2400" b="1" kern="0" spc="-80" dirty="0">
                <a:solidFill>
                  <a:srgbClr val="108040">
                    <a:alpha val="100000"/>
                  </a:srgbClr>
                </a:solidFill>
                <a:latin typeface="KaiTi"/>
                <a:ea typeface="KaiTi"/>
                <a:cs typeface="KaiTi"/>
              </a:rPr>
              <a:t>网络平台</a:t>
            </a:r>
            <a:endParaRPr sz="2400" dirty="0">
              <a:latin typeface="KaiTi"/>
              <a:ea typeface="KaiTi"/>
              <a:cs typeface="KaiTi"/>
            </a:endParaRPr>
          </a:p>
          <a:p>
            <a:pPr marL="12700" algn="l" rtl="0" eaLnBrk="0">
              <a:lnSpc>
                <a:spcPts val="2904"/>
              </a:lnSpc>
              <a:spcBef>
                <a:spcPts val="502"/>
              </a:spcBef>
              <a:tabLst/>
            </a:pPr>
            <a:r>
              <a:rPr sz="3700" kern="0" spc="-50" baseline="548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</a:t>
            </a:r>
            <a:r>
              <a:rPr sz="2400" kern="0" spc="8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</a:t>
            </a:r>
            <a:r>
              <a:rPr sz="3700" b="1" kern="0" spc="-50" baseline="-2965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数据的</a:t>
            </a:r>
            <a:r>
              <a:rPr sz="3700" b="1" kern="0" spc="-50" baseline="-2965" dirty="0">
                <a:solidFill>
                  <a:srgbClr val="FF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组织</a:t>
            </a:r>
            <a:r>
              <a:rPr sz="2400" kern="0" spc="80" dirty="0">
                <a:solidFill>
                  <a:srgbClr val="FF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      </a:t>
            </a:r>
            <a:r>
              <a:rPr sz="3700" b="1" kern="0" spc="-50" baseline="548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关系表</a:t>
            </a:r>
            <a:endParaRPr sz="3700" baseline="5480" dirty="0">
              <a:latin typeface="KaiTi"/>
              <a:ea typeface="KaiTi"/>
              <a:cs typeface="KaiTi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3030"/>
              </a:lnSpc>
              <a:spcBef>
                <a:spcPts val="5"/>
              </a:spcBef>
              <a:tabLst/>
            </a:pPr>
            <a:r>
              <a:rPr sz="3700" kern="0" spc="-60" baseline="6856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3</a:t>
            </a:r>
            <a:r>
              <a:rPr sz="2400" kern="0" spc="10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</a:t>
            </a:r>
            <a:r>
              <a:rPr sz="2400" b="1" kern="0" spc="-6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数据的</a:t>
            </a:r>
            <a:r>
              <a:rPr sz="2400" b="1" kern="0" spc="-60" dirty="0">
                <a:solidFill>
                  <a:srgbClr val="FF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存储</a:t>
            </a:r>
            <a:r>
              <a:rPr sz="2400" kern="0" spc="70" dirty="0">
                <a:solidFill>
                  <a:srgbClr val="FF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      </a:t>
            </a:r>
            <a:r>
              <a:rPr sz="2400" b="1" kern="0" spc="-6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数据库</a:t>
            </a:r>
            <a:endParaRPr sz="2400" dirty="0">
              <a:latin typeface="KaiTi"/>
              <a:ea typeface="KaiTi"/>
              <a:cs typeface="KaiTi"/>
            </a:endParaRPr>
          </a:p>
        </p:txBody>
      </p:sp>
      <p:sp>
        <p:nvSpPr>
          <p:cNvPr id="362" name="rect 362"/>
          <p:cNvSpPr/>
          <p:nvPr/>
        </p:nvSpPr>
        <p:spPr>
          <a:xfrm>
            <a:off x="44500" y="0"/>
            <a:ext cx="12122139" cy="850872"/>
          </a:xfrm>
          <a:prstGeom prst="rect">
            <a:avLst/>
          </a:prstGeom>
          <a:solidFill>
            <a:srgbClr val="385541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64" name="textbox 364"/>
          <p:cNvSpPr/>
          <p:nvPr/>
        </p:nvSpPr>
        <p:spPr>
          <a:xfrm>
            <a:off x="9594839" y="384499"/>
            <a:ext cx="2174875" cy="3670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58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tabLst/>
            </a:pPr>
            <a:r>
              <a:rPr sz="2300" kern="0" spc="11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基础教育精品课</a:t>
            </a:r>
            <a:endParaRPr sz="2300" dirty="0">
              <a:latin typeface="SimHei"/>
              <a:ea typeface="SimHei"/>
              <a:cs typeface="SimHe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6" name="picture 36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sp>
        <p:nvSpPr>
          <p:cNvPr id="368" name="textbox 368"/>
          <p:cNvSpPr/>
          <p:nvPr/>
        </p:nvSpPr>
        <p:spPr>
          <a:xfrm>
            <a:off x="1174800" y="971407"/>
            <a:ext cx="6718934" cy="24187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76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818764" algn="l" rtl="0" eaLnBrk="0">
              <a:lnSpc>
                <a:spcPct val="95000"/>
              </a:lnSpc>
              <a:tabLst/>
            </a:pPr>
            <a:r>
              <a:rPr sz="30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课后任务</a:t>
            </a:r>
            <a:endParaRPr sz="30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9000"/>
              </a:lnSpc>
              <a:spcBef>
                <a:spcPts val="1"/>
              </a:spcBef>
              <a:tabLst/>
            </a:pPr>
            <a:r>
              <a:rPr sz="2400" kern="0" spc="-1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观察身边的数据自动采集设备，具体谈谈这些设备</a:t>
            </a:r>
            <a:r>
              <a:rPr sz="2400" kern="0" spc="5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 </a:t>
            </a:r>
            <a:r>
              <a:rPr sz="2400" kern="0" spc="5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给我们的生活带来了哪些便利?是否同时带来了</a:t>
            </a:r>
            <a:r>
              <a:rPr sz="2400" kern="0" spc="4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安</a:t>
            </a:r>
            <a:r>
              <a:rPr sz="2400" kern="0" spc="-1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 </a:t>
            </a:r>
            <a:r>
              <a:rPr sz="2400" kern="0" spc="8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全隐患?我们应如何保护数据?</a:t>
            </a:r>
            <a:endParaRPr sz="2400" dirty="0">
              <a:latin typeface="KaiTi"/>
              <a:ea typeface="KaiTi"/>
              <a:cs typeface="KaiTi"/>
            </a:endParaRPr>
          </a:p>
        </p:txBody>
      </p:sp>
      <p:sp>
        <p:nvSpPr>
          <p:cNvPr id="370" name="rect 370"/>
          <p:cNvSpPr/>
          <p:nvPr/>
        </p:nvSpPr>
        <p:spPr>
          <a:xfrm>
            <a:off x="44500" y="0"/>
            <a:ext cx="12122139" cy="850872"/>
          </a:xfrm>
          <a:prstGeom prst="rect">
            <a:avLst/>
          </a:prstGeom>
          <a:solidFill>
            <a:srgbClr val="385541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72" name="textbox 372"/>
          <p:cNvSpPr/>
          <p:nvPr/>
        </p:nvSpPr>
        <p:spPr>
          <a:xfrm>
            <a:off x="933419" y="3638580"/>
            <a:ext cx="7195184" cy="787400"/>
          </a:xfrm>
          <a:prstGeom prst="rect">
            <a:avLst/>
          </a:prstGeom>
          <a:solidFill>
            <a:srgbClr val="DAEBF9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3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3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438150" algn="l" rtl="0" eaLnBrk="0">
              <a:lnSpc>
                <a:spcPct val="96000"/>
              </a:lnSpc>
              <a:spcBef>
                <a:spcPts val="3"/>
              </a:spcBef>
              <a:tabLst/>
            </a:pPr>
            <a:r>
              <a:rPr sz="1300" kern="0" spc="70" dirty="0">
                <a:solidFill>
                  <a:srgbClr val="105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四</a:t>
            </a:r>
            <a:r>
              <a:rPr sz="1300" kern="0" spc="-220" dirty="0">
                <a:solidFill>
                  <a:srgbClr val="105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300" kern="0" spc="70" dirty="0">
                <a:solidFill>
                  <a:srgbClr val="105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、数据的保护(1个小节)</a:t>
            </a:r>
            <a:endParaRPr sz="1300" dirty="0">
              <a:latin typeface="SimHei"/>
              <a:ea typeface="SimHei"/>
              <a:cs typeface="SimHei"/>
            </a:endParaRPr>
          </a:p>
        </p:txBody>
      </p:sp>
      <p:sp>
        <p:nvSpPr>
          <p:cNvPr id="374" name="textbox 374"/>
          <p:cNvSpPr/>
          <p:nvPr/>
        </p:nvSpPr>
        <p:spPr>
          <a:xfrm>
            <a:off x="2235261" y="4608461"/>
            <a:ext cx="5550534" cy="4699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21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15000"/>
              </a:lnSpc>
              <a:tabLst/>
            </a:pPr>
            <a:r>
              <a:rPr sz="1300" kern="0" spc="-20" dirty="0">
                <a:solidFill>
                  <a:srgbClr val="105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7.任务4:观察身边的数据自动采集设备，具体谈谈这些设备给我们的生活带来</a:t>
            </a:r>
            <a:r>
              <a:rPr sz="1300" kern="0" spc="0" dirty="0">
                <a:solidFill>
                  <a:srgbClr val="105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300" kern="0" spc="20" dirty="0">
                <a:solidFill>
                  <a:srgbClr val="105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了哪些便利?是否同时带来了安全</a:t>
            </a:r>
            <a:r>
              <a:rPr sz="1300" kern="0" spc="10" dirty="0">
                <a:solidFill>
                  <a:srgbClr val="105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隐患?我们应如何保护数据?</a:t>
            </a:r>
            <a:endParaRPr sz="1300" dirty="0">
              <a:latin typeface="SimHei"/>
              <a:ea typeface="SimHei"/>
              <a:cs typeface="SimHei"/>
            </a:endParaRPr>
          </a:p>
        </p:txBody>
      </p:sp>
      <p:sp>
        <p:nvSpPr>
          <p:cNvPr id="376" name="textbox 376"/>
          <p:cNvSpPr/>
          <p:nvPr/>
        </p:nvSpPr>
        <p:spPr>
          <a:xfrm>
            <a:off x="9594839" y="384499"/>
            <a:ext cx="2174875" cy="3670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58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tabLst/>
            </a:pPr>
            <a:r>
              <a:rPr sz="2300" kern="0" spc="11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基础教育精品课</a:t>
            </a:r>
            <a:endParaRPr sz="2300" dirty="0">
              <a:latin typeface="SimHei"/>
              <a:ea typeface="SimHei"/>
              <a:cs typeface="SimHei"/>
            </a:endParaRPr>
          </a:p>
        </p:txBody>
      </p:sp>
      <p:pic>
        <p:nvPicPr>
          <p:cNvPr id="378" name="picture 37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543019" y="4552957"/>
            <a:ext cx="520720" cy="533415"/>
          </a:xfrm>
          <a:prstGeom prst="rect">
            <a:avLst/>
          </a:prstGeom>
        </p:spPr>
      </p:pic>
      <p:sp>
        <p:nvSpPr>
          <p:cNvPr id="380" name="textbox 380"/>
          <p:cNvSpPr/>
          <p:nvPr/>
        </p:nvSpPr>
        <p:spPr>
          <a:xfrm>
            <a:off x="1511299" y="5141785"/>
            <a:ext cx="1810385" cy="1860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57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tabLst/>
            </a:pPr>
            <a:r>
              <a:rPr sz="1100" kern="0" spc="-10" dirty="0">
                <a:solidFill>
                  <a:srgbClr val="1090E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课后任务</a:t>
            </a:r>
            <a:r>
              <a:rPr sz="1100" kern="0" spc="250" dirty="0">
                <a:solidFill>
                  <a:srgbClr val="1090E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</a:t>
            </a:r>
            <a:r>
              <a:rPr sz="1100" kern="0" spc="-10" dirty="0">
                <a:solidFill>
                  <a:srgbClr val="40A0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四0次提交</a:t>
            </a:r>
            <a:r>
              <a:rPr sz="1100" kern="0" spc="490" dirty="0">
                <a:solidFill>
                  <a:srgbClr val="40A0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100" kern="0" spc="-10" dirty="0">
                <a:solidFill>
                  <a:srgbClr val="30C0F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血</a:t>
            </a:r>
            <a:r>
              <a:rPr sz="1100" kern="0" spc="-10" dirty="0">
                <a:solidFill>
                  <a:srgbClr val="30C0F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100" kern="0" spc="-10" dirty="0">
                <a:solidFill>
                  <a:srgbClr val="30C0F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0</a:t>
            </a:r>
            <a:endParaRPr sz="1100" dirty="0">
              <a:latin typeface="SimHei"/>
              <a:ea typeface="SimHei"/>
              <a:cs typeface="SimHei"/>
            </a:endParaRPr>
          </a:p>
        </p:txBody>
      </p:sp>
      <p:pic>
        <p:nvPicPr>
          <p:cNvPr id="382" name="picture 38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117640" y="4806977"/>
            <a:ext cx="266639" cy="23495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4" name="picture 38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sp>
        <p:nvSpPr>
          <p:cNvPr id="386" name="rect 386"/>
          <p:cNvSpPr/>
          <p:nvPr/>
        </p:nvSpPr>
        <p:spPr>
          <a:xfrm>
            <a:off x="38160" y="0"/>
            <a:ext cx="12134819" cy="857250"/>
          </a:xfrm>
          <a:prstGeom prst="rect">
            <a:avLst/>
          </a:prstGeom>
          <a:solidFill>
            <a:srgbClr val="37544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88" name="textbox 388"/>
          <p:cNvSpPr/>
          <p:nvPr/>
        </p:nvSpPr>
        <p:spPr>
          <a:xfrm>
            <a:off x="4368860" y="3270623"/>
            <a:ext cx="1856104" cy="19691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95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tabLst/>
            </a:pPr>
            <a:r>
              <a:rPr sz="1600" kern="0" spc="-30" dirty="0">
                <a:solidFill>
                  <a:srgbClr val="105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8.学后测验</a:t>
            </a:r>
            <a:endParaRPr sz="16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spcBef>
                <a:spcPts val="459"/>
              </a:spcBef>
              <a:tabLst/>
            </a:pPr>
            <a:r>
              <a:rPr sz="1500" kern="0" spc="50" dirty="0">
                <a:solidFill>
                  <a:srgbClr val="105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9.学习自评</a:t>
            </a:r>
            <a:endParaRPr sz="15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10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9000"/>
              </a:lnSpc>
              <a:tabLst/>
            </a:pPr>
            <a:r>
              <a:rPr sz="1300" kern="0" spc="110" dirty="0">
                <a:solidFill>
                  <a:srgbClr val="2080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0次提交</a:t>
            </a:r>
            <a:r>
              <a:rPr sz="1300" kern="0" spc="170" dirty="0">
                <a:solidFill>
                  <a:srgbClr val="2080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</a:t>
            </a:r>
            <a:r>
              <a:rPr sz="1300" kern="0" spc="110" dirty="0">
                <a:solidFill>
                  <a:srgbClr val="1090E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5个问题</a:t>
            </a:r>
            <a:endParaRPr sz="1300" dirty="0">
              <a:latin typeface="SimHei"/>
              <a:ea typeface="SimHei"/>
              <a:cs typeface="SimHei"/>
            </a:endParaRPr>
          </a:p>
        </p:txBody>
      </p:sp>
      <p:grpSp>
        <p:nvGrpSpPr>
          <p:cNvPr id="14" name="group 14"/>
          <p:cNvGrpSpPr/>
          <p:nvPr/>
        </p:nvGrpSpPr>
        <p:grpSpPr>
          <a:xfrm rot="21600000">
            <a:off x="2781360" y="2025647"/>
            <a:ext cx="4000438" cy="869937"/>
            <a:chOff x="0" y="0"/>
            <a:chExt cx="4000438" cy="869937"/>
          </a:xfrm>
        </p:grpSpPr>
        <p:pic>
          <p:nvPicPr>
            <p:cNvPr id="390" name="picture 39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0"/>
              <a:ext cx="4000438" cy="869937"/>
            </a:xfrm>
            <a:prstGeom prst="rect">
              <a:avLst/>
            </a:prstGeom>
          </p:spPr>
        </p:pic>
        <p:sp>
          <p:nvSpPr>
            <p:cNvPr id="392" name="textbox 392"/>
            <p:cNvSpPr/>
            <p:nvPr/>
          </p:nvSpPr>
          <p:spPr>
            <a:xfrm>
              <a:off x="-12700" y="-12700"/>
              <a:ext cx="4025900" cy="92201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7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7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501015" algn="l" rtl="0" eaLnBrk="0">
                <a:lnSpc>
                  <a:spcPct val="95000"/>
                </a:lnSpc>
                <a:spcBef>
                  <a:spcPts val="4"/>
                </a:spcBef>
                <a:tabLst/>
              </a:pPr>
              <a:r>
                <a:rPr sz="1600" kern="0" spc="180" dirty="0">
                  <a:solidFill>
                    <a:srgbClr val="10407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学习评价(2个小节)</a:t>
              </a:r>
              <a:endParaRPr sz="1600" dirty="0">
                <a:latin typeface="SimHei"/>
                <a:ea typeface="SimHei"/>
                <a:cs typeface="SimHei"/>
              </a:endParaRPr>
            </a:p>
          </p:txBody>
        </p:sp>
      </p:grpSp>
      <p:sp>
        <p:nvSpPr>
          <p:cNvPr id="394" name="textbox 394"/>
          <p:cNvSpPr/>
          <p:nvPr/>
        </p:nvSpPr>
        <p:spPr>
          <a:xfrm>
            <a:off x="9594839" y="384499"/>
            <a:ext cx="2174875" cy="3670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58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tabLst/>
            </a:pPr>
            <a:r>
              <a:rPr sz="2300" kern="0" spc="11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基础教育精品课</a:t>
            </a:r>
            <a:endParaRPr sz="2300" dirty="0">
              <a:latin typeface="SimHei"/>
              <a:ea typeface="SimHei"/>
              <a:cs typeface="SimHei"/>
            </a:endParaRPr>
          </a:p>
        </p:txBody>
      </p:sp>
      <p:sp>
        <p:nvSpPr>
          <p:cNvPr id="396" name="textbox 396"/>
          <p:cNvSpPr/>
          <p:nvPr/>
        </p:nvSpPr>
        <p:spPr>
          <a:xfrm>
            <a:off x="3994200" y="965099"/>
            <a:ext cx="1522730" cy="4622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76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tabLst/>
            </a:pPr>
            <a:r>
              <a:rPr sz="3000" kern="0" spc="-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学习评价</a:t>
            </a:r>
            <a:endParaRPr sz="3000" dirty="0">
              <a:latin typeface="SimHei"/>
              <a:ea typeface="SimHei"/>
              <a:cs typeface="SimHei"/>
            </a:endParaRPr>
          </a:p>
        </p:txBody>
      </p:sp>
      <p:pic>
        <p:nvPicPr>
          <p:cNvPr id="398" name="picture 39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3505200" y="3041660"/>
            <a:ext cx="641299" cy="654047"/>
          </a:xfrm>
          <a:prstGeom prst="rect">
            <a:avLst/>
          </a:prstGeom>
        </p:spPr>
      </p:pic>
      <p:pic>
        <p:nvPicPr>
          <p:cNvPr id="400" name="picture 40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3511539" y="4457700"/>
            <a:ext cx="634959" cy="647669"/>
          </a:xfrm>
          <a:prstGeom prst="rect">
            <a:avLst/>
          </a:prstGeom>
        </p:spPr>
      </p:pic>
      <p:sp>
        <p:nvSpPr>
          <p:cNvPr id="402" name="textbox 402"/>
          <p:cNvSpPr/>
          <p:nvPr/>
        </p:nvSpPr>
        <p:spPr>
          <a:xfrm>
            <a:off x="3467140" y="3746030"/>
            <a:ext cx="699134" cy="2292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00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tabLst/>
            </a:pPr>
            <a:r>
              <a:rPr sz="1400" kern="0" spc="-60" dirty="0">
                <a:solidFill>
                  <a:srgbClr val="1090E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学后测验</a:t>
            </a:r>
            <a:endParaRPr sz="1400" dirty="0">
              <a:latin typeface="SimHei"/>
              <a:ea typeface="SimHei"/>
              <a:cs typeface="SimHei"/>
            </a:endParaRPr>
          </a:p>
        </p:txBody>
      </p:sp>
      <p:sp>
        <p:nvSpPr>
          <p:cNvPr id="404" name="textbox 404"/>
          <p:cNvSpPr/>
          <p:nvPr/>
        </p:nvSpPr>
        <p:spPr>
          <a:xfrm>
            <a:off x="3479820" y="5162780"/>
            <a:ext cx="685800" cy="2298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56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6000"/>
              </a:lnSpc>
              <a:tabLst/>
            </a:pPr>
            <a:r>
              <a:rPr sz="1400" kern="0" spc="-130" dirty="0">
                <a:solidFill>
                  <a:srgbClr val="1090E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自评问</a:t>
            </a:r>
            <a:r>
              <a:rPr sz="1400" kern="0" spc="-50" dirty="0">
                <a:solidFill>
                  <a:srgbClr val="1090E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卷</a:t>
            </a:r>
            <a:endParaRPr sz="1400" dirty="0">
              <a:latin typeface="SimHei"/>
              <a:ea typeface="SimHei"/>
              <a:cs typeface="SimHei"/>
            </a:endParaRPr>
          </a:p>
        </p:txBody>
      </p:sp>
      <p:pic>
        <p:nvPicPr>
          <p:cNvPr id="406" name="picture 40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2984479" y="3289302"/>
            <a:ext cx="292120" cy="342900"/>
          </a:xfrm>
          <a:prstGeom prst="rect">
            <a:avLst/>
          </a:prstGeom>
        </p:spPr>
      </p:pic>
      <p:pic>
        <p:nvPicPr>
          <p:cNvPr id="408" name="picture 40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2997159" y="4781534"/>
            <a:ext cx="279440" cy="26670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ap:Properties xmlns:vt="http://schemas.openxmlformats.org/officeDocument/2006/docPropsVTypes" xmlns:ap="http://schemas.openxmlformats.org/officeDocument/2006/extended-properties"/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2026-06-06T21:54:03Z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O">
    <vt:lpwstr>wqlLaW5nc29mdCBQREYgdG8gV1BTIDExMEI</vt:lpwstr>
  </property>
  <property fmtid="{D5CDD505-2E9C-101B-9397-08002B2CF9AE}" pid="3" name="Created">
    <vt:filetime>2026-06-06T21:54:17</vt:filetime>
  </property>
  <property fmtid="{D5CDD505-2E9C-101B-9397-08002B2CF9AE}" pid="4" name="UsrData">
    <vt:lpwstr>6a2426789d7ea1001f8e9843wl</vt:lpwstr>
  </property>
</Properties>
</file>